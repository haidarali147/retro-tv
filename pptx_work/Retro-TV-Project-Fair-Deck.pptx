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e07352bc8e4d87" /><Relationship Type="http://schemas.openxmlformats.org/officeDocument/2006/relationships/extended-properties" Target="/docProps/app.xml" Id="Rbb372d144e0d410a" /><Relationship Type="http://schemas.openxmlformats.org/officeDocument/2006/relationships/officeDocument" Target="/ppt/presentation.xml" Id="R817440f7240348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7ed75cf74441cf"/>
  </p:sldMasterIdLst>
  <p:notesMasterIdLst>
    <p:notesMasterId xmlns:r="http://schemas.openxmlformats.org/officeDocument/2006/relationships" r:id="Rcc4b61a8d3fe48ca"/>
  </p:notesMasterIdLst>
  <p:sldIdLst>
    <p:sldId xmlns:r="http://schemas.openxmlformats.org/officeDocument/2006/relationships" id="256" r:id="R86169b3e1c9a45aa"/>
    <p:sldId xmlns:r="http://schemas.openxmlformats.org/officeDocument/2006/relationships" id="257" r:id="R459e8ef5244e400a"/>
    <p:sldId xmlns:r="http://schemas.openxmlformats.org/officeDocument/2006/relationships" id="258" r:id="Rc0877c5adfd346f9"/>
    <p:sldId xmlns:r="http://schemas.openxmlformats.org/officeDocument/2006/relationships" id="259" r:id="R9bc142f165a44031"/>
    <p:sldId xmlns:r="http://schemas.openxmlformats.org/officeDocument/2006/relationships" id="260" r:id="R0b5b5da592d94af1"/>
    <p:sldId xmlns:r="http://schemas.openxmlformats.org/officeDocument/2006/relationships" id="261" r:id="R160ffe842d7e4c48"/>
    <p:sldId xmlns:r="http://schemas.openxmlformats.org/officeDocument/2006/relationships" id="262" r:id="R19c3c7cb1ce24950"/>
    <p:sldId xmlns:r="http://schemas.openxmlformats.org/officeDocument/2006/relationships" id="263" r:id="R4466233b68184d27"/>
    <p:sldId xmlns:r="http://schemas.openxmlformats.org/officeDocument/2006/relationships" id="264" r:id="R8de4aa17b4164792"/>
    <p:sldId xmlns:r="http://schemas.openxmlformats.org/officeDocument/2006/relationships" id="265" r:id="R768a1ced3b154d8a"/>
    <p:sldId xmlns:r="http://schemas.openxmlformats.org/officeDocument/2006/relationships" id="266" r:id="Re3d1219dd4814a12"/>
    <p:sldId xmlns:r="http://schemas.openxmlformats.org/officeDocument/2006/relationships" id="267" r:id="R80ecf6a96578457e"/>
    <p:sldId xmlns:r="http://schemas.openxmlformats.org/officeDocument/2006/relationships" id="268" r:id="R058c1b995ee74142"/>
    <p:sldId xmlns:r="http://schemas.openxmlformats.org/officeDocument/2006/relationships" id="269" r:id="R3868ba95078b45ce"/>
    <p:sldId xmlns:r="http://schemas.openxmlformats.org/officeDocument/2006/relationships" id="270" r:id="R2493ac7d2ed04bcf"/>
    <p:sldId xmlns:r="http://schemas.openxmlformats.org/officeDocument/2006/relationships" id="271" r:id="Rd32e398c7e634577"/>
    <p:sldId xmlns:r="http://schemas.openxmlformats.org/officeDocument/2006/relationships" id="272" r:id="R83c50690bdc74a8e"/>
    <p:sldId xmlns:r="http://schemas.openxmlformats.org/officeDocument/2006/relationships" id="273" r:id="R2ee8401fd92547a2"/>
    <p:sldId xmlns:r="http://schemas.openxmlformats.org/officeDocument/2006/relationships" id="274" r:id="R5daff8616a714519"/>
    <p:sldId xmlns:r="http://schemas.openxmlformats.org/officeDocument/2006/relationships" id="275" r:id="R1de3cebab5c84543"/>
    <p:sldId xmlns:r="http://schemas.openxmlformats.org/officeDocument/2006/relationships" id="276" r:id="R719c49a6f5f34533"/>
    <p:sldId xmlns:r="http://schemas.openxmlformats.org/officeDocument/2006/relationships" id="277" r:id="R4c74089f06174134"/>
    <p:sldId xmlns:r="http://schemas.openxmlformats.org/officeDocument/2006/relationships" id="278" r:id="Rc6f19fd836634da8"/>
    <p:sldId xmlns:r="http://schemas.openxmlformats.org/officeDocument/2006/relationships" id="279" r:id="R60a871eebd564cda"/>
    <p:sldId xmlns:r="http://schemas.openxmlformats.org/officeDocument/2006/relationships" id="280" r:id="R9147501cc4c149d5"/>
    <p:sldId xmlns:r="http://schemas.openxmlformats.org/officeDocument/2006/relationships" id="281" r:id="R41b03eb644f3449e"/>
    <p:sldId xmlns:r="http://schemas.openxmlformats.org/officeDocument/2006/relationships" id="282" r:id="Rb95feb183c464d9b"/>
    <p:sldId xmlns:r="http://schemas.openxmlformats.org/officeDocument/2006/relationships" id="283" r:id="Ree5ce68fcdae45e3"/>
    <p:sldId xmlns:r="http://schemas.openxmlformats.org/officeDocument/2006/relationships" id="284" r:id="Re37e27b87d5b4801"/>
  </p:sldIdLst>
  <p:sldSz cx="12191695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42d517219748b0" /><Relationship Type="http://schemas.openxmlformats.org/officeDocument/2006/relationships/slideMaster" Target="/ppt/slideMasters/slideMaster1.xml" Id="Rcc7ed75cf74441cf" /><Relationship Type="http://schemas.openxmlformats.org/officeDocument/2006/relationships/notesMaster" Target="/ppt/notesMasters/notesMaster1.xml" Id="Rcc4b61a8d3fe48ca" /><Relationship Type="http://schemas.openxmlformats.org/officeDocument/2006/relationships/presProps" Target="/ppt/presProps.xml" Id="R5bf37b582d7f4849" /><Relationship Type="http://schemas.openxmlformats.org/officeDocument/2006/relationships/viewProps" Target="/ppt/viewProps.xml" Id="Rf16e315698aa4f0f" /><Relationship Type="http://schemas.openxmlformats.org/officeDocument/2006/relationships/tableStyles" Target="/ppt/tableStyles.xml" Id="Rc463573df6574df8" /><Relationship Type="http://schemas.openxmlformats.org/officeDocument/2006/relationships/slide" Target="/ppt/slides/slide1.xml" Id="R86169b3e1c9a45aa" /><Relationship Type="http://schemas.openxmlformats.org/officeDocument/2006/relationships/slide" Target="/ppt/slides/slide2.xml" Id="R459e8ef5244e400a" /><Relationship Type="http://schemas.openxmlformats.org/officeDocument/2006/relationships/slide" Target="/ppt/slides/slide3.xml" Id="Rc0877c5adfd346f9" /><Relationship Type="http://schemas.openxmlformats.org/officeDocument/2006/relationships/slide" Target="/ppt/slides/slide4.xml" Id="R9bc142f165a44031" /><Relationship Type="http://schemas.openxmlformats.org/officeDocument/2006/relationships/slide" Target="/ppt/slides/slide5.xml" Id="R0b5b5da592d94af1" /><Relationship Type="http://schemas.openxmlformats.org/officeDocument/2006/relationships/slide" Target="/ppt/slides/slide6.xml" Id="R160ffe842d7e4c48" /><Relationship Type="http://schemas.openxmlformats.org/officeDocument/2006/relationships/slide" Target="/ppt/slides/slide7.xml" Id="R19c3c7cb1ce24950" /><Relationship Type="http://schemas.openxmlformats.org/officeDocument/2006/relationships/slide" Target="/ppt/slides/slide8.xml" Id="R4466233b68184d27" /><Relationship Type="http://schemas.openxmlformats.org/officeDocument/2006/relationships/slide" Target="/ppt/slides/slide9.xml" Id="R8de4aa17b4164792" /><Relationship Type="http://schemas.openxmlformats.org/officeDocument/2006/relationships/slide" Target="/ppt/slides/slide10.xml" Id="R768a1ced3b154d8a" /><Relationship Type="http://schemas.openxmlformats.org/officeDocument/2006/relationships/slide" Target="/ppt/slides/slide11.xml" Id="Re3d1219dd4814a12" /><Relationship Type="http://schemas.openxmlformats.org/officeDocument/2006/relationships/slide" Target="/ppt/slides/slide12.xml" Id="R80ecf6a96578457e" /><Relationship Type="http://schemas.openxmlformats.org/officeDocument/2006/relationships/slide" Target="/ppt/slides/slide13.xml" Id="R058c1b995ee74142" /><Relationship Type="http://schemas.openxmlformats.org/officeDocument/2006/relationships/slide" Target="/ppt/slides/slide14.xml" Id="R3868ba95078b45ce" /><Relationship Type="http://schemas.openxmlformats.org/officeDocument/2006/relationships/slide" Target="/ppt/slides/slide15.xml" Id="R2493ac7d2ed04bcf" /><Relationship Type="http://schemas.openxmlformats.org/officeDocument/2006/relationships/slide" Target="/ppt/slides/slide16.xml" Id="Rd32e398c7e634577" /><Relationship Type="http://schemas.openxmlformats.org/officeDocument/2006/relationships/slide" Target="/ppt/slides/slide17.xml" Id="R83c50690bdc74a8e" /><Relationship Type="http://schemas.openxmlformats.org/officeDocument/2006/relationships/slide" Target="/ppt/slides/slide18.xml" Id="R2ee8401fd92547a2" /><Relationship Type="http://schemas.openxmlformats.org/officeDocument/2006/relationships/slide" Target="/ppt/slides/slide19.xml" Id="R5daff8616a714519" /><Relationship Type="http://schemas.openxmlformats.org/officeDocument/2006/relationships/slide" Target="/ppt/slides/slide20.xml" Id="R1de3cebab5c84543" /><Relationship Type="http://schemas.openxmlformats.org/officeDocument/2006/relationships/slide" Target="/ppt/slides/slide21.xml" Id="R719c49a6f5f34533" /><Relationship Type="http://schemas.openxmlformats.org/officeDocument/2006/relationships/slide" Target="/ppt/slides/slide22.xml" Id="R4c74089f06174134" /><Relationship Type="http://schemas.openxmlformats.org/officeDocument/2006/relationships/slide" Target="/ppt/slides/slide23.xml" Id="Rc6f19fd836634da8" /><Relationship Type="http://schemas.openxmlformats.org/officeDocument/2006/relationships/slide" Target="/ppt/slides/slide24.xml" Id="R60a871eebd564cda" /><Relationship Type="http://schemas.openxmlformats.org/officeDocument/2006/relationships/slide" Target="/ppt/slides/slide25.xml" Id="R9147501cc4c149d5" /><Relationship Type="http://schemas.openxmlformats.org/officeDocument/2006/relationships/slide" Target="/ppt/slides/slide26.xml" Id="R41b03eb644f3449e" /><Relationship Type="http://schemas.openxmlformats.org/officeDocument/2006/relationships/slide" Target="/ppt/slides/slide27.xml" Id="Rb95feb183c464d9b" /><Relationship Type="http://schemas.openxmlformats.org/officeDocument/2006/relationships/slide" Target="/ppt/slides/slide28.xml" Id="Ree5ce68fcdae45e3" /><Relationship Type="http://schemas.openxmlformats.org/officeDocument/2006/relationships/slide" Target="/ppt/slides/slide29.xml" Id="Re37e27b87d5b48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1aa035c0c146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ff4979da214048" /><Relationship Type="http://schemas.openxmlformats.org/officeDocument/2006/relationships/notesMaster" Target="/ppt/notesMasters/notesMaster1.xml" Id="Rfa705101149c40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c084c962914f5e" /><Relationship Type="http://schemas.openxmlformats.org/officeDocument/2006/relationships/notesMaster" Target="/ppt/notesMasters/notesMaster1.xml" Id="Rbd7312413dda4b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24dc40e7f947c4" /><Relationship Type="http://schemas.openxmlformats.org/officeDocument/2006/relationships/notesMaster" Target="/ppt/notesMasters/notesMaster1.xml" Id="Rd1464db91e484a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5cab45d71a4a80" /><Relationship Type="http://schemas.openxmlformats.org/officeDocument/2006/relationships/notesMaster" Target="/ppt/notesMasters/notesMaster1.xml" Id="Rede1d0c996e647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52bb95bc5f42e7" /><Relationship Type="http://schemas.openxmlformats.org/officeDocument/2006/relationships/notesMaster" Target="/ppt/notesMasters/notesMaster1.xml" Id="Rfa1fa4c52be246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03963d3d9943d6" /><Relationship Type="http://schemas.openxmlformats.org/officeDocument/2006/relationships/notesMaster" Target="/ppt/notesMasters/notesMaster1.xml" Id="Rbbe34a0b51b24b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933759f6fd4e00" /><Relationship Type="http://schemas.openxmlformats.org/officeDocument/2006/relationships/notesMaster" Target="/ppt/notesMasters/notesMaster1.xml" Id="Rd8bc1f8ace3d41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6e039b12fd443c" /><Relationship Type="http://schemas.openxmlformats.org/officeDocument/2006/relationships/notesMaster" Target="/ppt/notesMasters/notesMaster1.xml" Id="Ra788d06550b34b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00e8e9123e436e" /><Relationship Type="http://schemas.openxmlformats.org/officeDocument/2006/relationships/notesMaster" Target="/ppt/notesMasters/notesMaster1.xml" Id="Rb3d0ca7e2b1f49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193c63d2644faa" /><Relationship Type="http://schemas.openxmlformats.org/officeDocument/2006/relationships/notesMaster" Target="/ppt/notesMasters/notesMaster1.xml" Id="Re14d05bcdd1441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65523577024c5f" /><Relationship Type="http://schemas.openxmlformats.org/officeDocument/2006/relationships/notesMaster" Target="/ppt/notesMasters/notesMaster1.xml" Id="R539d5a7fca5c40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d3b8834f794583" /><Relationship Type="http://schemas.openxmlformats.org/officeDocument/2006/relationships/notesMaster" Target="/ppt/notesMasters/notesMaster1.xml" Id="Rc5591ce963e943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4ad6391a7144b0" /><Relationship Type="http://schemas.openxmlformats.org/officeDocument/2006/relationships/notesMaster" Target="/ppt/notesMasters/notesMaster1.xml" Id="Rd3beb49816814a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522a20bb7f46b8" /><Relationship Type="http://schemas.openxmlformats.org/officeDocument/2006/relationships/notesMaster" Target="/ppt/notesMasters/notesMaster1.xml" Id="R06ea58a8885147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8029d2e8424e38" /><Relationship Type="http://schemas.openxmlformats.org/officeDocument/2006/relationships/notesMaster" Target="/ppt/notesMasters/notesMaster1.xml" Id="R22bbdd4b339345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20ec3884e4407c" /><Relationship Type="http://schemas.openxmlformats.org/officeDocument/2006/relationships/notesMaster" Target="/ppt/notesMasters/notesMaster1.xml" Id="R1c40e8285e904d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a2779afefe4490" /><Relationship Type="http://schemas.openxmlformats.org/officeDocument/2006/relationships/notesMaster" Target="/ppt/notesMasters/notesMaster1.xml" Id="R38621ace960547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91b0ae84cb4936" /><Relationship Type="http://schemas.openxmlformats.org/officeDocument/2006/relationships/notesMaster" Target="/ppt/notesMasters/notesMaster1.xml" Id="R4f88c0e4f5fe43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8f2dfe60ab4103" /><Relationship Type="http://schemas.openxmlformats.org/officeDocument/2006/relationships/notesMaster" Target="/ppt/notesMasters/notesMaster1.xml" Id="R142ca6e9a90640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1bafb6b2824903" /><Relationship Type="http://schemas.openxmlformats.org/officeDocument/2006/relationships/notesMaster" Target="/ppt/notesMasters/notesMaster1.xml" Id="Rc6c77d43944f4c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74470afc1434404" /><Relationship Type="http://schemas.openxmlformats.org/officeDocument/2006/relationships/notesMaster" Target="/ppt/notesMasters/notesMaster1.xml" Id="Rc67a2489ff0242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19cb163491e4381" /><Relationship Type="http://schemas.openxmlformats.org/officeDocument/2006/relationships/notesMaster" Target="/ppt/notesMasters/notesMaster1.xml" Id="Rec73bc2bde624b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c1200a2afa94af4" /><Relationship Type="http://schemas.openxmlformats.org/officeDocument/2006/relationships/notesMaster" Target="/ppt/notesMasters/notesMaster1.xml" Id="Rc934a867deda4d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70629b7c58f4348" /><Relationship Type="http://schemas.openxmlformats.org/officeDocument/2006/relationships/notesMaster" Target="/ppt/notesMasters/notesMaster1.xml" Id="R97173b93852c42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072c49380214e46" /><Relationship Type="http://schemas.openxmlformats.org/officeDocument/2006/relationships/notesMaster" Target="/ppt/notesMasters/notesMaster1.xml" Id="Re96a424f7be44b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7ca46b918a4453d" /><Relationship Type="http://schemas.openxmlformats.org/officeDocument/2006/relationships/notesMaster" Target="/ppt/notesMasters/notesMaster1.xml" Id="Rf1324683be4542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76f42e82e184086" /><Relationship Type="http://schemas.openxmlformats.org/officeDocument/2006/relationships/notesMaster" Target="/ppt/notesMasters/notesMaster1.xml" Id="R02a90d39362b411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91504a214a3408e" /><Relationship Type="http://schemas.openxmlformats.org/officeDocument/2006/relationships/notesMaster" Target="/ppt/notesMasters/notesMaster1.xml" Id="R1234339e98c241e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2d143d3c6fb4c15" /><Relationship Type="http://schemas.openxmlformats.org/officeDocument/2006/relationships/notesMaster" Target="/ppt/notesMasters/notesMaster1.xml" Id="R8f9329a4cf3844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b1104739b4a1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6f01292e8b4f3d" /><Relationship Type="http://schemas.openxmlformats.org/officeDocument/2006/relationships/slideLayout" Target="/ppt/slideLayouts/slideLayout1.xml" Id="R491e9486979b4378" /></Relationships>
</file>

<file path=ppt/slideMasters/slideMaster1.xml><?xml version="1.0" encoding="utf-8"?>
<p:sldMaster xmlns:p="http://schemas.openxmlformats.org/presentationml/2006/main">
  <p:cSld name="Office Them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1e9486979b437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e859994c845eb" /><Relationship Type="http://schemas.openxmlformats.org/officeDocument/2006/relationships/notesSlide" Target="/ppt/notesSlides/notesSlide1.xml" Id="Rf211dcbbf30e46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fe84741fa4ab7" /><Relationship Type="http://schemas.openxmlformats.org/officeDocument/2006/relationships/notesSlide" Target="/ppt/notesSlides/notesSlide2.xml" Id="R5f974d58f98347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ef38ca84440a2" /><Relationship Type="http://schemas.openxmlformats.org/officeDocument/2006/relationships/notesSlide" Target="/ppt/notesSlides/notesSlide3.xml" Id="R76550780be534a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9d8a1191f48b7" /><Relationship Type="http://schemas.openxmlformats.org/officeDocument/2006/relationships/notesSlide" Target="/ppt/notesSlides/notesSlide4.xml" Id="R7e8012b3218743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aac34edbc4f2e" /><Relationship Type="http://schemas.openxmlformats.org/officeDocument/2006/relationships/notesSlide" Target="/ppt/notesSlides/notesSlide5.xml" Id="R2037a9832fb746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8558d48a642fc" /><Relationship Type="http://schemas.openxmlformats.org/officeDocument/2006/relationships/notesSlide" Target="/ppt/notesSlides/notesSlide6.xml" Id="Ra9b9631fa628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b7ec682c6448c" /><Relationship Type="http://schemas.openxmlformats.org/officeDocument/2006/relationships/notesSlide" Target="/ppt/notesSlides/notesSlide7.xml" Id="Rd586cb1090dd48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7071fecee46a1" /><Relationship Type="http://schemas.openxmlformats.org/officeDocument/2006/relationships/notesSlide" Target="/ppt/notesSlides/notesSlide8.xml" Id="Ra57ff32b0f9649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e420358fd4c3b" /><Relationship Type="http://schemas.openxmlformats.org/officeDocument/2006/relationships/notesSlide" Target="/ppt/notesSlides/notesSlide9.xml" Id="R7bd5734bafcf46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89dfb971b42e8" /><Relationship Type="http://schemas.openxmlformats.org/officeDocument/2006/relationships/notesSlide" Target="/ppt/notesSlides/notesSlide10.xml" Id="Re40eb52dfa574b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49f6db7684498" /><Relationship Type="http://schemas.openxmlformats.org/officeDocument/2006/relationships/notesSlide" Target="/ppt/notesSlides/notesSlide11.xml" Id="R51030d5e7f3a4e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48fcefd6e4ead" /><Relationship Type="http://schemas.openxmlformats.org/officeDocument/2006/relationships/notesSlide" Target="/ppt/notesSlides/notesSlide12.xml" Id="R7d849de14daa49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0d9029ac5455f" /><Relationship Type="http://schemas.openxmlformats.org/officeDocument/2006/relationships/notesSlide" Target="/ppt/notesSlides/notesSlide13.xml" Id="R06881a50947446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a79d963d04529" /><Relationship Type="http://schemas.openxmlformats.org/officeDocument/2006/relationships/notesSlide" Target="/ppt/notesSlides/notesSlide14.xml" Id="R03d4dacb252a41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c33b8d95c4628" /><Relationship Type="http://schemas.openxmlformats.org/officeDocument/2006/relationships/notesSlide" Target="/ppt/notesSlides/notesSlide15.xml" Id="Rfa4bf14b966e47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d499e8adb4743" /><Relationship Type="http://schemas.openxmlformats.org/officeDocument/2006/relationships/notesSlide" Target="/ppt/notesSlides/notesSlide16.xml" Id="R9c807966e5634d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bd5fef02b4a8e" /><Relationship Type="http://schemas.openxmlformats.org/officeDocument/2006/relationships/notesSlide" Target="/ppt/notesSlides/notesSlide17.xml" Id="R63fb97664c7843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cc652361c47ec" /><Relationship Type="http://schemas.openxmlformats.org/officeDocument/2006/relationships/notesSlide" Target="/ppt/notesSlides/notesSlide18.xml" Id="Rc02df1df257949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7327594cc4320" /><Relationship Type="http://schemas.openxmlformats.org/officeDocument/2006/relationships/notesSlide" Target="/ppt/notesSlides/notesSlide19.xml" Id="R060a599fa2e84e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1588b23d84b35" /><Relationship Type="http://schemas.openxmlformats.org/officeDocument/2006/relationships/notesSlide" Target="/ppt/notesSlides/notesSlide20.xml" Id="Rb7d45c7f11f646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c15206856497d" /><Relationship Type="http://schemas.openxmlformats.org/officeDocument/2006/relationships/notesSlide" Target="/ppt/notesSlides/notesSlide21.xml" Id="R7ea92f4f480946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7067becc141e7" /><Relationship Type="http://schemas.openxmlformats.org/officeDocument/2006/relationships/notesSlide" Target="/ppt/notesSlides/notesSlide22.xml" Id="Ra92a8e93b5f443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2aef6590347cc" /><Relationship Type="http://schemas.openxmlformats.org/officeDocument/2006/relationships/notesSlide" Target="/ppt/notesSlides/notesSlide23.xml" Id="R88bb08500aa04ca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774e10b8849aa" /><Relationship Type="http://schemas.openxmlformats.org/officeDocument/2006/relationships/notesSlide" Target="/ppt/notesSlides/notesSlide24.xml" Id="Rc9e525f7444b4ad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b3a2ea5414c65" /><Relationship Type="http://schemas.openxmlformats.org/officeDocument/2006/relationships/notesSlide" Target="/ppt/notesSlides/notesSlide25.xml" Id="R2cc59d6f0b8f4d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59f232339462a" /><Relationship Type="http://schemas.openxmlformats.org/officeDocument/2006/relationships/notesSlide" Target="/ppt/notesSlides/notesSlide26.xml" Id="R4dfe41840e2e466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28a0f47844654" /><Relationship Type="http://schemas.openxmlformats.org/officeDocument/2006/relationships/notesSlide" Target="/ppt/notesSlides/notesSlide27.xml" Id="R1ef0f9bb70a145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32b9483bc4e7a" /><Relationship Type="http://schemas.openxmlformats.org/officeDocument/2006/relationships/notesSlide" Target="/ppt/notesSlides/notesSlide28.xml" Id="Re205486f2f5644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cfc513e00467b" /><Relationship Type="http://schemas.openxmlformats.org/officeDocument/2006/relationships/notesSlide" Target="/ppt/notesSlides/notesSlide29.xml" Id="R42be751227ff44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92963AF8-8626-4EFB-BEC5-718AF20F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52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RETRO TV</a:t>
            </a:r>
            <a:endParaRPr sz="5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C875F63D-3A3C-4987-971E-0D5A996B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5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PROJECT</a:t>
            </a:r>
            <a:endParaRPr sz="52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37CBA2DE-11DE-4006-9017-6A5B4607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By Haidar Ali Alshowaikh   |   Class 8E</a:t>
            </a:r>
            <a:endParaRPr sz="1600"/>
          </a:p>
        </p:txBody>
      </p:sp>
      <p:sp>
        <p:nvSpPr>
          <p:cNvPr id="7" name="TV silver cabinet">
            <a:extLst xmlns:a="http://schemas.openxmlformats.org/drawingml/2006/main">
              <a:ext uri="{FF2B5EF4-FFF2-40B4-BE49-F238E27FC236}">
                <a16:creationId xmlns:a16="http://schemas.microsoft.com/office/drawing/2014/main" id="{248ED3AC-F96A-4D8B-9017-E171610C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067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0C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TV navy screen">
            <a:extLst xmlns:a="http://schemas.openxmlformats.org/drawingml/2006/main">
              <a:ext uri="{FF2B5EF4-FFF2-40B4-BE49-F238E27FC236}">
                <a16:creationId xmlns:a16="http://schemas.microsoft.com/office/drawing/2014/main" id="{43254E02-0EC1-40B8-AF77-5EB9FC69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26479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47625">
            <a:solidFill>
              <a:srgbClr val="404040"/>
            </a:solidFill>
            <a:prstDash val="solid"/>
          </a:ln>
        </p:spPr>
      </p:sp>
      <p:sp>
        <p:nvSpPr>
          <p:cNvPr id="9" name="TV screen labels">
            <a:extLst xmlns:a="http://schemas.openxmlformats.org/drawingml/2006/main">
              <a:ext uri="{FF2B5EF4-FFF2-40B4-BE49-F238E27FC236}">
                <a16:creationId xmlns:a16="http://schemas.microsoft.com/office/drawing/2014/main" id="{AD681F6F-AED3-4B0D-815E-AEBF2FFF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BRACK STUDY TV</a:t>
            </a:r>
          </a:p>
          <a:p xmlns:a="http://schemas.openxmlformats.org/drawingml/2006/main">
            <a: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LIVE TV  ·  TOD</a:t>
            </a:r>
          </a:p>
          <a:p xmlns:a="http://schemas.openxmlformats.org/drawingml/2006/main">
            <a:pPr algn="ctr">
              <a:def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APPS  ·  APP STORE</a:t>
            </a:r>
          </a:p>
        </p:txBody>
      </p:sp>
      <p:sp>
        <p:nvSpPr>
          <p:cNvPr id="10" name="TV control">
            <a:extLst xmlns:a="http://schemas.openxmlformats.org/drawingml/2006/main">
              <a:ext uri="{FF2B5EF4-FFF2-40B4-BE49-F238E27FC236}">
                <a16:creationId xmlns:a16="http://schemas.microsoft.com/office/drawing/2014/main" id="{0072E205-5F19-44E6-A31E-2EAE755D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19050">
            <a:solidFill>
              <a:srgbClr val="404040"/>
            </a:solidFill>
            <a:prstDash val="solid"/>
          </a:ln>
        </p:spPr>
      </p:sp>
      <p:sp>
        <p:nvSpPr>
          <p:cNvPr id="11" name="TV control">
            <a:extLst xmlns:a="http://schemas.openxmlformats.org/drawingml/2006/main">
              <a:ext uri="{FF2B5EF4-FFF2-40B4-BE49-F238E27FC236}">
                <a16:creationId xmlns:a16="http://schemas.microsoft.com/office/drawing/2014/main" id="{576C6C84-E039-48A9-882F-1A3E8321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19050">
            <a:solidFill>
              <a:srgbClr val="40404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0349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40DC8E0-BE2F-4A77-9122-AA9B97D7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WHAT IT'S BUILT FROM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0B2AFCB-8D7A-4CEB-B081-C2DB3BE5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Materials Used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CF32B79E-29E1-49F8-A869-91FF3849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31136"/>
            <a:ext cx="27736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Replacement Pi 4</a:t>
            </a:r>
            <a:endParaRPr sz="1450"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ECF46FA-5F33-4107-AE75-65E9D6BE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244" y="2231136"/>
            <a:ext cx="27736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Arduino Uno</a:t>
            </a:r>
            <a:endParaRPr sz="145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083BD7E4-5C64-4888-94BB-50B65D5B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2231136"/>
            <a:ext cx="2773604" cy="41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Volume knob</a:t>
            </a:r>
            <a:endParaRPr sz="1450" b="1">
              <a:solidFill>
                <a:srgbClr val="F1E8D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1E8D5"/>
                </a:solidFill>
                <a:latin typeface="Arial"/>
                <a:ea typeface="Arial"/>
                <a:cs typeface="Arial"/>
              </a:rPr>
              <a:t/>
            </a:r>
            <a:endParaRPr sz="1450" b="1">
              <a:solidFill>
                <a:srgbClr val="F1E8D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A308C73D-C44D-47F3-8F25-0604158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451" y="2231136"/>
            <a:ext cx="27736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Speakers</a:t>
            </a:r>
            <a:endParaRPr sz="1450"/>
          </a:p>
        </p:txBody>
      </p:sp>
      <p:sp>
        <p:nvSpPr>
          <p:cNvPr id="14" name="Text 6">
            <a:extLst xmlns:a="http://schemas.openxmlformats.org/drawingml/2006/main">
              <a:ext uri="{FF2B5EF4-FFF2-40B4-BE49-F238E27FC236}">
                <a16:creationId xmlns:a16="http://schemas.microsoft.com/office/drawing/2014/main" id="{055CAF43-2BC5-429D-AC7E-1CEB8128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97096"/>
            <a:ext cx="27736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Power button</a:t>
            </a:r>
            <a:endParaRPr sz="1450"/>
          </a:p>
        </p:txBody>
      </p:sp>
      <p:sp>
        <p:nvSpPr>
          <p:cNvPr id="16" name="Text 7">
            <a:extLst xmlns:a="http://schemas.openxmlformats.org/drawingml/2006/main">
              <a:ext uri="{FF2B5EF4-FFF2-40B4-BE49-F238E27FC236}">
                <a16:creationId xmlns:a16="http://schemas.microsoft.com/office/drawing/2014/main" id="{40E9F616-5A73-4883-8B45-0CDB6F14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244" y="4197096"/>
            <a:ext cx="27736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Joystick Module</a:t>
            </a:r>
            <a:endParaRPr sz="1450"/>
          </a:p>
        </p:txBody>
      </p:sp>
      <p:sp>
        <p:nvSpPr>
          <p:cNvPr id="18" name="Text 8">
            <a:extLst xmlns:a="http://schemas.openxmlformats.org/drawingml/2006/main">
              <a:ext uri="{FF2B5EF4-FFF2-40B4-BE49-F238E27FC236}">
                <a16:creationId xmlns:a16="http://schemas.microsoft.com/office/drawing/2014/main" id="{33122E2B-E33E-47A6-8B71-C571F0D1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4197096"/>
            <a:ext cx="2773604" cy="205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22-inch HDMI monitor</a:t>
            </a:r>
            <a:endParaRPr sz="1450"/>
          </a:p>
        </p:txBody>
      </p:sp>
      <p:sp>
        <p:nvSpPr>
          <p:cNvPr id="20" name="Text 9">
            <a:extLst xmlns:a="http://schemas.openxmlformats.org/drawingml/2006/main">
              <a:ext uri="{FF2B5EF4-FFF2-40B4-BE49-F238E27FC236}">
                <a16:creationId xmlns:a16="http://schemas.microsoft.com/office/drawing/2014/main" id="{5FE0825D-A6BC-4B87-96E0-2B4E85EA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451" y="4197096"/>
            <a:ext cx="27736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Enclosure frame</a:t>
            </a:r>
            <a:endParaRPr sz="1450"/>
          </a:p>
        </p:txBody>
      </p:sp>
      <p:sp>
        <p:nvSpPr>
          <p:cNvPr id="21" name="Text 10">
            <a:extLst xmlns:a="http://schemas.openxmlformats.org/drawingml/2006/main">
              <a:ext uri="{FF2B5EF4-FFF2-40B4-BE49-F238E27FC236}">
                <a16:creationId xmlns:a16="http://schemas.microsoft.com/office/drawing/2014/main" id="{C7D45C18-D651-4B44-9B30-AF40F31B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96309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E011578-773E-49E4-ADFF-F99CD28D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ROADMAP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C0BD999-C2D8-429F-A582-A207032A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What's Ahead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44E7F1A1-C726-4867-80C0-A9347EC9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221888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01</a:t>
            </a:r>
            <a:endParaRPr sz="13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D057147-E676-4CD6-8AF4-AE3E41F4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221888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The Idea</a:t>
            </a:r>
            <a:endParaRPr sz="15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AB68F51-5658-4177-AEC8-B5DD6E9B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1944563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How I got the idea</a:t>
            </a:r>
            <a:endParaRPr sz="10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1C2C3446-4A28-41BF-A98B-1D5A4BC6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523" y="2331720"/>
            <a:ext cx="221888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30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C9C2ED02-6F47-482A-BA33-4FF7A5F6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523" y="2697480"/>
            <a:ext cx="221888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The Problems</a:t>
            </a:r>
            <a:endParaRPr sz="150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61F7B3B-9047-49ED-B71F-57E15139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683" y="3108960"/>
            <a:ext cx="1944563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What went wrong along the way</a:t>
            </a:r>
            <a:endParaRPr sz="105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F5B038BC-1495-46F8-A223-5BFA3E56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406" y="2331720"/>
            <a:ext cx="221888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300"/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5B9D2BE4-22AC-453D-A20C-1EEB5A3D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406" y="2697480"/>
            <a:ext cx="221888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Solutions</a:t>
            </a:r>
            <a:endParaRPr sz="1500"/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F74C2837-4191-4902-AFD0-E1C7EA1E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566" y="3108960"/>
            <a:ext cx="1944563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How each problem got fixed</a:t>
            </a:r>
            <a:endParaRPr sz="1050"/>
          </a:p>
        </p:txBody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B6C4B0D5-B283-4151-A652-1A10EBFD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289" y="2331720"/>
            <a:ext cx="221888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300"/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41EF4960-4188-4F21-882F-9A786DE1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289" y="2697480"/>
            <a:ext cx="221888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The Wiring</a:t>
            </a:r>
            <a:endParaRPr sz="1500"/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071881B3-E913-43BE-A16C-67E2AB87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449" y="3108960"/>
            <a:ext cx="1944563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How every part connects</a:t>
            </a:r>
            <a:endParaRPr sz="1050"/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D24BBBA1-5585-45DC-B843-5042F229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172" y="2331720"/>
            <a:ext cx="221888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300"/>
          </a:p>
        </p:txBody>
      </p:sp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B276B233-ACBF-4A9A-A054-56572278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172" y="2697480"/>
            <a:ext cx="221888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Goals</a:t>
            </a:r>
            <a:endParaRPr sz="1500"/>
          </a:p>
        </p:txBody>
      </p:sp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61766932-7D22-4EC1-B420-C2A8B9EB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332" y="3108960"/>
            <a:ext cx="1944563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What the project set out to do</a:t>
            </a:r>
            <a:endParaRPr sz="1050"/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F4A9335F-E850-4097-A43A-53EBB7FF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41777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C786B3B-1FB6-4BA5-B13E-8227C658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324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1" spc="400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SECTION 01</a:t>
            </a:r>
            <a:endParaRPr sz="16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D684783D-4A5B-4B71-9AE6-A02507E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0440"/>
            <a:ext cx="121916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THE IDEA</a:t>
            </a:r>
            <a:endParaRPr sz="4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3BA34B7C-6FA2-467F-97D2-AB2E6D32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448" y="4343400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How I got the idea</a:t>
            </a:r>
            <a:endParaRPr sz="1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B884CA6-821D-490E-BB23-C3333886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55805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3DF395D-4E5E-4BFC-9DB7-C98372F2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01 · THE IDEA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A5E764E-B9FA-4B8F-AA2B-3DABCA44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42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The Monitor...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832123E-C369-4924-AAC6-460A961B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6583680" cy="6201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 reused an available monitor and built a new TV experience around it, with joystick controls and a retro-style cabinet.</a:t>
            </a:r>
            <a:endParaRPr sz="2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8E07F8D9-7BA4-4987-8C96-E4385548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51294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264A121E-9D38-4DE4-AA2A-1C4AE64B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324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1" spc="400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SECTION 02</a:t>
            </a:r>
            <a:endParaRPr sz="16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745DE8F2-1C93-41C6-855F-19B296E6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0440"/>
            <a:ext cx="121916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THE PROBLEMS</a:t>
            </a:r>
            <a:endParaRPr sz="4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1865A292-DBB3-4DB1-A896-3EF4ED87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448" y="4343400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What went wrong along the way</a:t>
            </a:r>
            <a:endParaRPr sz="1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E71A588-9233-43CB-B29A-58C9448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29245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5D92F15-8C59-40D2-8E28-82AEC5BC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02 · THE PROBLEMS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B4271E6-FD3A-4F6A-8BC9-58E98DAC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Challenges Along the Way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C9393B08-D24C-4062-AC82-3C8AA32C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91640"/>
            <a:ext cx="5303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TIME TO FIX</a:t>
            </a:r>
            <a:endParaRPr sz="1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6B4D94AE-9DA4-4359-9A9A-65433C1D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2860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Under a day</a:t>
            </a:r>
            <a:endParaRPr sz="12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1605107-8977-4ED1-BFDF-4A80FF83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78608"/>
            <a:ext cx="5303520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80"/>
          </a:solidFill>
        </p:spPr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13B6D217-7EAF-4545-A8CF-1A280C4D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78608"/>
            <a:ext cx="1856232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00"/>
          </a:solidFill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B9BA4F98-34DE-4EC8-8431-8B3BD2D2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6324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Multiple days</a:t>
            </a:r>
            <a:endParaRPr sz="12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5F3B7B9-6B63-4B3B-9C82-5BC6BD7E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55848"/>
            <a:ext cx="5303520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80"/>
          </a:solidFill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4EC5CAE-49B1-4409-B19E-DCB90CE0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55848"/>
            <a:ext cx="3977640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00"/>
          </a:solidFill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A2FFDF2-3630-4CCA-B5E1-1071E3F5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000"/>
          </a:p>
        </p:txBody>
      </p:sp>
      <p:sp>
        <p:nvSpPr>
          <p:cNvPr id="14" name="TV chart panel">
            <a:extLst xmlns:a="http://schemas.openxmlformats.org/drawingml/2006/main">
              <a:ext uri="{FF2B5EF4-FFF2-40B4-BE49-F238E27FC236}">
                <a16:creationId xmlns:a16="http://schemas.microsoft.com/office/drawing/2014/main" id="{59BA5B4A-BE0D-42C4-AA93-CDBCB06E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2120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19050">
            <a:solidFill>
              <a:srgbClr val="C0C0C0"/>
            </a:solidFill>
            <a:prstDash val="solid"/>
          </a:ln>
        </p:spPr>
      </p:sp>
      <p:sp>
        <p:nvSpPr>
          <p:cNvPr id="15" name="TV chart title bar">
            <a:extLst xmlns:a="http://schemas.openxmlformats.org/drawingml/2006/main">
              <a:ext uri="{FF2B5EF4-FFF2-40B4-BE49-F238E27FC236}">
                <a16:creationId xmlns:a16="http://schemas.microsoft.com/office/drawing/2014/main" id="{B6368EF0-14BB-4DF7-8F54-5755CDD0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2120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0C0"/>
          </a:solidFill>
          <a:ln xmlns:a="http://schemas.openxmlformats.org/drawingml/2006/main" w="19050">
            <a:solidFill>
              <a:srgbClr val="C0C0C0"/>
            </a:solidFill>
            <a:prstDash val="solid"/>
          </a:ln>
        </p:spPr>
      </p:sp>
      <p:sp>
        <p:nvSpPr>
          <p:cNvPr id="16" name="TV chart title">
            <a:extLst xmlns:a="http://schemas.openxmlformats.org/drawingml/2006/main">
              <a:ext uri="{FF2B5EF4-FFF2-40B4-BE49-F238E27FC236}">
                <a16:creationId xmlns:a16="http://schemas.microsoft.com/office/drawing/2014/main" id="{1BB2202B-55B8-481A-B25B-88158516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0080"/>
                </a:solidFill>
                <a:latin typeface="DejaVu Sans Mono"/>
                <a:ea typeface="DejaVu Sans Mono"/>
                <a:cs typeface="DejaVu Sans Mono"/>
              </a:rPr>
              <a:t>SOFTWARE VS HARDWARE</a:t>
            </a:r>
          </a:p>
        </p:txBody>
      </p:sp>
      <p:sp>
        <p:nvSpPr>
          <p:cNvPr id="17" name="Hardware label">
            <a:extLst xmlns:a="http://schemas.openxmlformats.org/drawingml/2006/main">
              <a:ext uri="{FF2B5EF4-FFF2-40B4-BE49-F238E27FC236}">
                <a16:creationId xmlns:a16="http://schemas.microsoft.com/office/drawing/2014/main" id="{135C244D-3912-47C4-837F-AD034B8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HARDWARE</a:t>
            </a:r>
          </a:p>
        </p:txBody>
      </p:sp>
      <p:sp>
        <p:nvSpPr>
          <p:cNvPr id="18" name="Hardware track">
            <a:extLst xmlns:a="http://schemas.openxmlformats.org/drawingml/2006/main">
              <a:ext uri="{FF2B5EF4-FFF2-40B4-BE49-F238E27FC236}">
                <a16:creationId xmlns:a16="http://schemas.microsoft.com/office/drawing/2014/main" id="{5840B6E3-0F02-4E7C-8860-C6EF00B1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526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0C0"/>
          </a:solidFill>
          <a:ln xmlns:a="http://schemas.openxmlformats.org/drawingml/2006/main" w="19050">
            <a:solidFill>
              <a:srgbClr val="C0C0C0"/>
            </a:solidFill>
            <a:prstDash val="solid"/>
          </a:ln>
        </p:spPr>
      </p:sp>
      <p:sp>
        <p:nvSpPr>
          <p:cNvPr id="19" name="Hardware 40 percent">
            <a:extLst xmlns:a="http://schemas.openxmlformats.org/drawingml/2006/main">
              <a:ext uri="{FF2B5EF4-FFF2-40B4-BE49-F238E27FC236}">
                <a16:creationId xmlns:a16="http://schemas.microsoft.com/office/drawing/2014/main" id="{13CB10B7-0444-4F28-B7FE-D4844A53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526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9050">
            <a:solidFill>
              <a:srgbClr val="FFFF00"/>
            </a:solidFill>
            <a:prstDash val="solid"/>
          </a:ln>
        </p:spPr>
      </p:sp>
      <p:sp>
        <p:nvSpPr>
          <p:cNvPr id="20" name="Hardware value">
            <a:extLst xmlns:a="http://schemas.openxmlformats.org/drawingml/2006/main">
              <a:ext uri="{FF2B5EF4-FFF2-40B4-BE49-F238E27FC236}">
                <a16:creationId xmlns:a16="http://schemas.microsoft.com/office/drawing/2014/main" id="{94D6BB52-EF9F-4664-8A8E-06FA1D22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336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40%</a:t>
            </a:r>
          </a:p>
        </p:txBody>
      </p:sp>
      <p:sp>
        <p:nvSpPr>
          <p:cNvPr id="21" name="Software label">
            <a:extLst xmlns:a="http://schemas.openxmlformats.org/drawingml/2006/main">
              <a:ext uri="{FF2B5EF4-FFF2-40B4-BE49-F238E27FC236}">
                <a16:creationId xmlns:a16="http://schemas.microsoft.com/office/drawing/2014/main" id="{0FB9C3D4-67CB-4BE4-A0D0-68513AF5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SOFTWARE</a:t>
            </a:r>
          </a:p>
        </p:txBody>
      </p:sp>
      <p:sp>
        <p:nvSpPr>
          <p:cNvPr id="22" name="Software track">
            <a:extLst xmlns:a="http://schemas.openxmlformats.org/drawingml/2006/main">
              <a:ext uri="{FF2B5EF4-FFF2-40B4-BE49-F238E27FC236}">
                <a16:creationId xmlns:a16="http://schemas.microsoft.com/office/drawing/2014/main" id="{FF27DDF9-5EFB-469E-977D-1AA97516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051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0C0"/>
          </a:solidFill>
          <a:ln xmlns:a="http://schemas.openxmlformats.org/drawingml/2006/main" w="19050">
            <a:solidFill>
              <a:srgbClr val="C0C0C0"/>
            </a:solidFill>
            <a:prstDash val="solid"/>
          </a:ln>
        </p:spPr>
      </p:sp>
      <p:sp>
        <p:nvSpPr>
          <p:cNvPr id="23" name="Software 60 percent">
            <a:extLst xmlns:a="http://schemas.openxmlformats.org/drawingml/2006/main">
              <a:ext uri="{FF2B5EF4-FFF2-40B4-BE49-F238E27FC236}">
                <a16:creationId xmlns:a16="http://schemas.microsoft.com/office/drawing/2014/main" id="{EE00C356-C039-43AB-B07E-7603C265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051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19050">
            <a:solidFill>
              <a:srgbClr val="FFFF00"/>
            </a:solidFill>
            <a:prstDash val="solid"/>
          </a:ln>
        </p:spPr>
      </p:sp>
      <p:sp>
        <p:nvSpPr>
          <p:cNvPr id="24" name="Software value">
            <a:extLst xmlns:a="http://schemas.openxmlformats.org/drawingml/2006/main">
              <a:ext uri="{FF2B5EF4-FFF2-40B4-BE49-F238E27FC236}">
                <a16:creationId xmlns:a16="http://schemas.microsoft.com/office/drawing/2014/main" id="{7D245875-A734-492B-A7F9-61796643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61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60%</a:t>
            </a:r>
          </a:p>
        </p:txBody>
      </p:sp>
    </p:spTree>
    <p:extLst>
      <p:ext uri="{BB962C8B-B14F-4D97-AF65-F5344CB8AC3E}">
        <p14:creationId xmlns:p14="http://schemas.microsoft.com/office/powerpoint/2010/main" val="17421730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B9F545E-60C9-4904-A781-F8E72704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02 · THE PROBLEMS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AB70A6C-B111-4E91-909F-9E4CA1CF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Challenges That Took Work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C25D5B8-A4FB-4D5F-B15D-39073A74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351525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INPUT</a:t>
            </a:r>
            <a:endParaRPr sz="3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3F1DBF96-6E09-49ED-8001-0FAE9A5B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351525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Making joystick navigation reliable on the Raspberry Pi</a:t>
            </a:r>
            <a:endParaRPr sz="12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2EC87B6F-FCB0-4356-AD69-0B20FB7B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468880"/>
            <a:ext cx="351525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AUDIO</a:t>
            </a:r>
            <a:endParaRPr sz="300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6D4A8DB2-4E99-4298-BA6E-367CE9B4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3063240"/>
            <a:ext cx="351525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Routing sound to the right output and linking the knob to system volume</a:t>
            </a:r>
            <a:endParaRPr sz="1200"/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CCE58136-4D70-4B7D-A1F9-A533F914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468880"/>
            <a:ext cx="351525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DISPLAY</a:t>
            </a:r>
            <a:endParaRPr sz="300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1BB9FD70-9D78-43ED-8753-E2249AC6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3063240"/>
            <a:ext cx="351525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Moving from the old laptop-panel setup to a 22-inch HDMI monitor</a:t>
            </a:r>
            <a:endParaRPr sz="120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99954A27-A3EC-4B9A-909E-7264CAFA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667137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AB6F4AC-CA08-45F9-97EE-77BC8B98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02 · THE PROBLEMS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63BDB23-322B-4109-B351-58D467B2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Component Issues</a:t>
            </a:r>
            <a:endParaRPr sz="3000"/>
          </a:p>
        </p:txBody>
      </p:sp>
      <p:graphicFrame>
        <p:nvGraphicFramePr>
          <p:cNvPr id="10" name="Table 0">
            <a:extLst xmlns:a="http://schemas.openxmlformats.org/drawingml/2006/main">
              <a:ext uri="{FF2B5EF4-FFF2-40B4-BE49-F238E27FC236}">
                <a16:creationId xmlns:a16="http://schemas.microsoft.com/office/drawing/2014/main" id="{6E650CAC-4D42-4CC9-917A-5E94A85E7AE8}"/>
              </a:ext>
            </a:extLst>
          </p:cNvPr>
          <p:cNvGraphicFramePr/>
          <p:nvPr/>
        </p:nvGraphicFramePr>
        <p:xfrm>
          <a:off xmlns:a="http://schemas.openxmlformats.org/drawingml/2006/main" x="548640" y="1524000"/>
          <a:ext xmlns:a="http://schemas.openxmlformats.org/drawingml/2006/main" cx="11094415" cy="4206240"/>
        </p:xfrm>
        <a:graphic xmlns:a="http://schemas.openxmlformats.org/drawingml/2006/main"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50213"/>
                <a:gridCol w="7544202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25" b="1">
                          <a:solidFill>
                            <a:srgbClr val="00008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COMPONENT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25" b="1">
                          <a:solidFill>
                            <a:srgbClr val="00008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ISSUE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Audio routing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Audio initially went to the wrong output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Original Pi</a:t>
                      </a:r>
                      <a:endParaRPr sz="1300">
                        <a:solidFill>
                          <a:srgbClr val="F1E8D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Failed to boot; replaced with a Pi 4</a:t>
                      </a:r>
                      <a:endParaRPr sz="1300">
                        <a:solidFill>
                          <a:srgbClr val="F1E8D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Display setup</a:t>
                      </a:r>
                      <a:endParaRPr sz="1300">
                        <a:solidFill>
                          <a:srgbClr val="F1E8D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Current build uses direct HDMI</a:t>
                      </a:r>
                      <a:endParaRPr sz="1300">
                        <a:solidFill>
                          <a:srgbClr val="F1E8D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Cabinet frame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Frame is complete and reported good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Monitor choice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Changed to a 22-inch HDMI monitor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Desktop key handling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Desktop key handling needed a reliable fix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</a:tbl>
          </a:graphicData>
        </a:graphic>
      </p:graphicFrame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825DB178-0009-4E55-99AD-1BD5F7C1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03301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19B0858-F361-4C40-B7C9-BE2A2795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02 · THE PROBLEMS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36AAD0D-DB1D-46AA-8CA8-3AA8F9AE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Problems That Shaped the Build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B4C404E-EE21-412B-B05D-CB5F30A3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645920"/>
            <a:ext cx="4660240" cy="201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Audio routing</a:t>
            </a:r>
            <a:endParaRPr sz="1400" b="1">
              <a:solidFill>
                <a:srgbClr val="F1E8D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94DB4C2-C1F6-456C-9329-F6736ADD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65960"/>
            <a:ext cx="4660240" cy="170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Playback initially used the wrong output</a:t>
            </a:r>
            <a:endParaRPr sz="11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CDB2F58-F624-4009-BE1B-4A0193D4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816" y="1645920"/>
            <a:ext cx="4660240" cy="201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Original Pi</a:t>
            </a:r>
            <a:endParaRPr sz="1400" b="1">
              <a:solidFill>
                <a:srgbClr val="F1E8D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1AAC1344-681C-4EF9-8A62-99F6AB9D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816" y="1965960"/>
            <a:ext cx="4660240" cy="341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Failed to boot; replaced with a Pi 4</a:t>
            </a:r>
            <a:endParaRPr sz="1100">
              <a:solidFill>
                <a:srgbClr val="B7AC98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>
              <a:buNone/>
            </a:pPr>
            <a:endParaRPr sz="1100">
              <a:solidFill>
                <a:srgbClr val="B7AC9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8EE70307-AE7C-4E87-939C-9793F39B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749040"/>
            <a:ext cx="4660240" cy="201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Display setup</a:t>
            </a:r>
            <a:endParaRPr sz="1400" b="1">
              <a:solidFill>
                <a:srgbClr val="F1E8D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0311567F-BCDB-48A6-8C39-E01ACEC6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069080"/>
            <a:ext cx="4660240" cy="170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The current 22-inch monitor connects by HDMI</a:t>
            </a:r>
            <a:endParaRPr sz="1100">
              <a:solidFill>
                <a:srgbClr val="B7AC9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373ACCA8-9992-4765-B88D-03EDF9ED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37785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BD01F9BE-C122-4FF7-85F2-C5B19C27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324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1" spc="400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SECTION 03</a:t>
            </a:r>
            <a:endParaRPr sz="16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49B825BE-6357-443C-B735-3E6675B4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0440"/>
            <a:ext cx="121916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SOLUTIONS</a:t>
            </a:r>
            <a:endParaRPr sz="4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3DAAC64-B696-49F0-8AC4-4F97B6D7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448" y="4343400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How each problem got fixed</a:t>
            </a:r>
            <a:endParaRPr sz="1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09FE604-3998-4344-8D5A-5A9035AA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138623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A6AB628-46CF-4790-8617-06219D64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03 · SOLUTIONS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257152-FE43-463A-B46D-289642DD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How I Fixed Them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B2AF1AAC-A4B5-4A7C-943F-21C490A1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6829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System Volume</a:t>
            </a:r>
            <a:endParaRPr sz="14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9FF7C75-8B22-4A35-9A43-FDDF09B4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4378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Volume knob now calls wpctl to change the real speaker</a:t>
            </a:r>
            <a:endParaRPr sz="115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13579F7-2547-4130-BA8A-5ABC38EA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36829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Audio Output</a:t>
            </a:r>
            <a:endParaRPr sz="14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8C05A53E-F0F1-4A25-88EE-ECDAF49E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84378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mpv uses the selected HDMI audio output</a:t>
            </a:r>
            <a:endParaRPr sz="1150"/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D34A4B19-FBFF-488F-A29F-82CB2E62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36829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Key Detection</a:t>
            </a:r>
            <a:endParaRPr sz="14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95F65EE5-3CE5-4B16-A4B6-C3822CD9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84378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Checks both the keysym and the raw hardware keycode</a:t>
            </a:r>
            <a:endParaRPr sz="115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BF57BA06-F6EA-4E59-9736-679CF05F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655709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57A4AE2-F9C3-49EB-BAC8-B278C41B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03 · SOLUTIONS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C98CB7A-7F98-49F3-9379-CD28FA88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Debugging Toolbox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92CAF895-70B8-4470-A9C2-421C29FF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22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wpctl status</a:t>
            </a:r>
            <a:endParaRPr sz="14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E701A39-CD34-4431-B580-F0ED9A96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98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Check where audio was actually routing</a:t>
            </a:r>
            <a:endParaRPr sz="115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08AD681-0B6A-46F7-8E0B-5C449924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322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key_debug.py</a:t>
            </a:r>
            <a:endParaRPr sz="14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8E756E27-8DD8-4FA2-8B72-8CF62EDA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798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Print the real keycode for any key</a:t>
            </a:r>
            <a:endParaRPr sz="1150"/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E7D1A8C8-26AA-4A42-BB34-7C9E6805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322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Flashlight test</a:t>
            </a:r>
            <a:endParaRPr sz="14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744497E0-6E00-4B69-AA71-BA38B746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798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Tell a dead backlight from dead video</a:t>
            </a:r>
            <a:endParaRPr sz="1150"/>
          </a:p>
        </p:txBody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3DA7DDA5-7F04-470A-B108-65820C94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08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iptv-org</a:t>
            </a:r>
            <a:endParaRPr sz="1450"/>
          </a:p>
        </p:txBody>
      </p:sp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2363A2F4-0C89-4D7F-BC40-D6C9F637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84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Verify channels before adding them</a:t>
            </a:r>
            <a:endParaRPr sz="1150"/>
          </a:p>
        </p:txBody>
      </p:sp>
      <p:sp>
        <p:nvSpPr>
          <p:cNvPr id="18" name="Text 10">
            <a:extLst xmlns:a="http://schemas.openxmlformats.org/drawingml/2006/main">
              <a:ext uri="{FF2B5EF4-FFF2-40B4-BE49-F238E27FC236}">
                <a16:creationId xmlns:a16="http://schemas.microsoft.com/office/drawing/2014/main" id="{2D47773F-8203-4BDD-9405-82EB978C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4608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BFS check</a:t>
            </a:r>
            <a:endParaRPr sz="1450"/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A6215502-B1DB-462F-A0A9-00B28A7B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5084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Prove the keyboard is joystick-reachable</a:t>
            </a:r>
            <a:endParaRPr sz="1150"/>
          </a:p>
        </p:txBody>
      </p:sp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2D4409B9-1E47-4FB9-8FDB-8305CAF1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4608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Round-trip test</a:t>
            </a:r>
            <a:endParaRPr sz="1450"/>
          </a:p>
        </p:txBody>
      </p:sp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9FD87372-55DC-4503-9A33-9700B249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5084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Verify the installer before sending it</a:t>
            </a:r>
            <a:endParaRPr sz="1150"/>
          </a:p>
        </p:txBody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3B13DB6D-3027-44B6-A678-10A8E7D7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719409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688D27-8FF8-4A53-8B81-5D214086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03 · SOLUTIONS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5E9F346-D27A-4C55-8F6D-7BC68930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Current Status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C9122C38-EA79-4846-8A8D-45AD8A73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The latest update adds stream readahead and smoother player cleanup. Playback on the replacement Pi still needs testing to confirm the fix.</a:t>
            </a:r>
            <a:endParaRPr sz="17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EF6D196-DB5E-4677-B657-229AF8FD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14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304720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A4147391-3E51-44EE-A52E-1A50B0A4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324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1" spc="400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SECTION 04</a:t>
            </a:r>
            <a:endParaRPr sz="16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D013CB1E-7B02-4C34-BA4D-2FE62A3A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0440"/>
            <a:ext cx="121916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THE WIRING</a:t>
            </a:r>
            <a:endParaRPr sz="4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62B0A09-A152-464D-9C8D-3102A98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448" y="4343400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How every part connects</a:t>
            </a:r>
            <a:endParaRPr sz="1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5B58085F-8706-4A55-AE0A-84F5DC42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15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506306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F4E91E9-2A85-4A2A-A39D-471C02CC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04 · THE WIRING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7F6EEB3-3FA8-4EC2-B48F-32A12AB6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Wiring Overview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865C4EB-3153-4978-84D3-2C20F9A1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22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Joystick</a:t>
            </a:r>
            <a:endParaRPr sz="14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59B26E1-076E-46B9-B806-CC9D8A23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98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Arduino digital pins, plus one for the click button</a:t>
            </a:r>
            <a:endParaRPr sz="115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B587625B-4A8A-4C2A-B6F5-148ECF33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322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Volume Encoder</a:t>
            </a:r>
            <a:endParaRPr sz="14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B579CAA7-BA31-4943-BC38-D33EEDB4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798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The Uno sends volume-up and volume-down commands</a:t>
            </a:r>
            <a:endParaRPr sz="1150"/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EE337A4B-2675-47E1-8320-E4A361A0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322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Power Button</a:t>
            </a:r>
            <a:endParaRPr sz="14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401CE18E-3711-45AE-8FAB-2A23B618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798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Connected directly to Pi GPIO3 and ground</a:t>
            </a:r>
            <a:endParaRPr sz="1150"/>
          </a:p>
        </p:txBody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43276B14-9A6D-408F-8482-B062DF04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08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Arduino -&gt; Pi</a:t>
            </a:r>
            <a:endParaRPr sz="1450"/>
          </a:p>
        </p:txBody>
      </p:sp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7D8ECA90-2F7B-4748-B52C-B9E75E38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84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USB, sending plain text commands over serial</a:t>
            </a:r>
            <a:endParaRPr sz="1150"/>
          </a:p>
        </p:txBody>
      </p:sp>
      <p:sp>
        <p:nvSpPr>
          <p:cNvPr id="18" name="Text 10">
            <a:extLst xmlns:a="http://schemas.openxmlformats.org/drawingml/2006/main">
              <a:ext uri="{FF2B5EF4-FFF2-40B4-BE49-F238E27FC236}">
                <a16:creationId xmlns:a16="http://schemas.microsoft.com/office/drawing/2014/main" id="{623B091F-B991-4015-9B8B-1240BD5F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4608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Pi -&gt; Monitor</a:t>
            </a:r>
            <a:endParaRPr sz="1450"/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0C26C22-C867-4794-A663-A0DFA4CF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5084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HDMI cable carries video straight to the monitor</a:t>
            </a:r>
            <a:endParaRPr sz="1150"/>
          </a:p>
        </p:txBody>
      </p:sp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C65635B4-5DAE-4B7A-9065-33BCF70C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460857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No driver board</a:t>
            </a:r>
            <a:endParaRPr sz="1450"/>
          </a:p>
        </p:txBody>
      </p:sp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CCA66977-8C35-4889-9576-8C4FA547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508406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The HDMI monitor has its own display electronics</a:t>
            </a:r>
            <a:endParaRPr sz="1150"/>
          </a:p>
        </p:txBody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88D1212B-6DF8-4008-89F7-6161B20D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16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778857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9AAA0D0-BDD1-4488-9CD0-39DF2B0E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04 · THE WIRING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68AAE76-3179-45C7-8258-0F7D7281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How A Button Press Travels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BBD94F08-0123-4AE7-91BA-5D818BB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0545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1. ARDUINO</a:t>
            </a:r>
            <a:endParaRPr sz="14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06C4731-D775-49C1-913F-B85BA7E2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8094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Reads the joystick, knob, and button; sends a command over serial</a:t>
            </a:r>
            <a:endParaRPr sz="11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E81BF88-2685-44AB-82B5-9CD06751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86" y="1965960"/>
            <a:ext cx="23774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→</a:t>
            </a:r>
            <a:endParaRPr sz="260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ED6E5E3F-C922-487E-92C4-7209A47A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50545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2. THE BRIDGE</a:t>
            </a:r>
            <a:endParaRPr sz="14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5B23AF34-BC07-48CE-A9A2-D3889926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98094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rpi_bridge.py turns that command into a real key or mouse event</a:t>
            </a:r>
            <a:endParaRPr sz="11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2A94BEE7-C20D-439D-8801-52A16970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765" y="1965960"/>
            <a:ext cx="23774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→</a:t>
            </a:r>
            <a:endParaRPr sz="260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6144C5D2-388C-46C8-8DC0-E3803189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50545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3. THE APP</a:t>
            </a:r>
            <a:endParaRPr sz="1450"/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C5623D9E-6643-457F-A66D-3B0B24B9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98094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tv.py receives it like normal keyboard input and reacts on screen</a:t>
            </a:r>
            <a:endParaRPr sz="1150"/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CBE493A6-5BC0-4878-88C7-776E6AC1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17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529962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C29F006-31AB-41E6-8AAC-E006DC30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04 · THE WIRING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C85389E-1DC5-46B7-BB08-E48D0EEA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Wiring In Progress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7C7C537-14BC-40E7-939E-B1BE4456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65836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The joystick and volume encoder connect to the Uno, which sends commands to the Pi over USB. The power button connects separately to GPIO3.</a:t>
            </a:r>
            <a:endParaRPr sz="18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655AB322-C6B9-4B71-9EE5-1BD828A0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18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722986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DCA6107-B129-4842-8C52-A7AA1775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04 · THE WIRING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A632748-7C3B-4A4A-8394-316F58B5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Build Status: Frame Complete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89214C3D-2675-4FF7-9EFB-7B96C349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19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380752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7F427BE-9ED4-4E74-8DCA-2A0AF907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04 · THE WIRING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A0ED3E1-22D5-4779-A308-2C87014A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Three Main Connections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2DBAAB64-BB6C-4D7E-AED3-4EDD580E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6829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USB Serial</a:t>
            </a:r>
            <a:endParaRPr sz="14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1A53C11-1654-4629-910C-3E869FC2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4378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Arduino to Pi, carrying joystick and volume commands</a:t>
            </a:r>
            <a:endParaRPr sz="115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68E46F35-7149-4ACE-B810-020F37A1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36829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GPIO</a:t>
            </a:r>
            <a:endParaRPr sz="14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A5EDFD74-DA57-467B-8712-5946F9A4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84378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Power button wired to GPIO3 for safe shutdown</a:t>
            </a:r>
            <a:endParaRPr sz="1150"/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C2403641-B202-4DC2-921D-F0A11BB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36829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HDMI</a:t>
            </a:r>
            <a:endParaRPr sz="14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271DC2F2-C109-42BA-BAE8-2F0B7E42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84378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Pi to the 22-inch HDMI monitor</a:t>
            </a:r>
            <a:endParaRPr sz="115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A09F0CF1-C321-4645-AE64-80F48B4E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953941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7C48D84-575A-4AA9-ADF5-C20686F5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04 · THE WIRING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396D44F-A76F-4B20-8ACB-689F62E9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Current Wiring Reference</a:t>
            </a:r>
            <a:endParaRPr sz="3000"/>
          </a:p>
        </p:txBody>
      </p:sp>
      <p:graphicFrame>
        <p:nvGraphicFramePr>
          <p:cNvPr id="22" name="Table 0">
            <a:extLst xmlns:a="http://schemas.openxmlformats.org/drawingml/2006/main">
              <a:ext uri="{FF2B5EF4-FFF2-40B4-BE49-F238E27FC236}">
                <a16:creationId xmlns:a16="http://schemas.microsoft.com/office/drawing/2014/main" id="{ED2033FB-26DC-44DC-914A-82A945D515A6}"/>
              </a:ext>
            </a:extLst>
          </p:cNvPr>
          <p:cNvGraphicFramePr/>
          <p:nvPr/>
        </p:nvGraphicFramePr>
        <p:xfrm>
          <a:off xmlns:a="http://schemas.openxmlformats.org/drawingml/2006/main" x="548640" y="1645920"/>
          <a:ext xmlns:a="http://schemas.openxmlformats.org/drawingml/2006/main" cx="11094415" cy="4206240"/>
        </p:xfrm>
        <a:graphic xmlns:a="http://schemas.openxmlformats.org/drawingml/2006/main"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73604"/>
                <a:gridCol w="2773604"/>
                <a:gridCol w="2773604"/>
                <a:gridCol w="2773604"/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25" b="1">
                          <a:solidFill>
                            <a:srgbClr val="00008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PART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25" b="1">
                          <a:solidFill>
                            <a:srgbClr val="00008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CONNECTION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25" b="1">
                          <a:solidFill>
                            <a:srgbClr val="00008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PURPOSE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ARDUINO UNO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Joystick X/Y + click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Volume encoder A/B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USB serial to Pi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RASPBERRY PI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USB from Uno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HDMI to monitor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GPIO3 + GND to button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MONITOR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HDMI input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No LVDS connection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Monitor's own power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POWER BUTTON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Shutdown switch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GPIO3 + GND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Requests safe shutdown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POWER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USB-C to Pi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Monitor power cable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Uno powered over USB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rgbClr val="332E27"/>
                      </a:solidFill>
                      <a:prstDash val="solid"/>
                    </a:lnL>
                    <a:lnR w="12700" cmpd="sng">
                      <a:solidFill>
                        <a:srgbClr val="332E27"/>
                      </a:solidFill>
                      <a:prstDash val="solid"/>
                    </a:lnR>
                    <a:lnT w="12700" cmpd="sng">
                      <a:solidFill>
                        <a:srgbClr val="332E27"/>
                      </a:solidFill>
                      <a:prstDash val="solid"/>
                    </a:lnT>
                    <a:lnB w="12700" cmpd="sng">
                      <a:solidFill>
                        <a:srgbClr val="332E27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</a:tbl>
          </a:graphicData>
        </a:graphic>
      </p:graphicFrame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545CF1BA-B5DB-4094-9371-DB0E7B45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21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926364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836A0B6-6F81-498F-AA9D-A171890D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04 · THE WIRING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B585021-537E-4B32-AE45-BB3500D8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Build and Test Flow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40430D3-CCE8-4EF9-910C-E7809445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14016"/>
            <a:ext cx="256786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STEP 1</a:t>
            </a:r>
            <a:endParaRPr sz="14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5E8F99CD-D922-4BBC-93BD-3ED1B316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9504"/>
            <a:ext cx="256786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Connect joystick and encoder to the Uno</a:t>
            </a:r>
            <a:endParaRPr sz="11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6545F16-177F-40B6-8474-9D61F899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792" y="1874520"/>
            <a:ext cx="23774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→</a:t>
            </a:r>
            <a:endParaRPr sz="200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AE9B7A4D-02A9-45AE-803E-B1829532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24" y="2414016"/>
            <a:ext cx="256786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STEP 2</a:t>
            </a:r>
            <a:endParaRPr sz="14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C40F7293-7B19-4B91-A5EF-10C63964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24" y="2889504"/>
            <a:ext cx="256786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Flash the Uno and test USB commands</a:t>
            </a:r>
            <a:endParaRPr sz="11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D641E99-8AED-4027-950C-469F1E62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76" y="1874520"/>
            <a:ext cx="23774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→</a:t>
            </a:r>
            <a:endParaRPr sz="200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56115618-77F6-4C71-BCBF-7EA9624A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08" y="2414016"/>
            <a:ext cx="256786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STEP 3</a:t>
            </a:r>
            <a:endParaRPr sz="1450"/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54721E48-7B8A-4512-981E-1506BF32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08" y="2889504"/>
            <a:ext cx="256786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Set up the TV app and USB bridge on Pi</a:t>
            </a:r>
            <a:endParaRPr sz="1150"/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4AB721A5-1CF3-4B13-A681-78991AFC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159" y="1874520"/>
            <a:ext cx="23774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→</a:t>
            </a:r>
            <a:endParaRPr sz="2000"/>
          </a:p>
        </p:txBody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43419FEF-C158-455D-A7C6-1F637DDA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191" y="2414016"/>
            <a:ext cx="256786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STEP 4</a:t>
            </a:r>
            <a:endParaRPr sz="1450"/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966A8B96-048C-4027-8E73-6C71E588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191" y="2889504"/>
            <a:ext cx="256786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Connect HDMI monitor and test GPIO3 button</a:t>
            </a:r>
            <a:endParaRPr sz="1150"/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94193B7D-9B0C-4D84-A1DE-AC380856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22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577476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83F32935-A788-4B4E-9558-7066AA74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324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1" spc="400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SECTION 05</a:t>
            </a:r>
            <a:endParaRPr sz="16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C144D2C-0A33-4788-BEAB-7F3B2188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0440"/>
            <a:ext cx="121916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GOALS</a:t>
            </a:r>
            <a:endParaRPr sz="4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ADFA06A7-B254-47BB-BE67-C635764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448" y="4343400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What the project set out to do</a:t>
            </a:r>
            <a:endParaRPr sz="1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55E6C695-33B1-46F5-86CB-FE1F2F03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23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159858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1057B70-DD90-42DF-B128-F56E7E89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05 · GOALS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AE3EE7C-1732-44D6-B95E-4B9551F2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Goals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D5752FF-FE7E-47A0-8E23-FA8E29E6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05456"/>
            <a:ext cx="527288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GOAL 1</a:t>
            </a:r>
            <a:endParaRPr sz="14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EB26162-B1FA-457D-A10C-010CEA17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80944"/>
            <a:ext cx="527288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Build a retro TV prototype with joystick-led control</a:t>
            </a:r>
            <a:endParaRPr sz="115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B8EF4EFA-C1FA-4049-B5E7-327C5EC9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505456"/>
            <a:ext cx="527288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GOAL 2</a:t>
            </a:r>
            <a:endParaRPr sz="14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DD11A114-B629-4066-9D43-E91F044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980944"/>
            <a:ext cx="527288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Build a customer-sized cabinet around the chosen monitor</a:t>
            </a:r>
            <a:endParaRPr sz="11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271171AF-14C3-4ABB-9832-3139D486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24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409662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F335FA27-30E5-4092-A166-BC4FA71D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008" y="1005840"/>
            <a:ext cx="6583680" cy="4572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00080"/>
          </a:solidFill>
        </p:spPr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ACBB2AA6-C204-470A-98D0-771455FD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0"/>
            <a:ext cx="12191695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7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264</a:t>
            </a:r>
            <a:endParaRPr sz="76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1E7E60B4-F088-4D8B-8BED-A7926473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648" y="3977640"/>
            <a:ext cx="5486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in the current IPTV channel list; stream availability can change</a:t>
            </a:r>
            <a:endParaRPr sz="15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94EE476E-D41E-4548-9843-189978A6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25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2303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A19F36E5-9BF2-4D8F-A738-5032A40E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324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6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1" spc="400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SECTION 06</a:t>
            </a:r>
            <a:endParaRPr sz="16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70F95D0-43F3-4AE0-8201-2FA36738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0440"/>
            <a:ext cx="121916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PROJECT FAIR</a:t>
            </a:r>
            <a:endParaRPr sz="4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8C74BF95-6750-46A4-9A83-DF556D5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448" y="4343400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How this project fits what judges look for</a:t>
            </a:r>
            <a:endParaRPr sz="1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6B2BFC-CBA6-43B5-A914-8D8DC077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26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378586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4E5D67-A2E1-4440-9400-116D3B71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06 · PROJECT FAIR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A9A17AE-279E-4F9A-B894-91FF37D9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Why This Fits The Fair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4ABD8A4D-7BA8-4AC5-A8BB-86EAB25A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645920"/>
            <a:ext cx="4660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Real Problem Solved</a:t>
            </a:r>
            <a:endParaRPr sz="1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6D8506EF-4446-4F9E-A996-FCD427B1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65960"/>
            <a:ext cx="466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Turned an available monitor into a useful TV</a:t>
            </a:r>
            <a:endParaRPr sz="11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C0D69075-18ED-444B-9B75-6F8925C4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816" y="1645920"/>
            <a:ext cx="4660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Engineering Process</a:t>
            </a:r>
            <a:endParaRPr sz="140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88BE3BC9-8D10-4DFD-81FB-AF99E579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816" y="1965960"/>
            <a:ext cx="466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A documented cycle of building, testing, and improving</a:t>
            </a:r>
            <a:endParaRPr sz="1100"/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24409E57-3371-4588-9378-0137AF49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749040"/>
            <a:ext cx="4660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Sustainability</a:t>
            </a:r>
            <a:endParaRPr sz="140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EB53AADF-7521-4F9B-8DAB-5A53C581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069080"/>
            <a:ext cx="466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Gave an unused display a new purpose and extended its useful life</a:t>
            </a:r>
            <a:endParaRPr sz="1100"/>
          </a:p>
        </p:txBody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EBF86391-769F-49FE-A042-93DA6F22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816" y="3749040"/>
            <a:ext cx="4660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Original Build</a:t>
            </a:r>
            <a:endParaRPr sz="1400"/>
          </a:p>
        </p:txBody>
      </p:sp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C3729B76-252F-4CF2-B69C-23FC4751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816" y="4069080"/>
            <a:ext cx="466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Custom Raspberry Pi TV app with Arduino controls</a:t>
            </a:r>
            <a:endParaRPr sz="1100"/>
          </a:p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E42B4478-DEC9-42FB-9D23-DCD78AF2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27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3257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CF68E3A-F6C8-42FB-A272-5F55FCF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944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200" b="1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spc="20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SECTION 06 · PROJECT FAIR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8CC5BDB-0F2F-4CDE-8F32-D3AB89B3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9441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0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Real-World Impact</a:t>
            </a:r>
            <a:endParaRPr sz="3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0943505-27DB-4E78-8C26-1B0BBA97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6829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Less E-Waste</a:t>
            </a:r>
            <a:endParaRPr sz="14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2E7B3A5E-99D5-4916-9FA5-0A23081B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4378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An existing monitor now has a new purpose in a TV project</a:t>
            </a:r>
            <a:endParaRPr sz="115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D53ADC79-F1CC-4C7B-B4A9-128ADE8F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36829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Skills, Not Just Parts</a:t>
            </a:r>
            <a:endParaRPr sz="14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F6BCEA98-EB1B-4A44-88DD-315F4726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18" y="284378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Wiring, embedded software, and enclosure design in one build</a:t>
            </a:r>
            <a:endParaRPr sz="1150"/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A1D96393-C46F-449E-B9FC-49106A38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368296"/>
            <a:ext cx="351525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5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Built To Show</a:t>
            </a:r>
            <a:endParaRPr sz="14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391A4DB1-69C5-40B0-8D82-067057BF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843784"/>
            <a:ext cx="351525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5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The TV app has stream readahead and cleanup updates. Playback tests on the replacement Pi are still pending.</a:t>
            </a:r>
            <a:endParaRPr sz="115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7A379CCD-4798-4018-94ED-586E86C9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l">
              <a:buNone/>
              <a:def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28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1636549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808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BA5220BE-87FF-47C6-833D-7D3610E5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80360"/>
            <a:ext cx="1219169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4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THANKS!</a:t>
            </a:r>
            <a:endParaRPr sz="4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4E9105D7-00DF-44C6-ACBF-F46870D9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00" b="0">
                <a:solidFill>
                  <a:srgbClr val="E8E8E8"/>
                </a:solidFill>
                <a:latin typeface="DejaVu Sans Mono"/>
                <a:ea typeface="DejaVu Sans Mono"/>
                <a:cs typeface="DejaVu Sans Mono"/>
              </a:rPr>
              <a:t>Haidar Ali Alshowaikh  |  Class 8E</a:t>
            </a:r>
            <a:endParaRPr sz="16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B94CBD2B-ACC5-48F7-BAC6-88D355B2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28" y="461772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YouTube  </a:t>
            </a:r>
            <a:r>
              <a: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@brackstudy</a:t>
            </a:r>
            <a:endParaRPr sz="13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6B172F2-BB7A-4EBB-98D3-F583A864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08" y="461772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YouTube  </a:t>
            </a:r>
            <a:r>
              <a: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@brackstudy_arabic</a:t>
            </a:r>
            <a:endParaRPr sz="13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0FD30B4-E6D9-4B00-A4D1-7F9692EF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28" y="525780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Instagram  </a:t>
            </a:r>
            <a:r>
              <a: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@brackstudy</a:t>
            </a:r>
            <a:endParaRPr sz="13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4DF8A75-6029-4E5E-A4B8-45ACE8ED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08" y="525780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marL="0" indent="0" algn="ctr">
              <a:buNone/>
              <a:def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Instagram  </a:t>
            </a:r>
            <a:r>
              <a:rPr sz="1300" b="1">
                <a:solidFill>
                  <a:srgbClr val="FFFF00"/>
                </a:solidFill>
                <a:latin typeface="DejaVu Sans Mono"/>
                <a:ea typeface="DejaVu Sans Mono"/>
                <a:cs typeface="DejaVu Sans Mono"/>
              </a:rPr>
              <a:t>@brackstudy_arabic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590062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2026-10-25T17:57:18.7810000Z</dcterms:created>
  <dcterms:modified xsi:type="dcterms:W3CDTF">2026-10-25T17:57:18.7810000Z</dcterms:modified>
</coreProperties>
</file>