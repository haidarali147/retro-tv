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2218fcecb414da1" /><Relationship Type="http://schemas.openxmlformats.org/officeDocument/2006/relationships/extended-properties" Target="/docProps/app.xml" Id="Rf1b6979a352c49d0" /><Relationship Type="http://schemas.openxmlformats.org/officeDocument/2006/relationships/officeDocument" Target="/ppt/presentation.xml" Id="Rdaf9f49d37224af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f1747f606424ceb"/>
  </p:sldMasterIdLst>
  <p:notesMasterIdLst>
    <p:notesMasterId xmlns:r="http://schemas.openxmlformats.org/officeDocument/2006/relationships" r:id="Rc8bab7f689374d17"/>
  </p:notesMasterIdLst>
  <p:sldIdLst>
    <p:sldId xmlns:r="http://schemas.openxmlformats.org/officeDocument/2006/relationships" id="256" r:id="R736443b8ebdc4b9b"/>
    <p:sldId xmlns:r="http://schemas.openxmlformats.org/officeDocument/2006/relationships" id="257" r:id="R712b5c5c566c40e6"/>
    <p:sldId xmlns:r="http://schemas.openxmlformats.org/officeDocument/2006/relationships" id="258" r:id="R5bb5fd4ed7544169"/>
    <p:sldId xmlns:r="http://schemas.openxmlformats.org/officeDocument/2006/relationships" id="259" r:id="R66dbc5f3d7bd45e0"/>
    <p:sldId xmlns:r="http://schemas.openxmlformats.org/officeDocument/2006/relationships" id="260" r:id="R7d2b3ca936cd4083"/>
    <p:sldId xmlns:r="http://schemas.openxmlformats.org/officeDocument/2006/relationships" id="261" r:id="Rb3eb4ea7a5824ccb"/>
    <p:sldId xmlns:r="http://schemas.openxmlformats.org/officeDocument/2006/relationships" id="262" r:id="R85162e8413cd4f91"/>
    <p:sldId xmlns:r="http://schemas.openxmlformats.org/officeDocument/2006/relationships" id="263" r:id="R3070990d8a9f4ac4"/>
    <p:sldId xmlns:r="http://schemas.openxmlformats.org/officeDocument/2006/relationships" id="264" r:id="R4a05249691f34a4a"/>
    <p:sldId xmlns:r="http://schemas.openxmlformats.org/officeDocument/2006/relationships" id="265" r:id="R8bcccd1bc568427c"/>
    <p:sldId xmlns:r="http://schemas.openxmlformats.org/officeDocument/2006/relationships" id="266" r:id="Ra14e4397fb354e3f"/>
    <p:sldId xmlns:r="http://schemas.openxmlformats.org/officeDocument/2006/relationships" id="267" r:id="R206642dc5b6f44ab"/>
    <p:sldId xmlns:r="http://schemas.openxmlformats.org/officeDocument/2006/relationships" id="268" r:id="Rf608bf39d6fc4dfb"/>
    <p:sldId xmlns:r="http://schemas.openxmlformats.org/officeDocument/2006/relationships" id="269" r:id="R6e9d9e38bb8541f7"/>
    <p:sldId xmlns:r="http://schemas.openxmlformats.org/officeDocument/2006/relationships" id="270" r:id="R483e5d2df5d347b7"/>
    <p:sldId xmlns:r="http://schemas.openxmlformats.org/officeDocument/2006/relationships" id="271" r:id="R0d4c497b113c41a0"/>
    <p:sldId xmlns:r="http://schemas.openxmlformats.org/officeDocument/2006/relationships" id="272" r:id="Rea7dcfe605254edf"/>
    <p:sldId xmlns:r="http://schemas.openxmlformats.org/officeDocument/2006/relationships" id="273" r:id="Rbcaef0a102904537"/>
    <p:sldId xmlns:r="http://schemas.openxmlformats.org/officeDocument/2006/relationships" id="274" r:id="Rafd19caa51cb47a2"/>
    <p:sldId xmlns:r="http://schemas.openxmlformats.org/officeDocument/2006/relationships" id="275" r:id="R0d7185dc81b84117"/>
    <p:sldId xmlns:r="http://schemas.openxmlformats.org/officeDocument/2006/relationships" id="276" r:id="R2b1711023a814d30"/>
    <p:sldId xmlns:r="http://schemas.openxmlformats.org/officeDocument/2006/relationships" id="277" r:id="Rb6edc68a39944b81"/>
    <p:sldId xmlns:r="http://schemas.openxmlformats.org/officeDocument/2006/relationships" id="278" r:id="Rd887f0d0c49849bc"/>
    <p:sldId xmlns:r="http://schemas.openxmlformats.org/officeDocument/2006/relationships" id="279" r:id="R9b7d5ada240f48fc"/>
    <p:sldId xmlns:r="http://schemas.openxmlformats.org/officeDocument/2006/relationships" id="280" r:id="R2a12ae169b9342ca"/>
    <p:sldId xmlns:r="http://schemas.openxmlformats.org/officeDocument/2006/relationships" id="281" r:id="R614e240d099f4faf"/>
    <p:sldId xmlns:r="http://schemas.openxmlformats.org/officeDocument/2006/relationships" id="282" r:id="Ra7c66509a1ce49d5"/>
    <p:sldId xmlns:r="http://schemas.openxmlformats.org/officeDocument/2006/relationships" id="283" r:id="R983f14ec39e04cb9"/>
    <p:sldId xmlns:r="http://schemas.openxmlformats.org/officeDocument/2006/relationships" id="284" r:id="R513f6b0d68b54dff"/>
  </p:sldIdLst>
  <p:sldSz cx="12191695" cy="6858000"/>
  <p:notesSz cx="6858000" cy="9144000"/>
  <p:defaultTextStyle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9ef5f7cf36d4bf4" /><Relationship Type="http://schemas.openxmlformats.org/officeDocument/2006/relationships/slideMaster" Target="/ppt/slideMasters/slideMaster1.xml" Id="Raf1747f606424ceb" /><Relationship Type="http://schemas.openxmlformats.org/officeDocument/2006/relationships/notesMaster" Target="/ppt/notesMasters/notesMaster1.xml" Id="Rc8bab7f689374d17" /><Relationship Type="http://schemas.openxmlformats.org/officeDocument/2006/relationships/presProps" Target="/ppt/presProps.xml" Id="Rb42319665b8046ef" /><Relationship Type="http://schemas.openxmlformats.org/officeDocument/2006/relationships/viewProps" Target="/ppt/viewProps.xml" Id="R1d334ccc511f47d4" /><Relationship Type="http://schemas.openxmlformats.org/officeDocument/2006/relationships/tableStyles" Target="/ppt/tableStyles.xml" Id="R7e9897291e6d4f69" /><Relationship Type="http://schemas.openxmlformats.org/officeDocument/2006/relationships/slide" Target="/ppt/slides/slide1.xml" Id="R736443b8ebdc4b9b" /><Relationship Type="http://schemas.openxmlformats.org/officeDocument/2006/relationships/slide" Target="/ppt/slides/slide2.xml" Id="R712b5c5c566c40e6" /><Relationship Type="http://schemas.openxmlformats.org/officeDocument/2006/relationships/slide" Target="/ppt/slides/slide3.xml" Id="R5bb5fd4ed7544169" /><Relationship Type="http://schemas.openxmlformats.org/officeDocument/2006/relationships/slide" Target="/ppt/slides/slide4.xml" Id="R66dbc5f3d7bd45e0" /><Relationship Type="http://schemas.openxmlformats.org/officeDocument/2006/relationships/slide" Target="/ppt/slides/slide5.xml" Id="R7d2b3ca936cd4083" /><Relationship Type="http://schemas.openxmlformats.org/officeDocument/2006/relationships/slide" Target="/ppt/slides/slide6.xml" Id="Rb3eb4ea7a5824ccb" /><Relationship Type="http://schemas.openxmlformats.org/officeDocument/2006/relationships/slide" Target="/ppt/slides/slide7.xml" Id="R85162e8413cd4f91" /><Relationship Type="http://schemas.openxmlformats.org/officeDocument/2006/relationships/slide" Target="/ppt/slides/slide8.xml" Id="R3070990d8a9f4ac4" /><Relationship Type="http://schemas.openxmlformats.org/officeDocument/2006/relationships/slide" Target="/ppt/slides/slide9.xml" Id="R4a05249691f34a4a" /><Relationship Type="http://schemas.openxmlformats.org/officeDocument/2006/relationships/slide" Target="/ppt/slides/slide10.xml" Id="R8bcccd1bc568427c" /><Relationship Type="http://schemas.openxmlformats.org/officeDocument/2006/relationships/slide" Target="/ppt/slides/slide11.xml" Id="Ra14e4397fb354e3f" /><Relationship Type="http://schemas.openxmlformats.org/officeDocument/2006/relationships/slide" Target="/ppt/slides/slide12.xml" Id="R206642dc5b6f44ab" /><Relationship Type="http://schemas.openxmlformats.org/officeDocument/2006/relationships/slide" Target="/ppt/slides/slide13.xml" Id="Rf608bf39d6fc4dfb" /><Relationship Type="http://schemas.openxmlformats.org/officeDocument/2006/relationships/slide" Target="/ppt/slides/slide14.xml" Id="R6e9d9e38bb8541f7" /><Relationship Type="http://schemas.openxmlformats.org/officeDocument/2006/relationships/slide" Target="/ppt/slides/slide15.xml" Id="R483e5d2df5d347b7" /><Relationship Type="http://schemas.openxmlformats.org/officeDocument/2006/relationships/slide" Target="/ppt/slides/slide16.xml" Id="R0d4c497b113c41a0" /><Relationship Type="http://schemas.openxmlformats.org/officeDocument/2006/relationships/slide" Target="/ppt/slides/slide17.xml" Id="Rea7dcfe605254edf" /><Relationship Type="http://schemas.openxmlformats.org/officeDocument/2006/relationships/slide" Target="/ppt/slides/slide18.xml" Id="Rbcaef0a102904537" /><Relationship Type="http://schemas.openxmlformats.org/officeDocument/2006/relationships/slide" Target="/ppt/slides/slide19.xml" Id="Rafd19caa51cb47a2" /><Relationship Type="http://schemas.openxmlformats.org/officeDocument/2006/relationships/slide" Target="/ppt/slides/slide20.xml" Id="R0d7185dc81b84117" /><Relationship Type="http://schemas.openxmlformats.org/officeDocument/2006/relationships/slide" Target="/ppt/slides/slide21.xml" Id="R2b1711023a814d30" /><Relationship Type="http://schemas.openxmlformats.org/officeDocument/2006/relationships/slide" Target="/ppt/slides/slide22.xml" Id="Rb6edc68a39944b81" /><Relationship Type="http://schemas.openxmlformats.org/officeDocument/2006/relationships/slide" Target="/ppt/slides/slide23.xml" Id="Rd887f0d0c49849bc" /><Relationship Type="http://schemas.openxmlformats.org/officeDocument/2006/relationships/slide" Target="/ppt/slides/slide24.xml" Id="R9b7d5ada240f48fc" /><Relationship Type="http://schemas.openxmlformats.org/officeDocument/2006/relationships/slide" Target="/ppt/slides/slide25.xml" Id="R2a12ae169b9342ca" /><Relationship Type="http://schemas.openxmlformats.org/officeDocument/2006/relationships/slide" Target="/ppt/slides/slide26.xml" Id="R614e240d099f4faf" /><Relationship Type="http://schemas.openxmlformats.org/officeDocument/2006/relationships/slide" Target="/ppt/slides/slide27.xml" Id="Ra7c66509a1ce49d5" /><Relationship Type="http://schemas.openxmlformats.org/officeDocument/2006/relationships/slide" Target="/ppt/slides/slide28.xml" Id="R983f14ec39e04cb9" /><Relationship Type="http://schemas.openxmlformats.org/officeDocument/2006/relationships/slide" Target="/ppt/slides/slide29.xml" Id="R513f6b0d68b54df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9011f5e983246d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81f1e5f765a479a" /><Relationship Type="http://schemas.openxmlformats.org/officeDocument/2006/relationships/notesMaster" Target="/ppt/notesMasters/notesMaster1.xml" Id="R6bb28e868431461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a7ebd52b9df45a6" /><Relationship Type="http://schemas.openxmlformats.org/officeDocument/2006/relationships/notesMaster" Target="/ppt/notesMasters/notesMaster1.xml" Id="R7de558012a86440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57ddd13c8da4a83" /><Relationship Type="http://schemas.openxmlformats.org/officeDocument/2006/relationships/notesMaster" Target="/ppt/notesMasters/notesMaster1.xml" Id="R08b016faa73948f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eae07bc2f23402a" /><Relationship Type="http://schemas.openxmlformats.org/officeDocument/2006/relationships/notesMaster" Target="/ppt/notesMasters/notesMaster1.xml" Id="R30f91c182ad74b5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863c971fd6a47e9" /><Relationship Type="http://schemas.openxmlformats.org/officeDocument/2006/relationships/notesMaster" Target="/ppt/notesMasters/notesMaster1.xml" Id="R23e7618a22904c9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2d638c316d54fed" /><Relationship Type="http://schemas.openxmlformats.org/officeDocument/2006/relationships/notesMaster" Target="/ppt/notesMasters/notesMaster1.xml" Id="Ra0c2e8c65684436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4a1508917954b92" /><Relationship Type="http://schemas.openxmlformats.org/officeDocument/2006/relationships/notesMaster" Target="/ppt/notesMasters/notesMaster1.xml" Id="Rbbef320e6cf64d3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f579ce726444ab8" /><Relationship Type="http://schemas.openxmlformats.org/officeDocument/2006/relationships/notesMaster" Target="/ppt/notesMasters/notesMaster1.xml" Id="R5e69bb70d3e3465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72d1db6613c4e9d" /><Relationship Type="http://schemas.openxmlformats.org/officeDocument/2006/relationships/notesMaster" Target="/ppt/notesMasters/notesMaster1.xml" Id="Rd7ad0a94b80b451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34167e366e54722" /><Relationship Type="http://schemas.openxmlformats.org/officeDocument/2006/relationships/notesMaster" Target="/ppt/notesMasters/notesMaster1.xml" Id="Rf2b2cc17f1224d9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1009d45f07c4f3b" /><Relationship Type="http://schemas.openxmlformats.org/officeDocument/2006/relationships/notesMaster" Target="/ppt/notesMasters/notesMaster1.xml" Id="R5560b28f6aa64ba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8f89f3035654515" /><Relationship Type="http://schemas.openxmlformats.org/officeDocument/2006/relationships/notesMaster" Target="/ppt/notesMasters/notesMaster1.xml" Id="R7cb1313490d34bf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8c39883e5e54970" /><Relationship Type="http://schemas.openxmlformats.org/officeDocument/2006/relationships/notesMaster" Target="/ppt/notesMasters/notesMaster1.xml" Id="R741713b990564e2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1db8c84d0f44d50" /><Relationship Type="http://schemas.openxmlformats.org/officeDocument/2006/relationships/notesMaster" Target="/ppt/notesMasters/notesMaster1.xml" Id="R7b127f4b47c94af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a208e99e3e9433f" /><Relationship Type="http://schemas.openxmlformats.org/officeDocument/2006/relationships/notesMaster" Target="/ppt/notesMasters/notesMaster1.xml" Id="Rde4afbb1a8d0447c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b63744a0dc6f4949" /><Relationship Type="http://schemas.openxmlformats.org/officeDocument/2006/relationships/notesMaster" Target="/ppt/notesMasters/notesMaster1.xml" Id="R880eab87d0dd40b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308d5ffcd0874d2b" /><Relationship Type="http://schemas.openxmlformats.org/officeDocument/2006/relationships/notesMaster" Target="/ppt/notesMasters/notesMaster1.xml" Id="Ra9c9793f8ffb44c0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b6cfccf227214178" /><Relationship Type="http://schemas.openxmlformats.org/officeDocument/2006/relationships/notesMaster" Target="/ppt/notesMasters/notesMaster1.xml" Id="Rb0f2660c299441df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9a174386a9034ca7" /><Relationship Type="http://schemas.openxmlformats.org/officeDocument/2006/relationships/notesMaster" Target="/ppt/notesMasters/notesMaster1.xml" Id="Raa3699a57e864ed2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9b1bf2819c2248a5" /><Relationship Type="http://schemas.openxmlformats.org/officeDocument/2006/relationships/notesMaster" Target="/ppt/notesMasters/notesMaster1.xml" Id="Ref87b80fafd24432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65865b93d12f4b79" /><Relationship Type="http://schemas.openxmlformats.org/officeDocument/2006/relationships/notesMaster" Target="/ppt/notesMasters/notesMaster1.xml" Id="Ra0cccb1bcf0f44cb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990c99d10f064816" /><Relationship Type="http://schemas.openxmlformats.org/officeDocument/2006/relationships/notesMaster" Target="/ppt/notesMasters/notesMaster1.xml" Id="R4d683f4518714783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abe5f00be56849fb" /><Relationship Type="http://schemas.openxmlformats.org/officeDocument/2006/relationships/notesMaster" Target="/ppt/notesMasters/notesMaster1.xml" Id="R1416e311a4bc443b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f6713255f81f44fa" /><Relationship Type="http://schemas.openxmlformats.org/officeDocument/2006/relationships/notesMaster" Target="/ppt/notesMasters/notesMaster1.xml" Id="Rf31c813e4a3e46af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5a6cf510fbdb4f5d" /><Relationship Type="http://schemas.openxmlformats.org/officeDocument/2006/relationships/notesMaster" Target="/ppt/notesMasters/notesMaster1.xml" Id="R506eccb074fe4cf9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4b4fb17f800c4bad" /><Relationship Type="http://schemas.openxmlformats.org/officeDocument/2006/relationships/notesMaster" Target="/ppt/notesMasters/notesMaster1.xml" Id="R914786fe0ded4c5a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112c7201697e48d3" /><Relationship Type="http://schemas.openxmlformats.org/officeDocument/2006/relationships/notesMaster" Target="/ppt/notesMasters/notesMaster1.xml" Id="R1f8667bea7244060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7b62a78b4d8e43b8" /><Relationship Type="http://schemas.openxmlformats.org/officeDocument/2006/relationships/notesMaster" Target="/ppt/notesMasters/notesMaster1.xml" Id="R092c033ff7dc45b8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6c8b5e78db9d4d9c" /><Relationship Type="http://schemas.openxmlformats.org/officeDocument/2006/relationships/notesMaster" Target="/ppt/notesMasters/notesMaster1.xml" Id="Rb158ca9574d94b2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f97de4a191471b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7f26ae9f61d4674" /><Relationship Type="http://schemas.openxmlformats.org/officeDocument/2006/relationships/slideLayout" Target="/ppt/slideLayouts/slideLayout1.xml" Id="R2ee5e4ac0251487f" /></Relationships>
</file>

<file path=ppt/slideMasters/slideMaster1.xml><?xml version="1.0" encoding="utf-8"?>
<p:sldMaster xmlns:p="http://schemas.openxmlformats.org/presentationml/2006/main">
  <p:cSld name="Office Them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ee5e4ac0251487f"/>
  </p:sldLayoutIdLst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035920fa13447b" /><Relationship Type="http://schemas.openxmlformats.org/officeDocument/2006/relationships/notesSlide" Target="/ppt/notesSlides/notesSlide1.xml" Id="Rdfd15aec8f7447d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d0324ab7c34ed3" /><Relationship Type="http://schemas.openxmlformats.org/officeDocument/2006/relationships/notesSlide" Target="/ppt/notesSlides/notesSlide2.xml" Id="R3f4bf89bc72c4e0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d7895493cd41c0" /><Relationship Type="http://schemas.openxmlformats.org/officeDocument/2006/relationships/notesSlide" Target="/ppt/notesSlides/notesSlide3.xml" Id="R4d0735ccec974a8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7b26dd38454182" /><Relationship Type="http://schemas.openxmlformats.org/officeDocument/2006/relationships/notesSlide" Target="/ppt/notesSlides/notesSlide4.xml" Id="R469ea096fb7d45d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5e02dda5214ba6" /><Relationship Type="http://schemas.openxmlformats.org/officeDocument/2006/relationships/notesSlide" Target="/ppt/notesSlides/notesSlide5.xml" Id="R09aa7c767f6b490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d4349b6a864db8" /><Relationship Type="http://schemas.openxmlformats.org/officeDocument/2006/relationships/notesSlide" Target="/ppt/notesSlides/notesSlide6.xml" Id="Ra8c086d3287d482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44502b340c462b" /><Relationship Type="http://schemas.openxmlformats.org/officeDocument/2006/relationships/notesSlide" Target="/ppt/notesSlides/notesSlide7.xml" Id="R6578eb382f6548b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1ba8d90c554b29" /><Relationship Type="http://schemas.openxmlformats.org/officeDocument/2006/relationships/notesSlide" Target="/ppt/notesSlides/notesSlide8.xml" Id="Rb6890df85ff440a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25fe16a5be4ed2" /><Relationship Type="http://schemas.openxmlformats.org/officeDocument/2006/relationships/notesSlide" Target="/ppt/notesSlides/notesSlide9.xml" Id="R873e27675f7746d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16d37163594caa" /><Relationship Type="http://schemas.openxmlformats.org/officeDocument/2006/relationships/notesSlide" Target="/ppt/notesSlides/notesSlide10.xml" Id="R7a1a9920de8f44b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6998d9c81146a9" /><Relationship Type="http://schemas.openxmlformats.org/officeDocument/2006/relationships/notesSlide" Target="/ppt/notesSlides/notesSlide11.xml" Id="R12ee88e7381241c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e2485f3abf485e" /><Relationship Type="http://schemas.openxmlformats.org/officeDocument/2006/relationships/notesSlide" Target="/ppt/notesSlides/notesSlide12.xml" Id="Raf68f733267e49d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44a2ec588c47d7" /><Relationship Type="http://schemas.openxmlformats.org/officeDocument/2006/relationships/notesSlide" Target="/ppt/notesSlides/notesSlide13.xml" Id="R656020e42f1d424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18da4c2e2e472b" /><Relationship Type="http://schemas.openxmlformats.org/officeDocument/2006/relationships/notesSlide" Target="/ppt/notesSlides/notesSlide14.xml" Id="R138450ca1aa4495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a787df15d24273" /><Relationship Type="http://schemas.openxmlformats.org/officeDocument/2006/relationships/notesSlide" Target="/ppt/notesSlides/notesSlide15.xml" Id="R883120fadef741a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8a621399014ef6" /><Relationship Type="http://schemas.openxmlformats.org/officeDocument/2006/relationships/notesSlide" Target="/ppt/notesSlides/notesSlide16.xml" Id="Reff678785bfe4759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af532ff92840c9" /><Relationship Type="http://schemas.openxmlformats.org/officeDocument/2006/relationships/notesSlide" Target="/ppt/notesSlides/notesSlide17.xml" Id="R005ad37fd6f94853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843979c18440b0" /><Relationship Type="http://schemas.openxmlformats.org/officeDocument/2006/relationships/notesSlide" Target="/ppt/notesSlides/notesSlide18.xml" Id="R6c81b233ac4f4ec3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e9659e4c1f4779" /><Relationship Type="http://schemas.openxmlformats.org/officeDocument/2006/relationships/notesSlide" Target="/ppt/notesSlides/notesSlide19.xml" Id="R97957a454ecf447a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3620d0648a42d5" /><Relationship Type="http://schemas.openxmlformats.org/officeDocument/2006/relationships/notesSlide" Target="/ppt/notesSlides/notesSlide20.xml" Id="R5d097d082bd94762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b26ae41d50456c" /><Relationship Type="http://schemas.openxmlformats.org/officeDocument/2006/relationships/notesSlide" Target="/ppt/notesSlides/notesSlide21.xml" Id="R74ec5870000e49fc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36aed1e5e74bc6" /><Relationship Type="http://schemas.openxmlformats.org/officeDocument/2006/relationships/notesSlide" Target="/ppt/notesSlides/notesSlide22.xml" Id="Rb4885578882548a5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d3d867216c455a" /><Relationship Type="http://schemas.openxmlformats.org/officeDocument/2006/relationships/notesSlide" Target="/ppt/notesSlides/notesSlide23.xml" Id="Raf68aa3f8ebe4edc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5f9b7901d149ae" /><Relationship Type="http://schemas.openxmlformats.org/officeDocument/2006/relationships/notesSlide" Target="/ppt/notesSlides/notesSlide24.xml" Id="Rba42e3276e1d4160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64f1ca8db049de" /><Relationship Type="http://schemas.openxmlformats.org/officeDocument/2006/relationships/notesSlide" Target="/ppt/notesSlides/notesSlide25.xml" Id="R1ebe62cab78a481e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e83391fde14736" /><Relationship Type="http://schemas.openxmlformats.org/officeDocument/2006/relationships/notesSlide" Target="/ppt/notesSlides/notesSlide26.xml" Id="Rb3521c59d66448d7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f5aa45cd4d4859" /><Relationship Type="http://schemas.openxmlformats.org/officeDocument/2006/relationships/notesSlide" Target="/ppt/notesSlides/notesSlide27.xml" Id="R04a5e0f0dc1941f3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efb48a15294050" /><Relationship Type="http://schemas.openxmlformats.org/officeDocument/2006/relationships/notesSlide" Target="/ppt/notesSlides/notesSlide28.xml" Id="R785b2d7f97da462d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4f13d5931d469d" /><Relationship Type="http://schemas.openxmlformats.org/officeDocument/2006/relationships/notesSlide" Target="/ppt/notesSlides/notesSlide29.xml" Id="R51431000644148d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0808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0">
            <a:extLst xmlns:a="http://schemas.openxmlformats.org/drawingml/2006/main">
              <a:ext uri="{FF2B5EF4-FFF2-40B4-BE49-F238E27FC236}">
                <a16:creationId xmlns:a16="http://schemas.microsoft.com/office/drawing/2014/main" id="{92963AF8-8626-4EFB-BEC5-718AF20FA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286000"/>
            <a:ext cx="68580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52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52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52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52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52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52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52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52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52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52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52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52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RETRO TV</a:t>
            </a:r>
            <a:endParaRPr sz="5200"/>
          </a:p>
        </p:txBody>
      </p:sp>
      <p:sp>
        <p:nvSpPr>
          <p:cNvPr id="5" name="Text 1">
            <a:extLst xmlns:a="http://schemas.openxmlformats.org/drawingml/2006/main">
              <a:ext uri="{FF2B5EF4-FFF2-40B4-BE49-F238E27FC236}">
                <a16:creationId xmlns:a16="http://schemas.microsoft.com/office/drawing/2014/main" id="{C875F63D-3A3C-4987-971E-0D5A996B3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063240"/>
            <a:ext cx="68580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52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52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52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52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52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52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52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52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52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52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52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52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rPr>
              <a:t>PROJECT</a:t>
            </a:r>
            <a:endParaRPr sz="5200"/>
          </a:p>
        </p:txBody>
      </p:sp>
      <p:sp>
        <p:nvSpPr>
          <p:cNvPr id="6" name="Text 2">
            <a:extLst xmlns:a="http://schemas.openxmlformats.org/drawingml/2006/main">
              <a:ext uri="{FF2B5EF4-FFF2-40B4-BE49-F238E27FC236}">
                <a16:creationId xmlns:a16="http://schemas.microsoft.com/office/drawing/2014/main" id="{37CBA2DE-11DE-4006-9017-6A5B46077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06908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6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16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16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16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16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16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16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16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16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16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16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By Haidar Ali Alshowaikh   |   Class 8E</a:t>
            </a:r>
            <a:endParaRPr sz="1600"/>
          </a:p>
        </p:txBody>
      </p:sp>
      <p:sp>
        <p:nvSpPr>
          <p:cNvPr id="7" name="TV silver cabinet">
            <a:extLst xmlns:a="http://schemas.openxmlformats.org/drawingml/2006/main">
              <a:ext uri="{FF2B5EF4-FFF2-40B4-BE49-F238E27FC236}">
                <a16:creationId xmlns:a16="http://schemas.microsoft.com/office/drawing/2014/main" id="{248ED3AC-F96A-4D8B-9017-E171610C2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24050"/>
            <a:ext cx="30670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8" name="TV navy screen">
            <a:extLst xmlns:a="http://schemas.openxmlformats.org/drawingml/2006/main">
              <a:ext uri="{FF2B5EF4-FFF2-40B4-BE49-F238E27FC236}">
                <a16:creationId xmlns:a16="http://schemas.microsoft.com/office/drawing/2014/main" id="{43254E02-0EC1-40B8-AF77-5EB9FC69D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2647950" cy="2143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47625">
            <a:solidFill>
              <a:srgbClr val="404040"/>
            </a:solidFill>
            <a:prstDash val="solid"/>
          </a:ln>
        </p:spPr>
      </p:sp>
      <p:sp>
        <p:nvSpPr>
          <p:cNvPr id="9" name="TV screen labels">
            <a:extLst xmlns:a="http://schemas.openxmlformats.org/drawingml/2006/main">
              <a:ext uri="{FF2B5EF4-FFF2-40B4-BE49-F238E27FC236}">
                <a16:creationId xmlns:a16="http://schemas.microsoft.com/office/drawing/2014/main" id="{AD681F6F-AED3-4B0D-815E-AEBF2FFF3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667000"/>
            <a:ext cx="23050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5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5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5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5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5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5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5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5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5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5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algn="ctr">
              <a:buNone/>
              <a:defRPr sz="15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rPr>
              <a:t>BRACK STUDY TV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rPr>
              <a:t>LIVE TV  ·  TOD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rPr>
              <a:t>APPS  ·  APP STORE</a:t>
            </a:r>
          </a:p>
        </p:txBody>
      </p:sp>
      <p:sp>
        <p:nvSpPr>
          <p:cNvPr id="10" name="TV control">
            <a:extLst xmlns:a="http://schemas.openxmlformats.org/drawingml/2006/main">
              <a:ext uri="{FF2B5EF4-FFF2-40B4-BE49-F238E27FC236}">
                <a16:creationId xmlns:a16="http://schemas.microsoft.com/office/drawing/2014/main" id="{0072E205-5F19-44E6-A31E-2EAE755DF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4005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19050">
            <a:solidFill>
              <a:srgbClr val="404040"/>
            </a:solidFill>
            <a:prstDash val="solid"/>
          </a:ln>
        </p:spPr>
      </p:sp>
      <p:sp>
        <p:nvSpPr>
          <p:cNvPr id="11" name="TV control">
            <a:extLst xmlns:a="http://schemas.openxmlformats.org/drawingml/2006/main">
              <a:ext uri="{FF2B5EF4-FFF2-40B4-BE49-F238E27FC236}">
                <a16:creationId xmlns:a16="http://schemas.microsoft.com/office/drawing/2014/main" id="{576C6C84-E039-48A9-882F-1A3E8321A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4005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19050">
            <a:solidFill>
              <a:srgbClr val="40404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73034902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0808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640DC8E0-BE2F-4A77-9122-AA9B97D7E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048"/>
            <a:ext cx="11094415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1" spc="20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WHAT IT'S BUILT FROM</a:t>
            </a:r>
            <a:endParaRPr sz="12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B0B2AFCB-8D7A-4CEB-B081-C2DB3BE53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31520"/>
            <a:ext cx="11094415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rPr>
              <a:t>Materials Used</a:t>
            </a:r>
            <a:endParaRPr sz="3000"/>
          </a:p>
        </p:txBody>
      </p:sp>
      <p:sp>
        <p:nvSpPr>
          <p:cNvPr id="6" name="Text 2">
            <a:extLst xmlns:a="http://schemas.openxmlformats.org/drawingml/2006/main">
              <a:ext uri="{FF2B5EF4-FFF2-40B4-BE49-F238E27FC236}">
                <a16:creationId xmlns:a16="http://schemas.microsoft.com/office/drawing/2014/main" id="{CF32B79E-29E1-49F8-A869-91FF3849A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231136"/>
            <a:ext cx="2773604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Replacement Pi 4</a:t>
            </a:r>
            <a:endParaRPr sz="1450"/>
          </a:p>
        </p:txBody>
      </p:sp>
      <p:sp>
        <p:nvSpPr>
          <p:cNvPr id="8" name="Text 3">
            <a:extLst xmlns:a="http://schemas.openxmlformats.org/drawingml/2006/main">
              <a:ext uri="{FF2B5EF4-FFF2-40B4-BE49-F238E27FC236}">
                <a16:creationId xmlns:a16="http://schemas.microsoft.com/office/drawing/2014/main" id="{8ECF46FA-5F33-4107-AE75-65E9D6BE6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2244" y="2231136"/>
            <a:ext cx="2773604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Arduino Uno</a:t>
            </a:r>
            <a:endParaRPr sz="1450"/>
          </a:p>
        </p:txBody>
      </p:sp>
      <p:sp>
        <p:nvSpPr>
          <p:cNvPr id="10" name="Text 4">
            <a:extLst xmlns:a="http://schemas.openxmlformats.org/drawingml/2006/main">
              <a:ext uri="{FF2B5EF4-FFF2-40B4-BE49-F238E27FC236}">
                <a16:creationId xmlns:a16="http://schemas.microsoft.com/office/drawing/2014/main" id="{083BD7E4-5C64-4888-94BB-50B65D5BF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5848" y="2231136"/>
            <a:ext cx="2773604" cy="4114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Volume knob</a:t>
            </a:r>
            <a:endParaRPr sz="1450" b="1">
              <a:solidFill>
                <a:srgbClr val="F1E8D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Text 5">
            <a:extLst xmlns:a="http://schemas.openxmlformats.org/drawingml/2006/main">
              <a:ext uri="{FF2B5EF4-FFF2-40B4-BE49-F238E27FC236}">
                <a16:creationId xmlns:a16="http://schemas.microsoft.com/office/drawing/2014/main" id="{A308C73D-C44D-47F3-8F25-060415849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451" y="2231136"/>
            <a:ext cx="2773604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Speakers</a:t>
            </a:r>
            <a:endParaRPr sz="1450"/>
          </a:p>
        </p:txBody>
      </p:sp>
      <p:sp>
        <p:nvSpPr>
          <p:cNvPr id="14" name="Text 6">
            <a:extLst xmlns:a="http://schemas.openxmlformats.org/drawingml/2006/main">
              <a:ext uri="{FF2B5EF4-FFF2-40B4-BE49-F238E27FC236}">
                <a16:creationId xmlns:a16="http://schemas.microsoft.com/office/drawing/2014/main" id="{055CAF43-2BC5-429D-AC7E-1CEB81282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97096"/>
            <a:ext cx="2773604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Power button</a:t>
            </a:r>
            <a:endParaRPr sz="1450"/>
          </a:p>
        </p:txBody>
      </p:sp>
      <p:sp>
        <p:nvSpPr>
          <p:cNvPr id="16" name="Text 7">
            <a:extLst xmlns:a="http://schemas.openxmlformats.org/drawingml/2006/main">
              <a:ext uri="{FF2B5EF4-FFF2-40B4-BE49-F238E27FC236}">
                <a16:creationId xmlns:a16="http://schemas.microsoft.com/office/drawing/2014/main" id="{40E9F616-5A73-4883-8B45-0CDB6F148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2244" y="4197096"/>
            <a:ext cx="2773604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Joystick Module</a:t>
            </a:r>
            <a:endParaRPr sz="1450"/>
          </a:p>
        </p:txBody>
      </p:sp>
      <p:sp>
        <p:nvSpPr>
          <p:cNvPr id="18" name="Text 8">
            <a:extLst xmlns:a="http://schemas.openxmlformats.org/drawingml/2006/main">
              <a:ext uri="{FF2B5EF4-FFF2-40B4-BE49-F238E27FC236}">
                <a16:creationId xmlns:a16="http://schemas.microsoft.com/office/drawing/2014/main" id="{33122E2B-E33E-47A6-8B71-C571F0D17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5848" y="4197096"/>
            <a:ext cx="2773604" cy="20573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22-inch HDMI monitor</a:t>
            </a:r>
            <a:endParaRPr sz="1450"/>
          </a:p>
        </p:txBody>
      </p:sp>
      <p:sp>
        <p:nvSpPr>
          <p:cNvPr id="20" name="Text 9">
            <a:extLst xmlns:a="http://schemas.openxmlformats.org/drawingml/2006/main">
              <a:ext uri="{FF2B5EF4-FFF2-40B4-BE49-F238E27FC236}">
                <a16:creationId xmlns:a16="http://schemas.microsoft.com/office/drawing/2014/main" id="{5FE0825D-A6BC-4B87-96E0-2B4E85EA1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451" y="4197096"/>
            <a:ext cx="2773604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Enclosure frame</a:t>
            </a:r>
            <a:endParaRPr sz="1450"/>
          </a:p>
        </p:txBody>
      </p:sp>
      <p:sp>
        <p:nvSpPr>
          <p:cNvPr id="21" name="Text 10">
            <a:extLst xmlns:a="http://schemas.openxmlformats.org/drawingml/2006/main">
              <a:ext uri="{FF2B5EF4-FFF2-40B4-BE49-F238E27FC236}">
                <a16:creationId xmlns:a16="http://schemas.microsoft.com/office/drawing/2014/main" id="{C7D45C18-D651-4B44-9B30-AF40F31B1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355080"/>
            <a:ext cx="5486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02</a:t>
            </a:r>
            <a:endParaRPr sz="1000"/>
          </a:p>
        </p:txBody>
      </p:sp>
      <p:sp>
        <p:nvSpPr>
          <p:cNvPr id="22" name="Icon pi tile">
            <a:extLst xmlns:a="http://schemas.openxmlformats.org/drawingml/2006/main">
              <a:ext uri="{FF2B5EF4-FFF2-40B4-BE49-F238E27FC236}">
                <a16:creationId xmlns:a16="http://schemas.microsoft.com/office/drawing/2014/main" id="{03EABF1E-B28A-4C70-BC7A-C5FA93146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66875" y="1504950"/>
            <a:ext cx="5334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19756">
            <a:solidFill>
              <a:srgbClr val="C0C0C0"/>
            </a:solidFill>
            <a:prstDash val="solid"/>
          </a:ln>
        </p:spPr>
      </p:sp>
      <p:sp>
        <p:nvSpPr>
          <p:cNvPr id="23" name="Icon pi board">
            <a:extLst xmlns:a="http://schemas.openxmlformats.org/drawingml/2006/main">
              <a:ext uri="{FF2B5EF4-FFF2-40B4-BE49-F238E27FC236}">
                <a16:creationId xmlns:a16="http://schemas.microsoft.com/office/drawing/2014/main" id="{C8741882-DE61-433F-8A7E-3F8191537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45897" y="1574094"/>
            <a:ext cx="375356" cy="39511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080"/>
          </a:solidFill>
          <a:ln xmlns:a="http://schemas.openxmlformats.org/drawingml/2006/main" w="19756">
            <a:solidFill>
              <a:srgbClr val="C0C0C0"/>
            </a:solidFill>
            <a:prstDash val="solid"/>
          </a:ln>
        </p:spPr>
      </p:sp>
      <p:sp>
        <p:nvSpPr>
          <p:cNvPr id="24" name="Icon pi processor">
            <a:extLst xmlns:a="http://schemas.openxmlformats.org/drawingml/2006/main">
              <a:ext uri="{FF2B5EF4-FFF2-40B4-BE49-F238E27FC236}">
                <a16:creationId xmlns:a16="http://schemas.microsoft.com/office/drawing/2014/main" id="{5702265F-AB76-4FEF-B918-E145650A2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44675" y="1662994"/>
            <a:ext cx="177800" cy="17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19756">
            <a:solidFill>
              <a:srgbClr val="FFFF00"/>
            </a:solidFill>
            <a:prstDash val="solid"/>
          </a:ln>
        </p:spPr>
      </p:sp>
      <p:sp>
        <p:nvSpPr>
          <p:cNvPr id="25" name="Icon pi left pin 0">
            <a:extLst xmlns:a="http://schemas.openxmlformats.org/drawingml/2006/main">
              <a:ext uri="{FF2B5EF4-FFF2-40B4-BE49-F238E27FC236}">
                <a16:creationId xmlns:a16="http://schemas.microsoft.com/office/drawing/2014/main" id="{28A12F23-6E5C-4A40-8F0A-5B3A885C3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06386" y="1613606"/>
            <a:ext cx="39511" cy="2963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26" name="Icon pi right pin 0">
            <a:extLst xmlns:a="http://schemas.openxmlformats.org/drawingml/2006/main">
              <a:ext uri="{FF2B5EF4-FFF2-40B4-BE49-F238E27FC236}">
                <a16:creationId xmlns:a16="http://schemas.microsoft.com/office/drawing/2014/main" id="{2A2F131E-FA5E-48DD-A846-F027D5EF6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121253" y="1613606"/>
            <a:ext cx="39511" cy="2963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27" name="Icon pi left pin 1">
            <a:extLst xmlns:a="http://schemas.openxmlformats.org/drawingml/2006/main">
              <a:ext uri="{FF2B5EF4-FFF2-40B4-BE49-F238E27FC236}">
                <a16:creationId xmlns:a16="http://schemas.microsoft.com/office/drawing/2014/main" id="{5D03103C-5AD6-462E-B2FC-17D607844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06386" y="1692628"/>
            <a:ext cx="39511" cy="2963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28" name="Icon pi right pin 1">
            <a:extLst xmlns:a="http://schemas.openxmlformats.org/drawingml/2006/main">
              <a:ext uri="{FF2B5EF4-FFF2-40B4-BE49-F238E27FC236}">
                <a16:creationId xmlns:a16="http://schemas.microsoft.com/office/drawing/2014/main" id="{D49465AD-FF89-46BF-A372-78320B7FC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121253" y="1692628"/>
            <a:ext cx="39511" cy="2963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29" name="Icon pi left pin 2">
            <a:extLst xmlns:a="http://schemas.openxmlformats.org/drawingml/2006/main">
              <a:ext uri="{FF2B5EF4-FFF2-40B4-BE49-F238E27FC236}">
                <a16:creationId xmlns:a16="http://schemas.microsoft.com/office/drawing/2014/main" id="{78C1E00F-6AAC-448E-A011-3444E2A6C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06386" y="1771650"/>
            <a:ext cx="39511" cy="2963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30" name="Icon pi right pin 2">
            <a:extLst xmlns:a="http://schemas.openxmlformats.org/drawingml/2006/main">
              <a:ext uri="{FF2B5EF4-FFF2-40B4-BE49-F238E27FC236}">
                <a16:creationId xmlns:a16="http://schemas.microsoft.com/office/drawing/2014/main" id="{3977A450-F8A9-4369-82C9-43E434092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121253" y="1771650"/>
            <a:ext cx="39511" cy="2963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31" name="Icon pi left pin 3">
            <a:extLst xmlns:a="http://schemas.openxmlformats.org/drawingml/2006/main">
              <a:ext uri="{FF2B5EF4-FFF2-40B4-BE49-F238E27FC236}">
                <a16:creationId xmlns:a16="http://schemas.microsoft.com/office/drawing/2014/main" id="{C218BCE7-08AE-4EA9-AF42-A5868DC5F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06386" y="1850672"/>
            <a:ext cx="39511" cy="2963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32" name="Icon pi right pin 3">
            <a:extLst xmlns:a="http://schemas.openxmlformats.org/drawingml/2006/main">
              <a:ext uri="{FF2B5EF4-FFF2-40B4-BE49-F238E27FC236}">
                <a16:creationId xmlns:a16="http://schemas.microsoft.com/office/drawing/2014/main" id="{467850DB-BF46-4B60-B245-F2F7EFB44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121253" y="1850672"/>
            <a:ext cx="39511" cy="2963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33" name="Icon uno tile">
            <a:extLst xmlns:a="http://schemas.openxmlformats.org/drawingml/2006/main">
              <a:ext uri="{FF2B5EF4-FFF2-40B4-BE49-F238E27FC236}">
                <a16:creationId xmlns:a16="http://schemas.microsoft.com/office/drawing/2014/main" id="{A6E6ED48-0FF2-4847-8E63-950F1B913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38650" y="1504950"/>
            <a:ext cx="5334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19756">
            <a:solidFill>
              <a:srgbClr val="C0C0C0"/>
            </a:solidFill>
            <a:prstDash val="solid"/>
          </a:ln>
        </p:spPr>
      </p:sp>
      <p:sp>
        <p:nvSpPr>
          <p:cNvPr id="34" name="Icon uno board">
            <a:extLst xmlns:a="http://schemas.openxmlformats.org/drawingml/2006/main">
              <a:ext uri="{FF2B5EF4-FFF2-40B4-BE49-F238E27FC236}">
                <a16:creationId xmlns:a16="http://schemas.microsoft.com/office/drawing/2014/main" id="{F87A75AB-8FD7-4ED5-9972-F6CBC4183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17672" y="1574094"/>
            <a:ext cx="375356" cy="39511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080"/>
          </a:solidFill>
          <a:ln xmlns:a="http://schemas.openxmlformats.org/drawingml/2006/main" w="19756">
            <a:solidFill>
              <a:srgbClr val="C0C0C0"/>
            </a:solidFill>
            <a:prstDash val="solid"/>
          </a:ln>
        </p:spPr>
      </p:sp>
      <p:sp>
        <p:nvSpPr>
          <p:cNvPr id="35" name="Icon uno processor">
            <a:extLst xmlns:a="http://schemas.openxmlformats.org/drawingml/2006/main">
              <a:ext uri="{FF2B5EF4-FFF2-40B4-BE49-F238E27FC236}">
                <a16:creationId xmlns:a16="http://schemas.microsoft.com/office/drawing/2014/main" id="{59315597-8888-41CD-8DA2-C54ECC7E6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16450" y="1662994"/>
            <a:ext cx="177800" cy="17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19756">
            <a:solidFill>
              <a:srgbClr val="FFFF00"/>
            </a:solidFill>
            <a:prstDash val="solid"/>
          </a:ln>
        </p:spPr>
      </p:sp>
      <p:sp>
        <p:nvSpPr>
          <p:cNvPr id="36" name="Icon uno left pin 0">
            <a:extLst xmlns:a="http://schemas.openxmlformats.org/drawingml/2006/main">
              <a:ext uri="{FF2B5EF4-FFF2-40B4-BE49-F238E27FC236}">
                <a16:creationId xmlns:a16="http://schemas.microsoft.com/office/drawing/2014/main" id="{0C411DE8-8832-4E69-AC89-AC78DD0CA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78161" y="1613606"/>
            <a:ext cx="39511" cy="2963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37" name="Icon uno right pin 0">
            <a:extLst xmlns:a="http://schemas.openxmlformats.org/drawingml/2006/main">
              <a:ext uri="{FF2B5EF4-FFF2-40B4-BE49-F238E27FC236}">
                <a16:creationId xmlns:a16="http://schemas.microsoft.com/office/drawing/2014/main" id="{1BCF7672-94F1-49DE-888D-3A27EEEB1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93028" y="1613606"/>
            <a:ext cx="39511" cy="2963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38" name="Icon uno left pin 1">
            <a:extLst xmlns:a="http://schemas.openxmlformats.org/drawingml/2006/main">
              <a:ext uri="{FF2B5EF4-FFF2-40B4-BE49-F238E27FC236}">
                <a16:creationId xmlns:a16="http://schemas.microsoft.com/office/drawing/2014/main" id="{8219295B-CAAC-40FA-A9C2-43B94B9D9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78161" y="1692628"/>
            <a:ext cx="39511" cy="2963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39" name="Icon uno right pin 1">
            <a:extLst xmlns:a="http://schemas.openxmlformats.org/drawingml/2006/main">
              <a:ext uri="{FF2B5EF4-FFF2-40B4-BE49-F238E27FC236}">
                <a16:creationId xmlns:a16="http://schemas.microsoft.com/office/drawing/2014/main" id="{24E1DE94-15C4-4521-AFAB-B3BAC08D6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93028" y="1692628"/>
            <a:ext cx="39511" cy="2963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40" name="Icon uno left pin 2">
            <a:extLst xmlns:a="http://schemas.openxmlformats.org/drawingml/2006/main">
              <a:ext uri="{FF2B5EF4-FFF2-40B4-BE49-F238E27FC236}">
                <a16:creationId xmlns:a16="http://schemas.microsoft.com/office/drawing/2014/main" id="{01855BF1-806B-4D83-A549-734573DC9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78161" y="1771650"/>
            <a:ext cx="39511" cy="2963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41" name="Icon uno right pin 2">
            <a:extLst xmlns:a="http://schemas.openxmlformats.org/drawingml/2006/main">
              <a:ext uri="{FF2B5EF4-FFF2-40B4-BE49-F238E27FC236}">
                <a16:creationId xmlns:a16="http://schemas.microsoft.com/office/drawing/2014/main" id="{79CCB44C-D844-4061-987A-3E7463C86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93028" y="1771650"/>
            <a:ext cx="39511" cy="2963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42" name="Icon uno left pin 3">
            <a:extLst xmlns:a="http://schemas.openxmlformats.org/drawingml/2006/main">
              <a:ext uri="{FF2B5EF4-FFF2-40B4-BE49-F238E27FC236}">
                <a16:creationId xmlns:a16="http://schemas.microsoft.com/office/drawing/2014/main" id="{2B9FFBDE-193A-4E4A-9840-6AD3F3C39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78161" y="1850672"/>
            <a:ext cx="39511" cy="2963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43" name="Icon uno right pin 3">
            <a:extLst xmlns:a="http://schemas.openxmlformats.org/drawingml/2006/main">
              <a:ext uri="{FF2B5EF4-FFF2-40B4-BE49-F238E27FC236}">
                <a16:creationId xmlns:a16="http://schemas.microsoft.com/office/drawing/2014/main" id="{8A3905B3-FD97-4574-AE51-4DDC3E1B7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93028" y="1850672"/>
            <a:ext cx="39511" cy="2963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44" name="Icon uno U">
            <a:extLst xmlns:a="http://schemas.openxmlformats.org/drawingml/2006/main">
              <a:ext uri="{FF2B5EF4-FFF2-40B4-BE49-F238E27FC236}">
                <a16:creationId xmlns:a16="http://schemas.microsoft.com/office/drawing/2014/main" id="{844174CE-21BB-4220-A7C9-D020A04F0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6206" y="1682750"/>
            <a:ext cx="138289" cy="1481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defRPr sz="9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defRPr sz="9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defRPr sz="9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defRPr sz="9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defRPr sz="9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defRPr sz="9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defRPr sz="9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defRPr sz="9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defRPr sz="9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algn="ctr">
              <a:defRPr sz="9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9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rPr>
              <a:t>U</a:t>
            </a:r>
          </a:p>
        </p:txBody>
      </p:sp>
      <p:sp>
        <p:nvSpPr>
          <p:cNvPr id="45" name="Icon knob tile">
            <a:extLst xmlns:a="http://schemas.openxmlformats.org/drawingml/2006/main">
              <a:ext uri="{FF2B5EF4-FFF2-40B4-BE49-F238E27FC236}">
                <a16:creationId xmlns:a16="http://schemas.microsoft.com/office/drawing/2014/main" id="{B171F89C-CD4E-4110-A036-1CF0EBD99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10425" y="1504950"/>
            <a:ext cx="5334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19756">
            <a:solidFill>
              <a:srgbClr val="C0C0C0"/>
            </a:solidFill>
            <a:prstDash val="solid"/>
          </a:ln>
        </p:spPr>
      </p:sp>
      <p:sp>
        <p:nvSpPr>
          <p:cNvPr id="46" name="Icon knob dial">
            <a:extLst xmlns:a="http://schemas.openxmlformats.org/drawingml/2006/main">
              <a:ext uri="{FF2B5EF4-FFF2-40B4-BE49-F238E27FC236}">
                <a16:creationId xmlns:a16="http://schemas.microsoft.com/office/drawing/2014/main" id="{81F3FC14-EF5E-4BD0-BEE0-E17AF539A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9203" y="1603728"/>
            <a:ext cx="335844" cy="33584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9878">
            <a:solidFill>
              <a:srgbClr val="C0C0C0"/>
            </a:solidFill>
            <a:prstDash val="solid"/>
          </a:ln>
        </p:spPr>
      </p:sp>
      <p:sp>
        <p:nvSpPr>
          <p:cNvPr id="47" name="Icon knob dial center">
            <a:extLst xmlns:a="http://schemas.openxmlformats.org/drawingml/2006/main">
              <a:ext uri="{FF2B5EF4-FFF2-40B4-BE49-F238E27FC236}">
                <a16:creationId xmlns:a16="http://schemas.microsoft.com/office/drawing/2014/main" id="{50B874CE-132A-4A49-BD9D-E1BC8F5AA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8469" y="1662994"/>
            <a:ext cx="217311" cy="21731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9878">
            <a:solidFill>
              <a:srgbClr val="404040"/>
            </a:solidFill>
            <a:prstDash val="solid"/>
          </a:ln>
        </p:spPr>
      </p:sp>
      <p:sp>
        <p:nvSpPr>
          <p:cNvPr id="48" name="Icon knob pointer">
            <a:extLst xmlns:a="http://schemas.openxmlformats.org/drawingml/2006/main">
              <a:ext uri="{FF2B5EF4-FFF2-40B4-BE49-F238E27FC236}">
                <a16:creationId xmlns:a16="http://schemas.microsoft.com/office/drawing/2014/main" id="{6584ED31-2F00-48CA-A4EA-AA431F587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67247" y="1613606"/>
            <a:ext cx="29633" cy="1382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49" name="Icon speaker tile">
            <a:extLst xmlns:a="http://schemas.openxmlformats.org/drawingml/2006/main">
              <a:ext uri="{FF2B5EF4-FFF2-40B4-BE49-F238E27FC236}">
                <a16:creationId xmlns:a16="http://schemas.microsoft.com/office/drawing/2014/main" id="{154FCC8D-B6DE-4F7B-B483-E94268886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982200" y="1504950"/>
            <a:ext cx="5334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19756">
            <a:solidFill>
              <a:srgbClr val="C0C0C0"/>
            </a:solidFill>
            <a:prstDash val="solid"/>
          </a:ln>
        </p:spPr>
      </p:sp>
      <p:sp>
        <p:nvSpPr>
          <p:cNvPr id="50" name="Icon speaker speaker body">
            <a:extLst xmlns:a="http://schemas.openxmlformats.org/drawingml/2006/main">
              <a:ext uri="{FF2B5EF4-FFF2-40B4-BE49-F238E27FC236}">
                <a16:creationId xmlns:a16="http://schemas.microsoft.com/office/drawing/2014/main" id="{2736E1C3-3F74-4918-AD14-E41496D75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61222" y="1702506"/>
            <a:ext cx="118533" cy="1481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0">
            <a:solidFill>
              <a:srgbClr val="C0C0C0"/>
            </a:solidFill>
            <a:prstDash val="solid"/>
          </a:ln>
        </p:spPr>
      </p:sp>
      <p:sp>
        <p:nvSpPr>
          <p:cNvPr id="51" name="Icon speaker speaker cone">
            <a:extLst xmlns:a="http://schemas.openxmlformats.org/drawingml/2006/main">
              <a:ext uri="{FF2B5EF4-FFF2-40B4-BE49-F238E27FC236}">
                <a16:creationId xmlns:a16="http://schemas.microsoft.com/office/drawing/2014/main" id="{24DF387A-AA88-4CD2-BEAF-773A7C7CD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0160000" y="1633361"/>
            <a:ext cx="177800" cy="276578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9878">
            <a:solidFill>
              <a:srgbClr val="C0C0C0"/>
            </a:solidFill>
            <a:prstDash val="solid"/>
          </a:ln>
        </p:spPr>
      </p:sp>
      <p:sp>
        <p:nvSpPr>
          <p:cNvPr id="52" name="Icon speaker sound wave one">
            <a:extLst xmlns:a="http://schemas.openxmlformats.org/drawingml/2006/main">
              <a:ext uri="{FF2B5EF4-FFF2-40B4-BE49-F238E27FC236}">
                <a16:creationId xmlns:a16="http://schemas.microsoft.com/office/drawing/2014/main" id="{14EDC05B-84C9-4189-88CC-740C0B747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367433" y="1702506"/>
            <a:ext cx="29633" cy="2963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53" name="Icon speaker sound wave two">
            <a:extLst xmlns:a="http://schemas.openxmlformats.org/drawingml/2006/main">
              <a:ext uri="{FF2B5EF4-FFF2-40B4-BE49-F238E27FC236}">
                <a16:creationId xmlns:a16="http://schemas.microsoft.com/office/drawing/2014/main" id="{E3728084-35B1-429A-8C1D-EB140D276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406944" y="1751894"/>
            <a:ext cx="29633" cy="2963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54" name="Icon speaker sound wave three">
            <a:extLst xmlns:a="http://schemas.openxmlformats.org/drawingml/2006/main">
              <a:ext uri="{FF2B5EF4-FFF2-40B4-BE49-F238E27FC236}">
                <a16:creationId xmlns:a16="http://schemas.microsoft.com/office/drawing/2014/main" id="{688445D5-81B7-4749-B17C-B0FB08432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367433" y="1801283"/>
            <a:ext cx="29633" cy="2963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55" name="Icon power tile">
            <a:extLst xmlns:a="http://schemas.openxmlformats.org/drawingml/2006/main">
              <a:ext uri="{FF2B5EF4-FFF2-40B4-BE49-F238E27FC236}">
                <a16:creationId xmlns:a16="http://schemas.microsoft.com/office/drawing/2014/main" id="{0FD2FBD4-7217-450C-B8AF-4EB4A5AE0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66875" y="3457575"/>
            <a:ext cx="5334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19756">
            <a:solidFill>
              <a:srgbClr val="C0C0C0"/>
            </a:solidFill>
            <a:prstDash val="solid"/>
          </a:ln>
        </p:spPr>
      </p:sp>
      <p:sp>
        <p:nvSpPr>
          <p:cNvPr id="56" name="Icon power power ring">
            <a:extLst xmlns:a="http://schemas.openxmlformats.org/drawingml/2006/main">
              <a:ext uri="{FF2B5EF4-FFF2-40B4-BE49-F238E27FC236}">
                <a16:creationId xmlns:a16="http://schemas.microsoft.com/office/drawing/2014/main" id="{F07DD3C6-16F2-4CE0-8538-FD2AC7EFE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5408" y="3585986"/>
            <a:ext cx="296333" cy="296333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9633">
            <a:solidFill>
              <a:srgbClr val="C0C0C0"/>
            </a:solidFill>
            <a:prstDash val="solid"/>
          </a:ln>
        </p:spPr>
      </p:sp>
      <p:sp>
        <p:nvSpPr>
          <p:cNvPr id="57" name="Icon power power stem">
            <a:extLst xmlns:a="http://schemas.openxmlformats.org/drawingml/2006/main">
              <a:ext uri="{FF2B5EF4-FFF2-40B4-BE49-F238E27FC236}">
                <a16:creationId xmlns:a16="http://schemas.microsoft.com/office/drawing/2014/main" id="{9C10748D-0F83-4455-AF3B-0C95622FB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13819" y="3526719"/>
            <a:ext cx="39511" cy="20743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58" name="Icon joystick tile">
            <a:extLst xmlns:a="http://schemas.openxmlformats.org/drawingml/2006/main">
              <a:ext uri="{FF2B5EF4-FFF2-40B4-BE49-F238E27FC236}">
                <a16:creationId xmlns:a16="http://schemas.microsoft.com/office/drawing/2014/main" id="{B26026ED-04A4-4F1A-BA6D-D5A994AA7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38650" y="3457575"/>
            <a:ext cx="5334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19756">
            <a:solidFill>
              <a:srgbClr val="C0C0C0"/>
            </a:solidFill>
            <a:prstDash val="solid"/>
          </a:ln>
        </p:spPr>
      </p:sp>
      <p:sp>
        <p:nvSpPr>
          <p:cNvPr id="59" name="Icon joystick base">
            <a:extLst xmlns:a="http://schemas.openxmlformats.org/drawingml/2006/main">
              <a:ext uri="{FF2B5EF4-FFF2-40B4-BE49-F238E27FC236}">
                <a16:creationId xmlns:a16="http://schemas.microsoft.com/office/drawing/2014/main" id="{2AD96467-349E-4DC6-B0CF-D364228D3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37428" y="3773664"/>
            <a:ext cx="335844" cy="1086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9878">
            <a:solidFill>
              <a:srgbClr val="404040"/>
            </a:solidFill>
            <a:prstDash val="solid"/>
          </a:ln>
        </p:spPr>
      </p:sp>
      <p:sp>
        <p:nvSpPr>
          <p:cNvPr id="60" name="Icon joystick stick">
            <a:extLst xmlns:a="http://schemas.openxmlformats.org/drawingml/2006/main">
              <a:ext uri="{FF2B5EF4-FFF2-40B4-BE49-F238E27FC236}">
                <a16:creationId xmlns:a16="http://schemas.microsoft.com/office/drawing/2014/main" id="{D5DE7B1B-797F-4D06-8B48-C7CBC7B62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85594" y="3605742"/>
            <a:ext cx="49389" cy="1876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0">
            <a:solidFill>
              <a:srgbClr val="C0C0C0"/>
            </a:solidFill>
            <a:prstDash val="solid"/>
          </a:ln>
        </p:spPr>
      </p:sp>
      <p:sp>
        <p:nvSpPr>
          <p:cNvPr id="61" name="Icon joystick ball">
            <a:extLst xmlns:a="http://schemas.openxmlformats.org/drawingml/2006/main">
              <a:ext uri="{FF2B5EF4-FFF2-40B4-BE49-F238E27FC236}">
                <a16:creationId xmlns:a16="http://schemas.microsoft.com/office/drawing/2014/main" id="{F45EA2DD-39A1-4217-AC21-99FED01A5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6328" y="3546475"/>
            <a:ext cx="167922" cy="16792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9878">
            <a:solidFill>
              <a:srgbClr val="404040"/>
            </a:solidFill>
            <a:prstDash val="solid"/>
          </a:ln>
        </p:spPr>
      </p:sp>
      <p:sp>
        <p:nvSpPr>
          <p:cNvPr id="62" name="Icon monitor tile">
            <a:extLst xmlns:a="http://schemas.openxmlformats.org/drawingml/2006/main">
              <a:ext uri="{FF2B5EF4-FFF2-40B4-BE49-F238E27FC236}">
                <a16:creationId xmlns:a16="http://schemas.microsoft.com/office/drawing/2014/main" id="{85B62C2F-A640-4184-8C1E-F8AC4EDAB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10425" y="3457575"/>
            <a:ext cx="5334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19756">
            <a:solidFill>
              <a:srgbClr val="C0C0C0"/>
            </a:solidFill>
            <a:prstDash val="solid"/>
          </a:ln>
        </p:spPr>
      </p:sp>
      <p:sp>
        <p:nvSpPr>
          <p:cNvPr id="63" name="Icon monitor screen frame">
            <a:extLst xmlns:a="http://schemas.openxmlformats.org/drawingml/2006/main">
              <a:ext uri="{FF2B5EF4-FFF2-40B4-BE49-F238E27FC236}">
                <a16:creationId xmlns:a16="http://schemas.microsoft.com/office/drawing/2014/main" id="{E9AFBF67-B03F-4CA3-830F-31601C60F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89447" y="3526719"/>
            <a:ext cx="375356" cy="2864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9878">
            <a:solidFill>
              <a:srgbClr val="C0C0C0"/>
            </a:solidFill>
            <a:prstDash val="solid"/>
          </a:ln>
        </p:spPr>
      </p:sp>
      <p:sp>
        <p:nvSpPr>
          <p:cNvPr id="64" name="Icon monitor screen">
            <a:extLst xmlns:a="http://schemas.openxmlformats.org/drawingml/2006/main">
              <a:ext uri="{FF2B5EF4-FFF2-40B4-BE49-F238E27FC236}">
                <a16:creationId xmlns:a16="http://schemas.microsoft.com/office/drawing/2014/main" id="{EB7E387E-BDDD-4774-880C-2F2CCD92C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19081" y="3556353"/>
            <a:ext cx="316089" cy="21731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080"/>
          </a:solidFill>
          <a:ln xmlns:a="http://schemas.openxmlformats.org/drawingml/2006/main" w="9878">
            <a:solidFill>
              <a:srgbClr val="404040"/>
            </a:solidFill>
            <a:prstDash val="solid"/>
          </a:ln>
        </p:spPr>
      </p:sp>
      <p:sp>
        <p:nvSpPr>
          <p:cNvPr id="65" name="Icon monitor screen highlight">
            <a:extLst xmlns:a="http://schemas.openxmlformats.org/drawingml/2006/main">
              <a:ext uri="{FF2B5EF4-FFF2-40B4-BE49-F238E27FC236}">
                <a16:creationId xmlns:a16="http://schemas.microsoft.com/office/drawing/2014/main" id="{20DAE343-D172-490F-9284-5C741C6D6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58592" y="3595864"/>
            <a:ext cx="187678" cy="2963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66" name="Icon monitor screen line">
            <a:extLst xmlns:a="http://schemas.openxmlformats.org/drawingml/2006/main">
              <a:ext uri="{FF2B5EF4-FFF2-40B4-BE49-F238E27FC236}">
                <a16:creationId xmlns:a16="http://schemas.microsoft.com/office/drawing/2014/main" id="{A48616C5-CB09-4853-9C8D-B248497CE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58592" y="3655131"/>
            <a:ext cx="246944" cy="197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7" name="Icon monitor stand">
            <a:extLst xmlns:a="http://schemas.openxmlformats.org/drawingml/2006/main">
              <a:ext uri="{FF2B5EF4-FFF2-40B4-BE49-F238E27FC236}">
                <a16:creationId xmlns:a16="http://schemas.microsoft.com/office/drawing/2014/main" id="{6B74C9C8-56A7-474F-AD92-6864E5017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47492" y="3813175"/>
            <a:ext cx="59267" cy="592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0">
            <a:solidFill>
              <a:srgbClr val="C0C0C0"/>
            </a:solidFill>
            <a:prstDash val="solid"/>
          </a:ln>
        </p:spPr>
      </p:sp>
      <p:sp>
        <p:nvSpPr>
          <p:cNvPr id="68" name="Icon monitor foot">
            <a:extLst xmlns:a="http://schemas.openxmlformats.org/drawingml/2006/main">
              <a:ext uri="{FF2B5EF4-FFF2-40B4-BE49-F238E27FC236}">
                <a16:creationId xmlns:a16="http://schemas.microsoft.com/office/drawing/2014/main" id="{9C0151F1-7F4F-47A2-82DF-F70EC8749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88225" y="3872442"/>
            <a:ext cx="177800" cy="2963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0">
            <a:solidFill>
              <a:srgbClr val="C0C0C0"/>
            </a:solidFill>
            <a:prstDash val="solid"/>
          </a:ln>
        </p:spPr>
      </p:sp>
      <p:sp>
        <p:nvSpPr>
          <p:cNvPr id="69" name="Icon frame tile">
            <a:extLst xmlns:a="http://schemas.openxmlformats.org/drawingml/2006/main">
              <a:ext uri="{FF2B5EF4-FFF2-40B4-BE49-F238E27FC236}">
                <a16:creationId xmlns:a16="http://schemas.microsoft.com/office/drawing/2014/main" id="{D9A7EF31-E66B-4428-87C1-8A6557E17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982200" y="3457575"/>
            <a:ext cx="5334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19756">
            <a:solidFill>
              <a:srgbClr val="C0C0C0"/>
            </a:solidFill>
            <a:prstDash val="solid"/>
          </a:ln>
        </p:spPr>
      </p:sp>
      <p:sp>
        <p:nvSpPr>
          <p:cNvPr id="70" name="Icon frame cabinet">
            <a:extLst xmlns:a="http://schemas.openxmlformats.org/drawingml/2006/main">
              <a:ext uri="{FF2B5EF4-FFF2-40B4-BE49-F238E27FC236}">
                <a16:creationId xmlns:a16="http://schemas.microsoft.com/office/drawing/2014/main" id="{A1A8A6EF-027A-44DE-943E-C9FE7E82F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80978" y="3526719"/>
            <a:ext cx="335844" cy="39511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0">
            <a:solidFill>
              <a:srgbClr val="C0C0C0"/>
            </a:solidFill>
            <a:prstDash val="solid"/>
          </a:ln>
        </p:spPr>
      </p:sp>
      <p:sp>
        <p:nvSpPr>
          <p:cNvPr id="71" name="Icon frame cabinet screen">
            <a:extLst xmlns:a="http://schemas.openxmlformats.org/drawingml/2006/main">
              <a:ext uri="{FF2B5EF4-FFF2-40B4-BE49-F238E27FC236}">
                <a16:creationId xmlns:a16="http://schemas.microsoft.com/office/drawing/2014/main" id="{47311541-4E82-4598-99F1-D5894E744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120489" y="3566231"/>
            <a:ext cx="256822" cy="21731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19756">
            <a:solidFill>
              <a:srgbClr val="404040"/>
            </a:solidFill>
            <a:prstDash val="solid"/>
          </a:ln>
        </p:spPr>
      </p:sp>
      <p:sp>
        <p:nvSpPr>
          <p:cNvPr id="72" name="Icon frame cabinet window">
            <a:extLst xmlns:a="http://schemas.openxmlformats.org/drawingml/2006/main">
              <a:ext uri="{FF2B5EF4-FFF2-40B4-BE49-F238E27FC236}">
                <a16:creationId xmlns:a16="http://schemas.microsoft.com/office/drawing/2014/main" id="{A46B8EB3-4EFE-4C45-8F9C-118485DDF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150122" y="3595864"/>
            <a:ext cx="197556" cy="1481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080"/>
          </a:solidFill>
          <a:ln xmlns:a="http://schemas.openxmlformats.org/drawingml/2006/main" w="0">
            <a:solidFill>
              <a:srgbClr val="008080"/>
            </a:solidFill>
            <a:prstDash val="solid"/>
          </a:ln>
        </p:spPr>
      </p:sp>
      <p:sp>
        <p:nvSpPr>
          <p:cNvPr id="73" name="Icon frame cabinet base">
            <a:extLst xmlns:a="http://schemas.openxmlformats.org/drawingml/2006/main">
              <a:ext uri="{FF2B5EF4-FFF2-40B4-BE49-F238E27FC236}">
                <a16:creationId xmlns:a16="http://schemas.microsoft.com/office/drawing/2014/main" id="{4D08F8F0-09FC-4C40-81D8-8C87D4335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169878" y="3823053"/>
            <a:ext cx="158044" cy="493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4040"/>
          </a:solidFill>
          <a:ln xmlns:a="http://schemas.openxmlformats.org/drawingml/2006/main" w="0">
            <a:solidFill>
              <a:srgbClr val="40404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49630932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0808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2E011578-773E-49E4-ADFF-F99CD28D4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048"/>
            <a:ext cx="11094415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1" spc="20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ROADMAP</a:t>
            </a:r>
            <a:endParaRPr sz="12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0C0BD999-C2D8-429F-A582-A207032A1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31520"/>
            <a:ext cx="11094415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rPr>
              <a:t>What's Ahead</a:t>
            </a:r>
            <a:endParaRPr sz="3000"/>
          </a:p>
        </p:txBody>
      </p:sp>
      <p:sp>
        <p:nvSpPr>
          <p:cNvPr id="6" name="Text 2">
            <a:extLst xmlns:a="http://schemas.openxmlformats.org/drawingml/2006/main">
              <a:ext uri="{FF2B5EF4-FFF2-40B4-BE49-F238E27FC236}">
                <a16:creationId xmlns:a16="http://schemas.microsoft.com/office/drawing/2014/main" id="{44E7F1A1-C726-4867-80C0-A9347EC90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331720"/>
            <a:ext cx="2218883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3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3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3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3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3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3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3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3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3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3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3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01</a:t>
            </a:r>
            <a:endParaRPr sz="1300"/>
          </a:p>
        </p:txBody>
      </p:sp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1D057147-E676-4CD6-8AF4-AE3E41F49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697480"/>
            <a:ext cx="2218883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5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5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5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5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5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5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5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5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5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5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5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The Idea</a:t>
            </a:r>
            <a:endParaRPr sz="1500"/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0AB68F51-5658-4177-AEC8-B5DD6E9B5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08960"/>
            <a:ext cx="1944563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0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0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0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0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0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0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0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0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0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0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0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0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How I got the idea</a:t>
            </a:r>
            <a:endParaRPr sz="1050"/>
          </a:p>
        </p:txBody>
      </p:sp>
      <p:sp>
        <p:nvSpPr>
          <p:cNvPr id="10" name="Text 5">
            <a:extLst xmlns:a="http://schemas.openxmlformats.org/drawingml/2006/main">
              <a:ext uri="{FF2B5EF4-FFF2-40B4-BE49-F238E27FC236}">
                <a16:creationId xmlns:a16="http://schemas.microsoft.com/office/drawing/2014/main" id="{1C2C3446-4A28-41BF-A98B-1D5A4BC68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7523" y="2331720"/>
            <a:ext cx="2218883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3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3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3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3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3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3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3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3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3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3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3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02</a:t>
            </a:r>
            <a:endParaRPr sz="1300"/>
          </a:p>
        </p:txBody>
      </p:sp>
      <p:sp>
        <p:nvSpPr>
          <p:cNvPr id="11" name="Text 6">
            <a:extLst xmlns:a="http://schemas.openxmlformats.org/drawingml/2006/main">
              <a:ext uri="{FF2B5EF4-FFF2-40B4-BE49-F238E27FC236}">
                <a16:creationId xmlns:a16="http://schemas.microsoft.com/office/drawing/2014/main" id="{C9C2ED02-6F47-482A-BA33-4FF7A5F62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7523" y="2697480"/>
            <a:ext cx="2218883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5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5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5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5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5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5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5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5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5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5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5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The Problems</a:t>
            </a:r>
            <a:endParaRPr sz="1500"/>
          </a:p>
        </p:txBody>
      </p:sp>
      <p:sp>
        <p:nvSpPr>
          <p:cNvPr id="12" name="Text 7">
            <a:extLst xmlns:a="http://schemas.openxmlformats.org/drawingml/2006/main">
              <a:ext uri="{FF2B5EF4-FFF2-40B4-BE49-F238E27FC236}">
                <a16:creationId xmlns:a16="http://schemas.microsoft.com/office/drawing/2014/main" id="{A61F7B3B-9047-49ED-B71F-57E151397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4683" y="3108960"/>
            <a:ext cx="1944563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0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0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0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0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0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0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0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0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0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0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0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0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What went wrong along the way</a:t>
            </a:r>
            <a:endParaRPr sz="1050"/>
          </a:p>
        </p:txBody>
      </p:sp>
      <p:sp>
        <p:nvSpPr>
          <p:cNvPr id="14" name="Text 8">
            <a:extLst xmlns:a="http://schemas.openxmlformats.org/drawingml/2006/main">
              <a:ext uri="{FF2B5EF4-FFF2-40B4-BE49-F238E27FC236}">
                <a16:creationId xmlns:a16="http://schemas.microsoft.com/office/drawing/2014/main" id="{F5B038BC-1495-46F8-A223-5BFA3E56F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6406" y="2331720"/>
            <a:ext cx="2218883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3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3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3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3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3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3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3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3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3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3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3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03</a:t>
            </a:r>
            <a:endParaRPr sz="1300"/>
          </a:p>
        </p:txBody>
      </p:sp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5B9D2BE4-22AC-453D-A20C-1EEB5A3DE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6406" y="2697480"/>
            <a:ext cx="2218883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5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5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5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5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5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5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5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5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5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5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5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Solutions</a:t>
            </a:r>
            <a:endParaRPr sz="1500"/>
          </a:p>
        </p:txBody>
      </p:sp>
      <p:sp>
        <p:nvSpPr>
          <p:cNvPr id="16" name="Text 10">
            <a:extLst xmlns:a="http://schemas.openxmlformats.org/drawingml/2006/main">
              <a:ext uri="{FF2B5EF4-FFF2-40B4-BE49-F238E27FC236}">
                <a16:creationId xmlns:a16="http://schemas.microsoft.com/office/drawing/2014/main" id="{F74C2837-4191-4902-AFD0-E1C7EA1EB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3566" y="3108960"/>
            <a:ext cx="1944563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0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0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0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0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0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0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0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0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0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0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0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0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How each problem got fixed</a:t>
            </a:r>
            <a:endParaRPr sz="1050"/>
          </a:p>
        </p:txBody>
      </p:sp>
      <p:sp>
        <p:nvSpPr>
          <p:cNvPr id="18" name="Text 11">
            <a:extLst xmlns:a="http://schemas.openxmlformats.org/drawingml/2006/main">
              <a:ext uri="{FF2B5EF4-FFF2-40B4-BE49-F238E27FC236}">
                <a16:creationId xmlns:a16="http://schemas.microsoft.com/office/drawing/2014/main" id="{B6C4B0D5-B283-4151-A652-1A10EBFDA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5289" y="2331720"/>
            <a:ext cx="2218883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3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3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3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3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3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3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3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3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3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3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3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04</a:t>
            </a:r>
            <a:endParaRPr sz="1300"/>
          </a:p>
        </p:txBody>
      </p:sp>
      <p:sp>
        <p:nvSpPr>
          <p:cNvPr id="19" name="Text 12">
            <a:extLst xmlns:a="http://schemas.openxmlformats.org/drawingml/2006/main">
              <a:ext uri="{FF2B5EF4-FFF2-40B4-BE49-F238E27FC236}">
                <a16:creationId xmlns:a16="http://schemas.microsoft.com/office/drawing/2014/main" id="{41EF4960-4188-4F21-882F-9A786DE1D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5289" y="2697480"/>
            <a:ext cx="2218883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5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5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5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5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5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5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5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5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5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5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5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The Wiring</a:t>
            </a:r>
            <a:endParaRPr sz="1500"/>
          </a:p>
        </p:txBody>
      </p:sp>
      <p:sp>
        <p:nvSpPr>
          <p:cNvPr id="20" name="Text 13">
            <a:extLst xmlns:a="http://schemas.openxmlformats.org/drawingml/2006/main">
              <a:ext uri="{FF2B5EF4-FFF2-40B4-BE49-F238E27FC236}">
                <a16:creationId xmlns:a16="http://schemas.microsoft.com/office/drawing/2014/main" id="{071881B3-E913-43BE-A16C-67E2AB870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2449" y="3108960"/>
            <a:ext cx="1944563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0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0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0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0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0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0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0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0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0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0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0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0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How every part connects</a:t>
            </a:r>
            <a:endParaRPr sz="1050"/>
          </a:p>
        </p:txBody>
      </p:sp>
      <p:sp>
        <p:nvSpPr>
          <p:cNvPr id="22" name="Text 14">
            <a:extLst xmlns:a="http://schemas.openxmlformats.org/drawingml/2006/main">
              <a:ext uri="{FF2B5EF4-FFF2-40B4-BE49-F238E27FC236}">
                <a16:creationId xmlns:a16="http://schemas.microsoft.com/office/drawing/2014/main" id="{D24BBBA1-5585-45DC-B843-5042F2297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4172" y="2331720"/>
            <a:ext cx="2218883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3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3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3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3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3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3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3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3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3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3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3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05</a:t>
            </a:r>
            <a:endParaRPr sz="1300"/>
          </a:p>
        </p:txBody>
      </p:sp>
      <p:sp>
        <p:nvSpPr>
          <p:cNvPr id="23" name="Text 15">
            <a:extLst xmlns:a="http://schemas.openxmlformats.org/drawingml/2006/main">
              <a:ext uri="{FF2B5EF4-FFF2-40B4-BE49-F238E27FC236}">
                <a16:creationId xmlns:a16="http://schemas.microsoft.com/office/drawing/2014/main" id="{B276B233-ACBF-4A9A-A054-56572278C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4172" y="2697480"/>
            <a:ext cx="2218883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5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5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5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5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5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5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5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5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5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5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5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Goals</a:t>
            </a:r>
            <a:endParaRPr sz="1500"/>
          </a:p>
        </p:txBody>
      </p:sp>
      <p:sp>
        <p:nvSpPr>
          <p:cNvPr id="24" name="Text 16">
            <a:extLst xmlns:a="http://schemas.openxmlformats.org/drawingml/2006/main">
              <a:ext uri="{FF2B5EF4-FFF2-40B4-BE49-F238E27FC236}">
                <a16:creationId xmlns:a16="http://schemas.microsoft.com/office/drawing/2014/main" id="{61766932-7D22-4EC1-B420-C2A8B9EB2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1332" y="3108960"/>
            <a:ext cx="1944563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0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0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0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0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0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0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0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0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0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0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0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0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What the project set out to do</a:t>
            </a:r>
            <a:endParaRPr sz="1050"/>
          </a:p>
        </p:txBody>
      </p:sp>
      <p:sp>
        <p:nvSpPr>
          <p:cNvPr id="25" name="Text 17">
            <a:extLst xmlns:a="http://schemas.openxmlformats.org/drawingml/2006/main">
              <a:ext uri="{FF2B5EF4-FFF2-40B4-BE49-F238E27FC236}">
                <a16:creationId xmlns:a16="http://schemas.microsoft.com/office/drawing/2014/main" id="{F4A9335F-E850-4097-A43A-53EBB7FFA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355080"/>
            <a:ext cx="5486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03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74177758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0808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0">
            <a:extLst xmlns:a="http://schemas.openxmlformats.org/drawingml/2006/main">
              <a:ext uri="{FF2B5EF4-FFF2-40B4-BE49-F238E27FC236}">
                <a16:creationId xmlns:a16="http://schemas.microsoft.com/office/drawing/2014/main" id="{EC786B3B-1FB6-4BA5-B13E-8227C6582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63240"/>
            <a:ext cx="12191695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6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6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6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6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6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6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6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6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6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6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6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00" b="1" spc="400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rPr>
              <a:t>SECTION 01</a:t>
            </a:r>
            <a:endParaRPr sz="1600"/>
          </a:p>
        </p:txBody>
      </p:sp>
      <p:sp>
        <p:nvSpPr>
          <p:cNvPr id="5" name="Text 1">
            <a:extLst xmlns:a="http://schemas.openxmlformats.org/drawingml/2006/main">
              <a:ext uri="{FF2B5EF4-FFF2-40B4-BE49-F238E27FC236}">
                <a16:creationId xmlns:a16="http://schemas.microsoft.com/office/drawing/2014/main" id="{D684783D-4A5B-4B71-9AE6-A02507EEC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520440"/>
            <a:ext cx="12191695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4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4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4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4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4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4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4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4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4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4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4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4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THE IDEA</a:t>
            </a:r>
            <a:endParaRPr sz="4000"/>
          </a:p>
        </p:txBody>
      </p:sp>
      <p:sp>
        <p:nvSpPr>
          <p:cNvPr id="6" name="Text 2">
            <a:extLst xmlns:a="http://schemas.openxmlformats.org/drawingml/2006/main">
              <a:ext uri="{FF2B5EF4-FFF2-40B4-BE49-F238E27FC236}">
                <a16:creationId xmlns:a16="http://schemas.microsoft.com/office/drawing/2014/main" id="{3BA34B7C-6FA2-467F-97D2-AB2E6D320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448" y="4343400"/>
            <a:ext cx="6400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4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4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4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4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4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4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4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4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4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4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4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How I got the idea</a:t>
            </a:r>
            <a:endParaRPr sz="1400"/>
          </a:p>
        </p:txBody>
      </p:sp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DB884CA6-821D-490E-BB23-C33338866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355080"/>
            <a:ext cx="5486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04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05580543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0808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23DF395D-4E5E-4BFC-9DB7-C98372F2C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048"/>
            <a:ext cx="11094415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1" spc="20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SECTION 01 · THE IDEA</a:t>
            </a:r>
            <a:endParaRPr sz="12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BA5E764E-B9FA-4B8F-AA2B-3DABCA44A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31520"/>
            <a:ext cx="11094415" cy="4256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rPr>
              <a:t>The Monitor...</a:t>
            </a:r>
            <a:endParaRPr sz="3000"/>
          </a:p>
        </p:txBody>
      </p:sp>
      <p:sp>
        <p:nvSpPr>
          <p:cNvPr id="6" name="Text 2">
            <a:extLst xmlns:a="http://schemas.openxmlformats.org/drawingml/2006/main">
              <a:ext uri="{FF2B5EF4-FFF2-40B4-BE49-F238E27FC236}">
                <a16:creationId xmlns:a16="http://schemas.microsoft.com/office/drawing/2014/main" id="{7832123E-C369-4924-AAC6-460A961B7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194560"/>
            <a:ext cx="6583680" cy="62011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00" b="0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2000" b="0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2000" b="0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2000" b="0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2000" b="0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2000" b="0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2000" b="0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2000" b="0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2000" b="0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2000" b="0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2000" b="0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2000" b="0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I reused an available monitor and built a new TV experience around it, with joystick controls and a retro-style cabinet.</a:t>
            </a:r>
            <a:endParaRPr sz="2000"/>
          </a:p>
        </p:txBody>
      </p:sp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8E07F8D9-7BA4-4987-8C96-E43855485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355080"/>
            <a:ext cx="5486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05</a:t>
            </a:r>
            <a:endParaRPr sz="1000"/>
          </a:p>
        </p:txBody>
      </p:sp>
      <p:sp>
        <p:nvSpPr>
          <p:cNvPr id="8" name="Reuse monitor cabinet">
            <a:extLst xmlns:a="http://schemas.openxmlformats.org/drawingml/2006/main">
              <a:ext uri="{FF2B5EF4-FFF2-40B4-BE49-F238E27FC236}">
                <a16:creationId xmlns:a16="http://schemas.microsoft.com/office/drawing/2014/main" id="{D1BE9C24-D8A4-40FA-A0F3-1F465BC00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53375" y="1762125"/>
            <a:ext cx="2857500" cy="2152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47625">
            <a:solidFill>
              <a:srgbClr val="FFFFFF"/>
            </a:solidFill>
            <a:prstDash val="solid"/>
          </a:ln>
        </p:spPr>
      </p:sp>
      <p:sp>
        <p:nvSpPr>
          <p:cNvPr id="9" name="Reuse monitor screen">
            <a:extLst xmlns:a="http://schemas.openxmlformats.org/drawingml/2006/main">
              <a:ext uri="{FF2B5EF4-FFF2-40B4-BE49-F238E27FC236}">
                <a16:creationId xmlns:a16="http://schemas.microsoft.com/office/drawing/2014/main" id="{E585DC48-8F2F-40EE-B52A-387244529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43875" y="1952625"/>
            <a:ext cx="24765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38100">
            <a:solidFill>
              <a:srgbClr val="404040"/>
            </a:solidFill>
            <a:prstDash val="solid"/>
          </a:ln>
        </p:spPr>
      </p:sp>
      <p:sp>
        <p:nvSpPr>
          <p:cNvPr id="10" name="Reuse screen UI highlight">
            <a:extLst xmlns:a="http://schemas.openxmlformats.org/drawingml/2006/main">
              <a:ext uri="{FF2B5EF4-FFF2-40B4-BE49-F238E27FC236}">
                <a16:creationId xmlns:a16="http://schemas.microsoft.com/office/drawing/2014/main" id="{D18582E2-2BAE-40F6-B1BC-4AB83F536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34375" y="2181225"/>
            <a:ext cx="10001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11" name="Reuse screen UI row">
            <a:extLst xmlns:a="http://schemas.openxmlformats.org/drawingml/2006/main">
              <a:ext uri="{FF2B5EF4-FFF2-40B4-BE49-F238E27FC236}">
                <a16:creationId xmlns:a16="http://schemas.microsoft.com/office/drawing/2014/main" id="{8110E300-F596-4BD4-9ACC-057890197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34375" y="2381250"/>
            <a:ext cx="16764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0">
            <a:solidFill>
              <a:srgbClr val="C0C0C0"/>
            </a:solidFill>
            <a:prstDash val="solid"/>
          </a:ln>
        </p:spPr>
      </p:sp>
      <p:sp>
        <p:nvSpPr>
          <p:cNvPr id="12" name="Reuse screen UI row">
            <a:extLst xmlns:a="http://schemas.openxmlformats.org/drawingml/2006/main">
              <a:ext uri="{FF2B5EF4-FFF2-40B4-BE49-F238E27FC236}">
                <a16:creationId xmlns:a16="http://schemas.microsoft.com/office/drawing/2014/main" id="{1B1CFFB8-705A-4E8F-A695-3DB487DC6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34375" y="2543175"/>
            <a:ext cx="1428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0">
            <a:solidFill>
              <a:srgbClr val="C0C0C0"/>
            </a:solidFill>
            <a:prstDash val="solid"/>
          </a:ln>
        </p:spPr>
      </p:sp>
      <p:sp>
        <p:nvSpPr>
          <p:cNvPr id="13" name="Reuse stand">
            <a:extLst xmlns:a="http://schemas.openxmlformats.org/drawingml/2006/main">
              <a:ext uri="{FF2B5EF4-FFF2-40B4-BE49-F238E27FC236}">
                <a16:creationId xmlns:a16="http://schemas.microsoft.com/office/drawing/2014/main" id="{501126C0-BD3F-495D-BD6F-BDE8CE2F8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182100" y="3914775"/>
            <a:ext cx="4000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0">
            <a:solidFill>
              <a:srgbClr val="C0C0C0"/>
            </a:solidFill>
            <a:prstDash val="solid"/>
          </a:ln>
        </p:spPr>
      </p:sp>
      <p:sp>
        <p:nvSpPr>
          <p:cNvPr id="14" name="Reuse base">
            <a:extLst xmlns:a="http://schemas.openxmlformats.org/drawingml/2006/main">
              <a:ext uri="{FF2B5EF4-FFF2-40B4-BE49-F238E27FC236}">
                <a16:creationId xmlns:a16="http://schemas.microsoft.com/office/drawing/2014/main" id="{DC0DC8B3-CE8A-40EB-83D9-D8C084A3F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67775" y="4038600"/>
            <a:ext cx="10287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0">
            <a:solidFill>
              <a:srgbClr val="C0C0C0"/>
            </a:solidFill>
            <a:prstDash val="solid"/>
          </a:ln>
        </p:spPr>
      </p:sp>
      <p:sp>
        <p:nvSpPr>
          <p:cNvPr id="15" name="Reuse dial 1">
            <a:extLst xmlns:a="http://schemas.openxmlformats.org/drawingml/2006/main">
              <a:ext uri="{FF2B5EF4-FFF2-40B4-BE49-F238E27FC236}">
                <a16:creationId xmlns:a16="http://schemas.microsoft.com/office/drawing/2014/main" id="{947D1DB3-4A1F-4E09-BD4B-135155CA8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6480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19050">
            <a:solidFill>
              <a:srgbClr val="404040"/>
            </a:solidFill>
            <a:prstDash val="solid"/>
          </a:ln>
        </p:spPr>
      </p:sp>
      <p:sp>
        <p:nvSpPr>
          <p:cNvPr id="16" name="Reuse dial 2">
            <a:extLst xmlns:a="http://schemas.openxmlformats.org/drawingml/2006/main">
              <a:ext uri="{FF2B5EF4-FFF2-40B4-BE49-F238E27FC236}">
                <a16:creationId xmlns:a16="http://schemas.microsoft.com/office/drawing/2014/main" id="{EF06AFAE-1BFB-4EEC-871C-28B6DEE57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6480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19050">
            <a:solidFill>
              <a:srgbClr val="40404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75129481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0808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0">
            <a:extLst xmlns:a="http://schemas.openxmlformats.org/drawingml/2006/main">
              <a:ext uri="{FF2B5EF4-FFF2-40B4-BE49-F238E27FC236}">
                <a16:creationId xmlns:a16="http://schemas.microsoft.com/office/drawing/2014/main" id="{264A121E-9D38-4DE4-AA2A-1C4AE64BB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63240"/>
            <a:ext cx="12191695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6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6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6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6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6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6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6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6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6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6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6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00" b="1" spc="400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rPr>
              <a:t>SECTION 02</a:t>
            </a:r>
            <a:endParaRPr sz="1600"/>
          </a:p>
        </p:txBody>
      </p:sp>
      <p:sp>
        <p:nvSpPr>
          <p:cNvPr id="5" name="Text 1">
            <a:extLst xmlns:a="http://schemas.openxmlformats.org/drawingml/2006/main">
              <a:ext uri="{FF2B5EF4-FFF2-40B4-BE49-F238E27FC236}">
                <a16:creationId xmlns:a16="http://schemas.microsoft.com/office/drawing/2014/main" id="{745DE8F2-1C93-41C6-855F-19B296E63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520440"/>
            <a:ext cx="12191695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4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4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4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4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4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4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4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4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4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4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4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4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THE PROBLEMS</a:t>
            </a:r>
            <a:endParaRPr sz="4000"/>
          </a:p>
        </p:txBody>
      </p:sp>
      <p:sp>
        <p:nvSpPr>
          <p:cNvPr id="6" name="Text 2">
            <a:extLst xmlns:a="http://schemas.openxmlformats.org/drawingml/2006/main">
              <a:ext uri="{FF2B5EF4-FFF2-40B4-BE49-F238E27FC236}">
                <a16:creationId xmlns:a16="http://schemas.microsoft.com/office/drawing/2014/main" id="{1865A292-DBB3-4DB1-A896-3EF4ED87D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448" y="4343400"/>
            <a:ext cx="6400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4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4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4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4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4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4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4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4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4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4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4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What went wrong along the way</a:t>
            </a:r>
            <a:endParaRPr sz="1400"/>
          </a:p>
        </p:txBody>
      </p:sp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FE71A588-9233-43CB-B29A-58C94489D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355080"/>
            <a:ext cx="5486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06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32924549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0808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B5D92F15-8C59-40D2-8E28-82AEC5BCC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048"/>
            <a:ext cx="11094415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1" spc="20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SECTION 02 · THE PROBLEMS</a:t>
            </a:r>
            <a:endParaRPr sz="12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5B4271E6-FD3A-4F6A-8BC9-58E98DACE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31520"/>
            <a:ext cx="11094415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rPr>
              <a:t>Challenges Along the Way</a:t>
            </a:r>
            <a:endParaRPr sz="3000"/>
          </a:p>
        </p:txBody>
      </p:sp>
      <p:sp>
        <p:nvSpPr>
          <p:cNvPr id="6" name="Text 2">
            <a:extLst xmlns:a="http://schemas.openxmlformats.org/drawingml/2006/main">
              <a:ext uri="{FF2B5EF4-FFF2-40B4-BE49-F238E27FC236}">
                <a16:creationId xmlns:a16="http://schemas.microsoft.com/office/drawing/2014/main" id="{C9393B08-D24C-4062-AC82-3C8AA32CA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691640"/>
            <a:ext cx="53035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TIME TO FIX</a:t>
            </a:r>
            <a:endParaRPr sz="1400"/>
          </a:p>
        </p:txBody>
      </p:sp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6B4D94AE-9DA4-4359-9A9A-65433C1DB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286000"/>
            <a:ext cx="5303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12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12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12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12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12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12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12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12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12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12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Under a day</a:t>
            </a:r>
            <a:endParaRPr sz="1200"/>
          </a:p>
        </p:txBody>
      </p:sp>
      <p:sp>
        <p:nvSpPr>
          <p:cNvPr id="8" name="Shape 4">
            <a:extLst xmlns:a="http://schemas.openxmlformats.org/drawingml/2006/main">
              <a:ext uri="{FF2B5EF4-FFF2-40B4-BE49-F238E27FC236}">
                <a16:creationId xmlns:a16="http://schemas.microsoft.com/office/drawing/2014/main" id="{C1605107-8977-4ED1-BFDF-4A80FF835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578608"/>
            <a:ext cx="5303520" cy="146304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80"/>
          </a:solidFill>
        </p:spPr>
      </p:sp>
      <p:sp>
        <p:nvSpPr>
          <p:cNvPr id="9" name="Shape 5">
            <a:extLst xmlns:a="http://schemas.openxmlformats.org/drawingml/2006/main">
              <a:ext uri="{FF2B5EF4-FFF2-40B4-BE49-F238E27FC236}">
                <a16:creationId xmlns:a16="http://schemas.microsoft.com/office/drawing/2014/main" id="{13B6D217-7EAF-4545-A8CF-1A280C4DA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578608"/>
            <a:ext cx="1856232" cy="146304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00"/>
          </a:solidFill>
        </p:spPr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B9BA4F98-34DE-4EC8-8431-8B3BD2D23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3063240"/>
            <a:ext cx="5303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12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12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12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12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12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12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12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12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12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12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Multiple days</a:t>
            </a:r>
            <a:endParaRPr sz="1200"/>
          </a:p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A5F3B7B9-6B63-4B3B-9C82-5BC6BD7EA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3355848"/>
            <a:ext cx="5303520" cy="146304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80"/>
          </a:solidFill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64EC5CAE-49B1-4409-B19E-DCB90CE08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3355848"/>
            <a:ext cx="3977640" cy="146304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00"/>
          </a:solidFill>
        </p:spPr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0A2FFDF2-3630-4CCA-B5E1-1071E3F53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355080"/>
            <a:ext cx="5486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07</a:t>
            </a:r>
            <a:endParaRPr sz="1000"/>
          </a:p>
        </p:txBody>
      </p:sp>
      <p:sp>
        <p:nvSpPr>
          <p:cNvPr id="14" name="TV chart panel">
            <a:extLst xmlns:a="http://schemas.openxmlformats.org/drawingml/2006/main">
              <a:ext uri="{FF2B5EF4-FFF2-40B4-BE49-F238E27FC236}">
                <a16:creationId xmlns:a16="http://schemas.microsoft.com/office/drawing/2014/main" id="{59BA5B4A-BE0D-42C4-AA93-CDBCB06E2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00200"/>
            <a:ext cx="5212080" cy="2926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19050">
            <a:solidFill>
              <a:srgbClr val="C0C0C0"/>
            </a:solidFill>
            <a:prstDash val="solid"/>
          </a:ln>
        </p:spPr>
      </p:sp>
      <p:sp>
        <p:nvSpPr>
          <p:cNvPr id="15" name="TV chart title bar">
            <a:extLst xmlns:a="http://schemas.openxmlformats.org/drawingml/2006/main">
              <a:ext uri="{FF2B5EF4-FFF2-40B4-BE49-F238E27FC236}">
                <a16:creationId xmlns:a16="http://schemas.microsoft.com/office/drawing/2014/main" id="{B6368EF0-14BB-4DF7-8F54-5755CDD09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00200"/>
            <a:ext cx="521208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19050">
            <a:solidFill>
              <a:srgbClr val="C0C0C0"/>
            </a:solidFill>
            <a:prstDash val="solid"/>
          </a:ln>
        </p:spPr>
      </p:sp>
      <p:sp>
        <p:nvSpPr>
          <p:cNvPr id="16" name="TV chart title">
            <a:extLst xmlns:a="http://schemas.openxmlformats.org/drawingml/2006/main">
              <a:ext uri="{FF2B5EF4-FFF2-40B4-BE49-F238E27FC236}">
                <a16:creationId xmlns:a16="http://schemas.microsoft.com/office/drawing/2014/main" id="{1BB2202B-55B8-481A-B25B-88158516C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493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350" b="1">
                <a:solidFill>
                  <a:srgbClr val="000080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350" b="1">
                <a:solidFill>
                  <a:srgbClr val="000080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350" b="1">
                <a:solidFill>
                  <a:srgbClr val="000080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350" b="1">
                <a:solidFill>
                  <a:srgbClr val="000080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350" b="1">
                <a:solidFill>
                  <a:srgbClr val="000080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350" b="1">
                <a:solidFill>
                  <a:srgbClr val="000080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350" b="1">
                <a:solidFill>
                  <a:srgbClr val="000080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350" b="1">
                <a:solidFill>
                  <a:srgbClr val="000080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350" b="1">
                <a:solidFill>
                  <a:srgbClr val="000080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350" b="1">
                <a:solidFill>
                  <a:srgbClr val="000080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algn="ctr">
              <a:buNone/>
              <a:defRPr sz="1350" b="1">
                <a:solidFill>
                  <a:srgbClr val="00008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1">
                <a:solidFill>
                  <a:srgbClr val="000080"/>
                </a:solidFill>
                <a:latin typeface="DejaVu Sans Mono"/>
                <a:ea typeface="DejaVu Sans Mono"/>
                <a:cs typeface="DejaVu Sans Mono"/>
              </a:rPr>
              <a:t>SOFTWARE VS HARDWARE</a:t>
            </a:r>
          </a:p>
        </p:txBody>
      </p:sp>
      <p:sp>
        <p:nvSpPr>
          <p:cNvPr id="17" name="Hardware label">
            <a:extLst xmlns:a="http://schemas.openxmlformats.org/drawingml/2006/main">
              <a:ext uri="{FF2B5EF4-FFF2-40B4-BE49-F238E27FC236}">
                <a16:creationId xmlns:a16="http://schemas.microsoft.com/office/drawing/2014/main" id="{135C244D-3912-47C4-837F-AD034B8DC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3362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1125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1125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1125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1125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1125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1125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1125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1125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1125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HARDWARE</a:t>
            </a:r>
          </a:p>
        </p:txBody>
      </p:sp>
      <p:sp>
        <p:nvSpPr>
          <p:cNvPr id="18" name="Hardware track">
            <a:extLst xmlns:a="http://schemas.openxmlformats.org/drawingml/2006/main">
              <a:ext uri="{FF2B5EF4-FFF2-40B4-BE49-F238E27FC236}">
                <a16:creationId xmlns:a16="http://schemas.microsoft.com/office/drawing/2014/main" id="{5840B6E3-0F02-4E7C-8860-C6EF00B1E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2352675"/>
            <a:ext cx="285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19050">
            <a:solidFill>
              <a:srgbClr val="C0C0C0"/>
            </a:solidFill>
            <a:prstDash val="solid"/>
          </a:ln>
        </p:spPr>
      </p:sp>
      <p:sp>
        <p:nvSpPr>
          <p:cNvPr id="19" name="Hardware 40 percent">
            <a:extLst xmlns:a="http://schemas.openxmlformats.org/drawingml/2006/main">
              <a:ext uri="{FF2B5EF4-FFF2-40B4-BE49-F238E27FC236}">
                <a16:creationId xmlns:a16="http://schemas.microsoft.com/office/drawing/2014/main" id="{13CB10B7-0444-4F28-B7FE-D4844A53F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2352675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19050">
            <a:solidFill>
              <a:srgbClr val="FFFF00"/>
            </a:solidFill>
            <a:prstDash val="solid"/>
          </a:ln>
        </p:spPr>
      </p:sp>
      <p:sp>
        <p:nvSpPr>
          <p:cNvPr id="20" name="Hardware value">
            <a:extLst xmlns:a="http://schemas.openxmlformats.org/drawingml/2006/main">
              <a:ext uri="{FF2B5EF4-FFF2-40B4-BE49-F238E27FC236}">
                <a16:creationId xmlns:a16="http://schemas.microsoft.com/office/drawing/2014/main" id="{94D6BB52-EF9F-4664-8A8E-06FA1D22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333625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12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12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12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12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12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12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12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12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12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rPr>
              <a:t>40%</a:t>
            </a:r>
          </a:p>
        </p:txBody>
      </p:sp>
      <p:sp>
        <p:nvSpPr>
          <p:cNvPr id="21" name="Software label">
            <a:extLst xmlns:a="http://schemas.openxmlformats.org/drawingml/2006/main">
              <a:ext uri="{FF2B5EF4-FFF2-40B4-BE49-F238E27FC236}">
                <a16:creationId xmlns:a16="http://schemas.microsoft.com/office/drawing/2014/main" id="{0FB9C3D4-67CB-4BE4-A0D0-68513AF5C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8612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1125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1125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1125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1125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1125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1125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1125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1125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1125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25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SOFTWARE</a:t>
            </a:r>
          </a:p>
        </p:txBody>
      </p:sp>
      <p:sp>
        <p:nvSpPr>
          <p:cNvPr id="22" name="Software track">
            <a:extLst xmlns:a="http://schemas.openxmlformats.org/drawingml/2006/main">
              <a:ext uri="{FF2B5EF4-FFF2-40B4-BE49-F238E27FC236}">
                <a16:creationId xmlns:a16="http://schemas.microsoft.com/office/drawing/2014/main" id="{FF27DDF9-5EFB-469E-977D-1AA97516B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3305175"/>
            <a:ext cx="285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19050">
            <a:solidFill>
              <a:srgbClr val="C0C0C0"/>
            </a:solidFill>
            <a:prstDash val="solid"/>
          </a:ln>
        </p:spPr>
      </p:sp>
      <p:sp>
        <p:nvSpPr>
          <p:cNvPr id="23" name="Software 60 percent">
            <a:extLst xmlns:a="http://schemas.openxmlformats.org/drawingml/2006/main">
              <a:ext uri="{FF2B5EF4-FFF2-40B4-BE49-F238E27FC236}">
                <a16:creationId xmlns:a16="http://schemas.microsoft.com/office/drawing/2014/main" id="{EE00C356-C039-43AB-B07E-7603C2650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3305175"/>
            <a:ext cx="171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19050">
            <a:solidFill>
              <a:srgbClr val="FFFF00"/>
            </a:solidFill>
            <a:prstDash val="solid"/>
          </a:ln>
        </p:spPr>
      </p:sp>
      <p:sp>
        <p:nvSpPr>
          <p:cNvPr id="24" name="Software value">
            <a:extLst xmlns:a="http://schemas.openxmlformats.org/drawingml/2006/main">
              <a:ext uri="{FF2B5EF4-FFF2-40B4-BE49-F238E27FC236}">
                <a16:creationId xmlns:a16="http://schemas.microsoft.com/office/drawing/2014/main" id="{7D245875-A734-492B-A7F9-61796643B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286125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12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12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12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12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12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12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12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12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12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rPr>
              <a:t>60%</a:t>
            </a:r>
          </a:p>
        </p:txBody>
      </p:sp>
    </p:spTree>
    <p:extLst>
      <p:ext uri="{BB962C8B-B14F-4D97-AF65-F5344CB8AC3E}">
        <p14:creationId xmlns:p14="http://schemas.microsoft.com/office/powerpoint/2010/main" val="174217305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0808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0B9F545E-60C9-4904-A781-F8E727047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048"/>
            <a:ext cx="11094415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1" spc="20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SECTION 02 · THE PROBLEMS</a:t>
            </a:r>
            <a:endParaRPr sz="12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4AB70A6C-B111-4E91-909F-9E4CA1CF5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31520"/>
            <a:ext cx="11094415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rPr>
              <a:t>Challenges That Took Work</a:t>
            </a:r>
            <a:endParaRPr sz="3000"/>
          </a:p>
        </p:txBody>
      </p:sp>
      <p:sp>
        <p:nvSpPr>
          <p:cNvPr id="6" name="Text 2">
            <a:extLst xmlns:a="http://schemas.openxmlformats.org/drawingml/2006/main">
              <a:ext uri="{FF2B5EF4-FFF2-40B4-BE49-F238E27FC236}">
                <a16:creationId xmlns:a16="http://schemas.microsoft.com/office/drawing/2014/main" id="{DC25D5B8-A4FB-4D5F-B15D-39073A74B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468880"/>
            <a:ext cx="351525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3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3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3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3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3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3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3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3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3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3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3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3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INPUT</a:t>
            </a:r>
            <a:endParaRPr sz="3000"/>
          </a:p>
        </p:txBody>
      </p:sp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3F1DBF96-6E09-49ED-8001-0FAE9A5B1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063240"/>
            <a:ext cx="3515258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2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2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2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2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2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2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2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2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2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2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2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Making joystick navigation reliable on the Raspberry Pi</a:t>
            </a:r>
            <a:endParaRPr sz="1200"/>
          </a:p>
        </p:txBody>
      </p:sp>
      <p:sp>
        <p:nvSpPr>
          <p:cNvPr id="9" name="Text 4">
            <a:extLst xmlns:a="http://schemas.openxmlformats.org/drawingml/2006/main">
              <a:ext uri="{FF2B5EF4-FFF2-40B4-BE49-F238E27FC236}">
                <a16:creationId xmlns:a16="http://schemas.microsoft.com/office/drawing/2014/main" id="{2EC87B6F-FCB0-4356-AD69-0B20FB7BD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8218" y="2468880"/>
            <a:ext cx="351525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3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3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3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3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3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3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3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3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3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3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3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3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AUDIO</a:t>
            </a:r>
            <a:endParaRPr sz="3000"/>
          </a:p>
        </p:txBody>
      </p:sp>
      <p:sp>
        <p:nvSpPr>
          <p:cNvPr id="10" name="Text 5">
            <a:extLst xmlns:a="http://schemas.openxmlformats.org/drawingml/2006/main">
              <a:ext uri="{FF2B5EF4-FFF2-40B4-BE49-F238E27FC236}">
                <a16:creationId xmlns:a16="http://schemas.microsoft.com/office/drawing/2014/main" id="{6D4A8DB2-4E99-4298-BA6E-367CE9B4E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8218" y="3063240"/>
            <a:ext cx="3515258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2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2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2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2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2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2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2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2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2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2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2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Routing sound to the right output and linking the knob to system volume</a:t>
            </a:r>
            <a:endParaRPr sz="1200"/>
          </a:p>
        </p:txBody>
      </p:sp>
      <p:sp>
        <p:nvSpPr>
          <p:cNvPr id="12" name="Text 6">
            <a:extLst xmlns:a="http://schemas.openxmlformats.org/drawingml/2006/main">
              <a:ext uri="{FF2B5EF4-FFF2-40B4-BE49-F238E27FC236}">
                <a16:creationId xmlns:a16="http://schemas.microsoft.com/office/drawing/2014/main" id="{CCE58136-4D70-4B7D-A1F9-A533F9145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7797" y="2468880"/>
            <a:ext cx="351525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3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3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3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3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3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3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3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3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3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3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3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3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DISPLAY</a:t>
            </a:r>
            <a:endParaRPr sz="3000"/>
          </a:p>
        </p:txBody>
      </p:sp>
      <p:sp>
        <p:nvSpPr>
          <p:cNvPr id="13" name="Text 7">
            <a:extLst xmlns:a="http://schemas.openxmlformats.org/drawingml/2006/main">
              <a:ext uri="{FF2B5EF4-FFF2-40B4-BE49-F238E27FC236}">
                <a16:creationId xmlns:a16="http://schemas.microsoft.com/office/drawing/2014/main" id="{1BB9FD70-9D78-43ED-8753-E2249AC6D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7797" y="3063240"/>
            <a:ext cx="3515258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2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2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2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2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2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2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2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2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2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2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2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Moving from the old laptop-panel setup to a 22-inch HDMI monitor</a:t>
            </a:r>
            <a:endParaRPr sz="1200"/>
          </a:p>
        </p:txBody>
      </p:sp>
      <p:sp>
        <p:nvSpPr>
          <p:cNvPr id="14" name="Text 8">
            <a:extLst xmlns:a="http://schemas.openxmlformats.org/drawingml/2006/main">
              <a:ext uri="{FF2B5EF4-FFF2-40B4-BE49-F238E27FC236}">
                <a16:creationId xmlns:a16="http://schemas.microsoft.com/office/drawing/2014/main" id="{99954A27-A3EC-4B9A-909E-7264CAFA2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355080"/>
            <a:ext cx="5486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08</a:t>
            </a:r>
            <a:endParaRPr sz="1000"/>
          </a:p>
        </p:txBody>
      </p:sp>
      <p:sp>
        <p:nvSpPr>
          <p:cNvPr id="15" name="Icon joystick tile">
            <a:extLst xmlns:a="http://schemas.openxmlformats.org/drawingml/2006/main">
              <a:ext uri="{FF2B5EF4-FFF2-40B4-BE49-F238E27FC236}">
                <a16:creationId xmlns:a16="http://schemas.microsoft.com/office/drawing/2014/main" id="{D39E497A-99B6-4EEF-9EB6-151E295C5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09750" y="1685925"/>
            <a:ext cx="5143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19050">
            <a:solidFill>
              <a:srgbClr val="C0C0C0"/>
            </a:solidFill>
            <a:prstDash val="solid"/>
          </a:ln>
        </p:spPr>
      </p:sp>
      <p:sp>
        <p:nvSpPr>
          <p:cNvPr id="16" name="Icon joystick base">
            <a:extLst xmlns:a="http://schemas.openxmlformats.org/drawingml/2006/main">
              <a:ext uri="{FF2B5EF4-FFF2-40B4-BE49-F238E27FC236}">
                <a16:creationId xmlns:a16="http://schemas.microsoft.com/office/drawing/2014/main" id="{775DD3F1-596C-4D53-B637-6E872BA85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05000" y="1990725"/>
            <a:ext cx="32385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9525">
            <a:solidFill>
              <a:srgbClr val="404040"/>
            </a:solidFill>
            <a:prstDash val="solid"/>
          </a:ln>
        </p:spPr>
      </p:sp>
      <p:sp>
        <p:nvSpPr>
          <p:cNvPr id="17" name="Icon joystick stick">
            <a:extLst xmlns:a="http://schemas.openxmlformats.org/drawingml/2006/main">
              <a:ext uri="{FF2B5EF4-FFF2-40B4-BE49-F238E27FC236}">
                <a16:creationId xmlns:a16="http://schemas.microsoft.com/office/drawing/2014/main" id="{E9EB6FEE-F371-451C-8CAE-C8C53A3E0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47875" y="1828800"/>
            <a:ext cx="47625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0">
            <a:solidFill>
              <a:srgbClr val="C0C0C0"/>
            </a:solidFill>
            <a:prstDash val="solid"/>
          </a:ln>
        </p:spPr>
      </p:sp>
      <p:sp>
        <p:nvSpPr>
          <p:cNvPr id="18" name="Icon joystick ball">
            <a:extLst xmlns:a="http://schemas.openxmlformats.org/drawingml/2006/main">
              <a:ext uri="{FF2B5EF4-FFF2-40B4-BE49-F238E27FC236}">
                <a16:creationId xmlns:a16="http://schemas.microsoft.com/office/drawing/2014/main" id="{D8F946AA-870A-4F53-B0E0-91DD5749F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771650"/>
            <a:ext cx="161925" cy="1619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9525">
            <a:solidFill>
              <a:srgbClr val="404040"/>
            </a:solidFill>
            <a:prstDash val="solid"/>
          </a:ln>
        </p:spPr>
      </p:sp>
      <p:sp>
        <p:nvSpPr>
          <p:cNvPr id="19" name="Icon speaker tile">
            <a:extLst xmlns:a="http://schemas.openxmlformats.org/drawingml/2006/main">
              <a:ext uri="{FF2B5EF4-FFF2-40B4-BE49-F238E27FC236}">
                <a16:creationId xmlns:a16="http://schemas.microsoft.com/office/drawing/2014/main" id="{A1F31990-61F2-45DA-B91B-2AA270261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00700" y="1685925"/>
            <a:ext cx="5143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19050">
            <a:solidFill>
              <a:srgbClr val="C0C0C0"/>
            </a:solidFill>
            <a:prstDash val="solid"/>
          </a:ln>
        </p:spPr>
      </p:sp>
      <p:sp>
        <p:nvSpPr>
          <p:cNvPr id="20" name="Icon speaker speaker body">
            <a:extLst xmlns:a="http://schemas.openxmlformats.org/drawingml/2006/main">
              <a:ext uri="{FF2B5EF4-FFF2-40B4-BE49-F238E27FC236}">
                <a16:creationId xmlns:a16="http://schemas.microsoft.com/office/drawing/2014/main" id="{576FF9A2-4B88-4DC7-A5B9-B4308FB23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76900" y="1876425"/>
            <a:ext cx="1143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0">
            <a:solidFill>
              <a:srgbClr val="C0C0C0"/>
            </a:solidFill>
            <a:prstDash val="solid"/>
          </a:ln>
        </p:spPr>
      </p:sp>
      <p:sp>
        <p:nvSpPr>
          <p:cNvPr id="21" name="Icon speaker speaker cone">
            <a:extLst xmlns:a="http://schemas.openxmlformats.org/drawingml/2006/main">
              <a:ext uri="{FF2B5EF4-FFF2-40B4-BE49-F238E27FC236}">
                <a16:creationId xmlns:a16="http://schemas.microsoft.com/office/drawing/2014/main" id="{50317170-516D-4951-8372-410018962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772150" y="1809750"/>
            <a:ext cx="171450" cy="2667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9525">
            <a:solidFill>
              <a:srgbClr val="C0C0C0"/>
            </a:solidFill>
            <a:prstDash val="solid"/>
          </a:ln>
        </p:spPr>
      </p:sp>
      <p:sp>
        <p:nvSpPr>
          <p:cNvPr id="22" name="Icon speaker sound wave one">
            <a:extLst xmlns:a="http://schemas.openxmlformats.org/drawingml/2006/main">
              <a:ext uri="{FF2B5EF4-FFF2-40B4-BE49-F238E27FC236}">
                <a16:creationId xmlns:a16="http://schemas.microsoft.com/office/drawing/2014/main" id="{7B4A7678-9415-42D3-8625-8E0FBDB0C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72175" y="1876425"/>
            <a:ext cx="285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23" name="Icon speaker sound wave two">
            <a:extLst xmlns:a="http://schemas.openxmlformats.org/drawingml/2006/main">
              <a:ext uri="{FF2B5EF4-FFF2-40B4-BE49-F238E27FC236}">
                <a16:creationId xmlns:a16="http://schemas.microsoft.com/office/drawing/2014/main" id="{54B04C93-BB57-40E3-9968-815CCD066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10275" y="1924050"/>
            <a:ext cx="285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24" name="Icon speaker sound wave three">
            <a:extLst xmlns:a="http://schemas.openxmlformats.org/drawingml/2006/main">
              <a:ext uri="{FF2B5EF4-FFF2-40B4-BE49-F238E27FC236}">
                <a16:creationId xmlns:a16="http://schemas.microsoft.com/office/drawing/2014/main" id="{EB9972F7-AFDE-4C35-B251-4154A0D70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72175" y="1971675"/>
            <a:ext cx="285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25" name="Icon display tile">
            <a:extLst xmlns:a="http://schemas.openxmlformats.org/drawingml/2006/main">
              <a:ext uri="{FF2B5EF4-FFF2-40B4-BE49-F238E27FC236}">
                <a16:creationId xmlns:a16="http://schemas.microsoft.com/office/drawing/2014/main" id="{49212CD7-421B-4CD1-AE45-6B5C0188E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382125" y="1685925"/>
            <a:ext cx="5143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19050">
            <a:solidFill>
              <a:srgbClr val="C0C0C0"/>
            </a:solidFill>
            <a:prstDash val="solid"/>
          </a:ln>
        </p:spPr>
      </p:sp>
      <p:sp>
        <p:nvSpPr>
          <p:cNvPr id="26" name="Icon display screen frame">
            <a:extLst xmlns:a="http://schemas.openxmlformats.org/drawingml/2006/main">
              <a:ext uri="{FF2B5EF4-FFF2-40B4-BE49-F238E27FC236}">
                <a16:creationId xmlns:a16="http://schemas.microsoft.com/office/drawing/2014/main" id="{E60AAA03-0F09-4B6C-A970-00062348C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458325" y="1752600"/>
            <a:ext cx="36195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9525">
            <a:solidFill>
              <a:srgbClr val="C0C0C0"/>
            </a:solidFill>
            <a:prstDash val="solid"/>
          </a:ln>
        </p:spPr>
      </p:sp>
      <p:sp>
        <p:nvSpPr>
          <p:cNvPr id="27" name="Icon display screen">
            <a:extLst xmlns:a="http://schemas.openxmlformats.org/drawingml/2006/main">
              <a:ext uri="{FF2B5EF4-FFF2-40B4-BE49-F238E27FC236}">
                <a16:creationId xmlns:a16="http://schemas.microsoft.com/office/drawing/2014/main" id="{653E71AF-708B-41FC-BFB4-82C759DFE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486900" y="1781175"/>
            <a:ext cx="304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080"/>
          </a:solidFill>
          <a:ln xmlns:a="http://schemas.openxmlformats.org/drawingml/2006/main" w="9525">
            <a:solidFill>
              <a:srgbClr val="404040"/>
            </a:solidFill>
            <a:prstDash val="solid"/>
          </a:ln>
        </p:spPr>
      </p:sp>
      <p:sp>
        <p:nvSpPr>
          <p:cNvPr id="28" name="Icon display screen highlight">
            <a:extLst xmlns:a="http://schemas.openxmlformats.org/drawingml/2006/main">
              <a:ext uri="{FF2B5EF4-FFF2-40B4-BE49-F238E27FC236}">
                <a16:creationId xmlns:a16="http://schemas.microsoft.com/office/drawing/2014/main" id="{88C7F9ED-62FF-4A2B-B514-C7727C0BF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25000" y="1819275"/>
            <a:ext cx="1809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29" name="Icon display screen line">
            <a:extLst xmlns:a="http://schemas.openxmlformats.org/drawingml/2006/main">
              <a:ext uri="{FF2B5EF4-FFF2-40B4-BE49-F238E27FC236}">
                <a16:creationId xmlns:a16="http://schemas.microsoft.com/office/drawing/2014/main" id="{751E36D6-53B0-4F73-B84C-02F2387BD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25000" y="1876425"/>
            <a:ext cx="2381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30" name="Icon display stand">
            <a:extLst xmlns:a="http://schemas.openxmlformats.org/drawingml/2006/main">
              <a:ext uri="{FF2B5EF4-FFF2-40B4-BE49-F238E27FC236}">
                <a16:creationId xmlns:a16="http://schemas.microsoft.com/office/drawing/2014/main" id="{9AA8373A-2239-4ACB-B1F9-3B98BBA6E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10725" y="20288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0">
            <a:solidFill>
              <a:srgbClr val="C0C0C0"/>
            </a:solidFill>
            <a:prstDash val="solid"/>
          </a:ln>
        </p:spPr>
      </p:sp>
      <p:sp>
        <p:nvSpPr>
          <p:cNvPr id="31" name="Icon display foot">
            <a:extLst xmlns:a="http://schemas.openxmlformats.org/drawingml/2006/main">
              <a:ext uri="{FF2B5EF4-FFF2-40B4-BE49-F238E27FC236}">
                <a16:creationId xmlns:a16="http://schemas.microsoft.com/office/drawing/2014/main" id="{2DE18346-9FB5-4D05-830F-30F82116C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53575" y="2085975"/>
            <a:ext cx="171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0">
            <a:solidFill>
              <a:srgbClr val="C0C0C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66671375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0808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2AB6F4AC-CA08-45F9-97EE-77BC8B981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048"/>
            <a:ext cx="11094415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1" spc="20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SECTION 02 · THE PROBLEMS</a:t>
            </a:r>
            <a:endParaRPr sz="12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A63BDB23-322B-4109-B351-58D467B2E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31520"/>
            <a:ext cx="11094415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rPr>
              <a:t>Component Issues</a:t>
            </a:r>
            <a:endParaRPr sz="3000"/>
          </a:p>
        </p:txBody>
      </p:sp>
      <p:graphicFrame>
        <p:nvGraphicFramePr>
          <p:cNvPr id="10" name="Table 0">
            <a:extLst xmlns:a="http://schemas.openxmlformats.org/drawingml/2006/main">
              <a:ext uri="{FF2B5EF4-FFF2-40B4-BE49-F238E27FC236}">
                <a16:creationId xmlns:a16="http://schemas.microsoft.com/office/drawing/2014/main" id="{02C0EB0B-0799-4C3D-80E5-091F37FA1ADC}"/>
              </a:ext>
            </a:extLst>
          </p:cNvPr>
          <p:cNvGraphicFramePr/>
          <p:nvPr/>
        </p:nvGraphicFramePr>
        <p:xfrm>
          <a:off xmlns:a="http://schemas.openxmlformats.org/drawingml/2006/main" x="548640" y="1524000"/>
          <a:ext xmlns:a="http://schemas.openxmlformats.org/drawingml/2006/main" cx="11094415" cy="4206240"/>
        </p:xfrm>
        <a:graphic xmlns:a="http://schemas.openxmlformats.org/drawingml/2006/main"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550213"/>
                <a:gridCol w="7544202"/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25" b="1">
                          <a:solidFill>
                            <a:srgbClr val="000080"/>
                          </a:solidFill>
                          <a:latin typeface="DejaVu Sans Mono"/>
                          <a:ea typeface="DejaVu Sans Mono"/>
                          <a:cs typeface="DejaVu Sans Mono"/>
                        </a:rPr>
                        <a:t>COMPONENT</a:t>
                      </a:r>
                      <a:endParaRPr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12700" cmpd="sng">
                      <a:solidFill>
                        <a:srgbClr val="332E27"/>
                      </a:solidFill>
                      <a:prstDash val="solid"/>
                    </a:lnL>
                    <a:lnR w="12700" cmpd="sng">
                      <a:solidFill>
                        <a:srgbClr val="332E27"/>
                      </a:solidFill>
                      <a:prstDash val="solid"/>
                    </a:lnR>
                    <a:lnT w="12700" cmpd="sng">
                      <a:solidFill>
                        <a:srgbClr val="332E27"/>
                      </a:solidFill>
                      <a:prstDash val="solid"/>
                    </a:lnT>
                    <a:lnB w="12700" cmpd="sng">
                      <a:solidFill>
                        <a:srgbClr val="332E27"/>
                      </a:solidFill>
                      <a:prstDash val="soli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25" b="1">
                          <a:solidFill>
                            <a:srgbClr val="000080"/>
                          </a:solidFill>
                          <a:latin typeface="DejaVu Sans Mono"/>
                          <a:ea typeface="DejaVu Sans Mono"/>
                          <a:cs typeface="DejaVu Sans Mono"/>
                        </a:rPr>
                        <a:t>ISSUE</a:t>
                      </a:r>
                      <a:endParaRPr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12700" cmpd="sng">
                      <a:solidFill>
                        <a:srgbClr val="332E27"/>
                      </a:solidFill>
                      <a:prstDash val="solid"/>
                    </a:lnL>
                    <a:lnR w="12700" cmpd="sng">
                      <a:solidFill>
                        <a:srgbClr val="332E27"/>
                      </a:solidFill>
                      <a:prstDash val="solid"/>
                    </a:lnR>
                    <a:lnT w="12700" cmpd="sng">
                      <a:solidFill>
                        <a:srgbClr val="332E27"/>
                      </a:solidFill>
                      <a:prstDash val="solid"/>
                    </a:lnT>
                    <a:lnB w="12700" cmpd="sng">
                      <a:solidFill>
                        <a:srgbClr val="332E27"/>
                      </a:solidFill>
                      <a:prstDash val="solid"/>
                    </a:lnB>
                    <a:solidFill>
                      <a:srgbClr val="C0C0C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DejaVu Sans Mono"/>
                          <a:ea typeface="DejaVu Sans Mono"/>
                          <a:cs typeface="DejaVu Sans Mono"/>
                        </a:rPr>
                        <a:t>Audio routing</a:t>
                      </a:r>
                      <a:endParaRPr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12700" cmpd="sng">
                      <a:solidFill>
                        <a:srgbClr val="332E27"/>
                      </a:solidFill>
                      <a:prstDash val="solid"/>
                    </a:lnL>
                    <a:lnR w="12700" cmpd="sng">
                      <a:solidFill>
                        <a:srgbClr val="332E27"/>
                      </a:solidFill>
                      <a:prstDash val="solid"/>
                    </a:lnR>
                    <a:lnT w="12700" cmpd="sng">
                      <a:solidFill>
                        <a:srgbClr val="332E27"/>
                      </a:solidFill>
                      <a:prstDash val="solid"/>
                    </a:lnT>
                    <a:lnB w="12700" cmpd="sng">
                      <a:solidFill>
                        <a:srgbClr val="332E27"/>
                      </a:solidFill>
                      <a:prstDash val="solid"/>
                    </a:lnB>
                    <a:solidFill>
                      <a:srgbClr val="00008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DejaVu Sans Mono"/>
                          <a:ea typeface="DejaVu Sans Mono"/>
                          <a:cs typeface="DejaVu Sans Mono"/>
                        </a:rPr>
                        <a:t>Audio initially went to the wrong output</a:t>
                      </a:r>
                      <a:endParaRPr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12700" cmpd="sng">
                      <a:solidFill>
                        <a:srgbClr val="332E27"/>
                      </a:solidFill>
                      <a:prstDash val="solid"/>
                    </a:lnL>
                    <a:lnR w="12700" cmpd="sng">
                      <a:solidFill>
                        <a:srgbClr val="332E27"/>
                      </a:solidFill>
                      <a:prstDash val="solid"/>
                    </a:lnR>
                    <a:lnT w="12700" cmpd="sng">
                      <a:solidFill>
                        <a:srgbClr val="332E27"/>
                      </a:solidFill>
                      <a:prstDash val="solid"/>
                    </a:lnT>
                    <a:lnB w="12700" cmpd="sng">
                      <a:solidFill>
                        <a:srgbClr val="332E27"/>
                      </a:solidFill>
                      <a:prstDash val="solid"/>
                    </a:lnB>
                    <a:solidFill>
                      <a:srgbClr val="00008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DejaVu Sans Mono"/>
                          <a:ea typeface="DejaVu Sans Mono"/>
                          <a:cs typeface="DejaVu Sans Mono"/>
                        </a:rPr>
                        <a:t>Original Pi</a:t>
                      </a:r>
                      <a:endParaRPr sz="1300">
                        <a:solidFill>
                          <a:srgbClr val="F1E8D5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12700" cmpd="sng">
                      <a:solidFill>
                        <a:srgbClr val="332E27"/>
                      </a:solidFill>
                      <a:prstDash val="solid"/>
                    </a:lnL>
                    <a:lnR w="12700" cmpd="sng">
                      <a:solidFill>
                        <a:srgbClr val="332E27"/>
                      </a:solidFill>
                      <a:prstDash val="solid"/>
                    </a:lnR>
                    <a:lnT w="12700" cmpd="sng">
                      <a:solidFill>
                        <a:srgbClr val="332E27"/>
                      </a:solidFill>
                      <a:prstDash val="solid"/>
                    </a:lnT>
                    <a:lnB w="12700" cmpd="sng">
                      <a:solidFill>
                        <a:srgbClr val="332E27"/>
                      </a:solidFill>
                      <a:prstDash val="solid"/>
                    </a:lnB>
                    <a:solidFill>
                      <a:srgbClr val="00008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DejaVu Sans Mono"/>
                          <a:ea typeface="DejaVu Sans Mono"/>
                          <a:cs typeface="DejaVu Sans Mono"/>
                        </a:rPr>
                        <a:t>Failed to boot; replaced with a Pi 4</a:t>
                      </a:r>
                      <a:endParaRPr sz="1300">
                        <a:solidFill>
                          <a:srgbClr val="F1E8D5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12700" cmpd="sng">
                      <a:solidFill>
                        <a:srgbClr val="332E27"/>
                      </a:solidFill>
                      <a:prstDash val="solid"/>
                    </a:lnL>
                    <a:lnR w="12700" cmpd="sng">
                      <a:solidFill>
                        <a:srgbClr val="332E27"/>
                      </a:solidFill>
                      <a:prstDash val="solid"/>
                    </a:lnR>
                    <a:lnT w="12700" cmpd="sng">
                      <a:solidFill>
                        <a:srgbClr val="332E27"/>
                      </a:solidFill>
                      <a:prstDash val="solid"/>
                    </a:lnT>
                    <a:lnB w="12700" cmpd="sng">
                      <a:solidFill>
                        <a:srgbClr val="332E27"/>
                      </a:solidFill>
                      <a:prstDash val="solid"/>
                    </a:lnB>
                    <a:solidFill>
                      <a:srgbClr val="00008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DejaVu Sans Mono"/>
                          <a:ea typeface="DejaVu Sans Mono"/>
                          <a:cs typeface="DejaVu Sans Mono"/>
                        </a:rPr>
                        <a:t>Display setup</a:t>
                      </a:r>
                      <a:endParaRPr sz="1300">
                        <a:solidFill>
                          <a:srgbClr val="F1E8D5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12700" cmpd="sng">
                      <a:solidFill>
                        <a:srgbClr val="332E27"/>
                      </a:solidFill>
                      <a:prstDash val="solid"/>
                    </a:lnL>
                    <a:lnR w="12700" cmpd="sng">
                      <a:solidFill>
                        <a:srgbClr val="332E27"/>
                      </a:solidFill>
                      <a:prstDash val="solid"/>
                    </a:lnR>
                    <a:lnT w="12700" cmpd="sng">
                      <a:solidFill>
                        <a:srgbClr val="332E27"/>
                      </a:solidFill>
                      <a:prstDash val="solid"/>
                    </a:lnT>
                    <a:lnB w="12700" cmpd="sng">
                      <a:solidFill>
                        <a:srgbClr val="332E27"/>
                      </a:solidFill>
                      <a:prstDash val="solid"/>
                    </a:lnB>
                    <a:solidFill>
                      <a:srgbClr val="00008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DejaVu Sans Mono"/>
                          <a:ea typeface="DejaVu Sans Mono"/>
                          <a:cs typeface="DejaVu Sans Mono"/>
                        </a:rPr>
                        <a:t>Current build uses direct HDMI</a:t>
                      </a:r>
                      <a:endParaRPr sz="1300">
                        <a:solidFill>
                          <a:srgbClr val="F1E8D5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12700" cmpd="sng">
                      <a:solidFill>
                        <a:srgbClr val="332E27"/>
                      </a:solidFill>
                      <a:prstDash val="solid"/>
                    </a:lnL>
                    <a:lnR w="12700" cmpd="sng">
                      <a:solidFill>
                        <a:srgbClr val="332E27"/>
                      </a:solidFill>
                      <a:prstDash val="solid"/>
                    </a:lnR>
                    <a:lnT w="12700" cmpd="sng">
                      <a:solidFill>
                        <a:srgbClr val="332E27"/>
                      </a:solidFill>
                      <a:prstDash val="solid"/>
                    </a:lnT>
                    <a:lnB w="12700" cmpd="sng">
                      <a:solidFill>
                        <a:srgbClr val="332E27"/>
                      </a:solidFill>
                      <a:prstDash val="solid"/>
                    </a:lnB>
                    <a:solidFill>
                      <a:srgbClr val="00008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DejaVu Sans Mono"/>
                          <a:ea typeface="DejaVu Sans Mono"/>
                          <a:cs typeface="DejaVu Sans Mono"/>
                        </a:rPr>
                        <a:t>Cabinet frame</a:t>
                      </a:r>
                      <a:endParaRPr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12700" cmpd="sng">
                      <a:solidFill>
                        <a:srgbClr val="332E27"/>
                      </a:solidFill>
                      <a:prstDash val="solid"/>
                    </a:lnL>
                    <a:lnR w="12700" cmpd="sng">
                      <a:solidFill>
                        <a:srgbClr val="332E27"/>
                      </a:solidFill>
                      <a:prstDash val="solid"/>
                    </a:lnR>
                    <a:lnT w="12700" cmpd="sng">
                      <a:solidFill>
                        <a:srgbClr val="332E27"/>
                      </a:solidFill>
                      <a:prstDash val="solid"/>
                    </a:lnT>
                    <a:lnB w="12700" cmpd="sng">
                      <a:solidFill>
                        <a:srgbClr val="332E27"/>
                      </a:solidFill>
                      <a:prstDash val="solid"/>
                    </a:lnB>
                    <a:solidFill>
                      <a:srgbClr val="00008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DejaVu Sans Mono"/>
                          <a:ea typeface="DejaVu Sans Mono"/>
                          <a:cs typeface="DejaVu Sans Mono"/>
                        </a:rPr>
                        <a:t>Frame is complete and reported good</a:t>
                      </a:r>
                      <a:endParaRPr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12700" cmpd="sng">
                      <a:solidFill>
                        <a:srgbClr val="332E27"/>
                      </a:solidFill>
                      <a:prstDash val="solid"/>
                    </a:lnL>
                    <a:lnR w="12700" cmpd="sng">
                      <a:solidFill>
                        <a:srgbClr val="332E27"/>
                      </a:solidFill>
                      <a:prstDash val="solid"/>
                    </a:lnR>
                    <a:lnT w="12700" cmpd="sng">
                      <a:solidFill>
                        <a:srgbClr val="332E27"/>
                      </a:solidFill>
                      <a:prstDash val="solid"/>
                    </a:lnT>
                    <a:lnB w="12700" cmpd="sng">
                      <a:solidFill>
                        <a:srgbClr val="332E27"/>
                      </a:solidFill>
                      <a:prstDash val="solid"/>
                    </a:lnB>
                    <a:solidFill>
                      <a:srgbClr val="00008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DejaVu Sans Mono"/>
                          <a:ea typeface="DejaVu Sans Mono"/>
                          <a:cs typeface="DejaVu Sans Mono"/>
                        </a:rPr>
                        <a:t>Monitor choice</a:t>
                      </a:r>
                      <a:endParaRPr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12700" cmpd="sng">
                      <a:solidFill>
                        <a:srgbClr val="332E27"/>
                      </a:solidFill>
                      <a:prstDash val="solid"/>
                    </a:lnL>
                    <a:lnR w="12700" cmpd="sng">
                      <a:solidFill>
                        <a:srgbClr val="332E27"/>
                      </a:solidFill>
                      <a:prstDash val="solid"/>
                    </a:lnR>
                    <a:lnT w="12700" cmpd="sng">
                      <a:solidFill>
                        <a:srgbClr val="332E27"/>
                      </a:solidFill>
                      <a:prstDash val="solid"/>
                    </a:lnT>
                    <a:lnB w="12700" cmpd="sng">
                      <a:solidFill>
                        <a:srgbClr val="332E27"/>
                      </a:solidFill>
                      <a:prstDash val="solid"/>
                    </a:lnB>
                    <a:solidFill>
                      <a:srgbClr val="00008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DejaVu Sans Mono"/>
                          <a:ea typeface="DejaVu Sans Mono"/>
                          <a:cs typeface="DejaVu Sans Mono"/>
                        </a:rPr>
                        <a:t>Changed to a 22-inch HDMI monitor</a:t>
                      </a:r>
                      <a:endParaRPr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12700" cmpd="sng">
                      <a:solidFill>
                        <a:srgbClr val="332E27"/>
                      </a:solidFill>
                      <a:prstDash val="solid"/>
                    </a:lnL>
                    <a:lnR w="12700" cmpd="sng">
                      <a:solidFill>
                        <a:srgbClr val="332E27"/>
                      </a:solidFill>
                      <a:prstDash val="solid"/>
                    </a:lnR>
                    <a:lnT w="12700" cmpd="sng">
                      <a:solidFill>
                        <a:srgbClr val="332E27"/>
                      </a:solidFill>
                      <a:prstDash val="solid"/>
                    </a:lnT>
                    <a:lnB w="12700" cmpd="sng">
                      <a:solidFill>
                        <a:srgbClr val="332E27"/>
                      </a:solidFill>
                      <a:prstDash val="solid"/>
                    </a:lnB>
                    <a:solidFill>
                      <a:srgbClr val="00008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DejaVu Sans Mono"/>
                          <a:ea typeface="DejaVu Sans Mono"/>
                          <a:cs typeface="DejaVu Sans Mono"/>
                        </a:rPr>
                        <a:t>Desktop key handling</a:t>
                      </a:r>
                      <a:endParaRPr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12700" cmpd="sng">
                      <a:solidFill>
                        <a:srgbClr val="332E27"/>
                      </a:solidFill>
                      <a:prstDash val="solid"/>
                    </a:lnL>
                    <a:lnR w="12700" cmpd="sng">
                      <a:solidFill>
                        <a:srgbClr val="332E27"/>
                      </a:solidFill>
                      <a:prstDash val="solid"/>
                    </a:lnR>
                    <a:lnT w="12700" cmpd="sng">
                      <a:solidFill>
                        <a:srgbClr val="332E27"/>
                      </a:solidFill>
                      <a:prstDash val="solid"/>
                    </a:lnT>
                    <a:lnB w="12700" cmpd="sng">
                      <a:solidFill>
                        <a:srgbClr val="332E27"/>
                      </a:solidFill>
                      <a:prstDash val="solid"/>
                    </a:lnB>
                    <a:solidFill>
                      <a:srgbClr val="00008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DejaVu Sans Mono"/>
                          <a:ea typeface="DejaVu Sans Mono"/>
                          <a:cs typeface="DejaVu Sans Mono"/>
                        </a:rPr>
                        <a:t>Desktop key handling needed a reliable fix</a:t>
                      </a:r>
                      <a:endParaRPr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12700" cmpd="sng">
                      <a:solidFill>
                        <a:srgbClr val="332E27"/>
                      </a:solidFill>
                      <a:prstDash val="solid"/>
                    </a:lnL>
                    <a:lnR w="12700" cmpd="sng">
                      <a:solidFill>
                        <a:srgbClr val="332E27"/>
                      </a:solidFill>
                      <a:prstDash val="solid"/>
                    </a:lnR>
                    <a:lnT w="12700" cmpd="sng">
                      <a:solidFill>
                        <a:srgbClr val="332E27"/>
                      </a:solidFill>
                      <a:prstDash val="solid"/>
                    </a:lnT>
                    <a:lnB w="12700" cmpd="sng">
                      <a:solidFill>
                        <a:srgbClr val="332E27"/>
                      </a:solidFill>
                      <a:prstDash val="solid"/>
                    </a:lnB>
                    <a:solidFill>
                      <a:srgbClr val="000080"/>
                    </a:solidFill>
                  </a:tcPr>
                </a:tc>
              </a:tr>
            </a:tbl>
          </a:graphicData>
        </a:graphic>
      </p:graphicFrame>
      <p:sp>
        <p:nvSpPr>
          <p:cNvPr id="6" name="Text 2">
            <a:extLst xmlns:a="http://schemas.openxmlformats.org/drawingml/2006/main">
              <a:ext uri="{FF2B5EF4-FFF2-40B4-BE49-F238E27FC236}">
                <a16:creationId xmlns:a16="http://schemas.microsoft.com/office/drawing/2014/main" id="{825DB178-0009-4E55-99AD-1BD5F7C16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355080"/>
            <a:ext cx="5486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09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40330194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0808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619B0858-F361-4C40-B7C9-BE2A27957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048"/>
            <a:ext cx="11094415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1" spc="20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SECTION 02 · THE PROBLEMS</a:t>
            </a:r>
            <a:endParaRPr sz="12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936AAD0D-DB1D-46AA-8CA8-3AA8F9AEF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31520"/>
            <a:ext cx="11094415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rPr>
              <a:t>Problems That Shaped the Build</a:t>
            </a:r>
            <a:endParaRPr sz="3000"/>
          </a:p>
        </p:txBody>
      </p:sp>
      <p:sp>
        <p:nvSpPr>
          <p:cNvPr id="6" name="Text 2">
            <a:extLst xmlns:a="http://schemas.openxmlformats.org/drawingml/2006/main">
              <a:ext uri="{FF2B5EF4-FFF2-40B4-BE49-F238E27FC236}">
                <a16:creationId xmlns:a16="http://schemas.microsoft.com/office/drawing/2014/main" id="{7B4C404E-EE21-412B-B05D-CB5F30A33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2728" y="1645920"/>
            <a:ext cx="4660240" cy="20153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Audio routing</a:t>
            </a:r>
            <a:endParaRPr sz="1400" b="1">
              <a:solidFill>
                <a:srgbClr val="F1E8D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D94DB4C2-C1F6-456C-9329-F6736ADD7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2728" y="1965960"/>
            <a:ext cx="4660240" cy="1705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Playback initially used the wrong output</a:t>
            </a:r>
            <a:endParaRPr sz="1100"/>
          </a:p>
        </p:txBody>
      </p:sp>
      <p:sp>
        <p:nvSpPr>
          <p:cNvPr id="9" name="Text 4">
            <a:extLst xmlns:a="http://schemas.openxmlformats.org/drawingml/2006/main">
              <a:ext uri="{FF2B5EF4-FFF2-40B4-BE49-F238E27FC236}">
                <a16:creationId xmlns:a16="http://schemas.microsoft.com/office/drawing/2014/main" id="{1CDB2F58-F624-4009-BE1B-4A0193D44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2816" y="1645920"/>
            <a:ext cx="4660240" cy="20153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Original Pi</a:t>
            </a:r>
            <a:endParaRPr sz="1400" b="1">
              <a:solidFill>
                <a:srgbClr val="F1E8D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" name="Text 5">
            <a:extLst xmlns:a="http://schemas.openxmlformats.org/drawingml/2006/main">
              <a:ext uri="{FF2B5EF4-FFF2-40B4-BE49-F238E27FC236}">
                <a16:creationId xmlns:a16="http://schemas.microsoft.com/office/drawing/2014/main" id="{1AAC1344-681C-4EF9-8A62-99F6AB9DB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2816" y="1965960"/>
            <a:ext cx="4660240" cy="341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Failed to boot; replaced with a Pi 4</a:t>
            </a:r>
            <a:endParaRPr sz="1100">
              <a:solidFill>
                <a:srgbClr val="B7AC98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indent="0">
              <a:buNone/>
            </a:pPr>
            <a:endParaRPr sz="1100">
              <a:solidFill>
                <a:srgbClr val="B7AC98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2" name="Text 6">
            <a:extLst xmlns:a="http://schemas.openxmlformats.org/drawingml/2006/main">
              <a:ext uri="{FF2B5EF4-FFF2-40B4-BE49-F238E27FC236}">
                <a16:creationId xmlns:a16="http://schemas.microsoft.com/office/drawing/2014/main" id="{8EE70307-AE7C-4E87-939C-9793F39B8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2728" y="3749040"/>
            <a:ext cx="4660240" cy="20153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Display setup</a:t>
            </a:r>
            <a:endParaRPr sz="1400" b="1">
              <a:solidFill>
                <a:srgbClr val="F1E8D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Text 7">
            <a:extLst xmlns:a="http://schemas.openxmlformats.org/drawingml/2006/main">
              <a:ext uri="{FF2B5EF4-FFF2-40B4-BE49-F238E27FC236}">
                <a16:creationId xmlns:a16="http://schemas.microsoft.com/office/drawing/2014/main" id="{0311567F-BCDB-48A6-8C39-E01ACEC6B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2728" y="4069080"/>
            <a:ext cx="4660240" cy="1705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The current 22-inch monitor connects by HDMI</a:t>
            </a:r>
            <a:endParaRPr sz="1100">
              <a:solidFill>
                <a:srgbClr val="B7AC98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373ACCA8-9992-4765-B88D-03EDF9ED6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355080"/>
            <a:ext cx="5486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10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33778556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0808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0">
            <a:extLst xmlns:a="http://schemas.openxmlformats.org/drawingml/2006/main">
              <a:ext uri="{FF2B5EF4-FFF2-40B4-BE49-F238E27FC236}">
                <a16:creationId xmlns:a16="http://schemas.microsoft.com/office/drawing/2014/main" id="{BD01F9BE-C122-4FF7-85F2-C5B19C270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63240"/>
            <a:ext cx="12191695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6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6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6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6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6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6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6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6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6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6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6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00" b="1" spc="400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rPr>
              <a:t>SECTION 03</a:t>
            </a:r>
            <a:endParaRPr sz="1600"/>
          </a:p>
        </p:txBody>
      </p:sp>
      <p:sp>
        <p:nvSpPr>
          <p:cNvPr id="5" name="Text 1">
            <a:extLst xmlns:a="http://schemas.openxmlformats.org/drawingml/2006/main">
              <a:ext uri="{FF2B5EF4-FFF2-40B4-BE49-F238E27FC236}">
                <a16:creationId xmlns:a16="http://schemas.microsoft.com/office/drawing/2014/main" id="{49B825BE-6357-443C-B735-3E6675B4C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520440"/>
            <a:ext cx="12191695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4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4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4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4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4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4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4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4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4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4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4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4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SOLUTIONS</a:t>
            </a:r>
            <a:endParaRPr sz="4000"/>
          </a:p>
        </p:txBody>
      </p:sp>
      <p:sp>
        <p:nvSpPr>
          <p:cNvPr id="6" name="Text 2">
            <a:extLst xmlns:a="http://schemas.openxmlformats.org/drawingml/2006/main">
              <a:ext uri="{FF2B5EF4-FFF2-40B4-BE49-F238E27FC236}">
                <a16:creationId xmlns:a16="http://schemas.microsoft.com/office/drawing/2014/main" id="{D3DAAC64-B696-49F0-8AC4-4F97B6D76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448" y="4343400"/>
            <a:ext cx="6400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4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4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4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4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4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4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4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4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4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4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4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How each problem got fixed</a:t>
            </a:r>
            <a:endParaRPr sz="1400"/>
          </a:p>
        </p:txBody>
      </p:sp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409FE604-3998-4344-8D5A-5A9035AA3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355080"/>
            <a:ext cx="5486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11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81386233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0808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BA6AB628-46CF-4790-8617-06219D644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048"/>
            <a:ext cx="11094415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1" spc="20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SECTION 03 · SOLUTIONS</a:t>
            </a:r>
            <a:endParaRPr sz="12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D1257152-FE43-463A-B46D-289642DD2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31520"/>
            <a:ext cx="11094415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rPr>
              <a:t>How I Fixed Them</a:t>
            </a:r>
            <a:endParaRPr sz="3000"/>
          </a:p>
        </p:txBody>
      </p:sp>
      <p:sp>
        <p:nvSpPr>
          <p:cNvPr id="6" name="Text 2">
            <a:extLst xmlns:a="http://schemas.openxmlformats.org/drawingml/2006/main">
              <a:ext uri="{FF2B5EF4-FFF2-40B4-BE49-F238E27FC236}">
                <a16:creationId xmlns:a16="http://schemas.microsoft.com/office/drawing/2014/main" id="{B2AF1AAC-A4B5-4A7C-943F-21C490A1C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368296"/>
            <a:ext cx="3515258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System Volume</a:t>
            </a:r>
            <a:endParaRPr sz="1450"/>
          </a:p>
        </p:txBody>
      </p:sp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D9FF7C75-8B22-4A35-9A43-FDDF09B4A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843784"/>
            <a:ext cx="3515258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The knob changes system volume with wpctl; the OSD shows speaker percentage and mute.</a:t>
            </a:r>
            <a:endParaRPr sz="1150"/>
          </a:p>
        </p:txBody>
      </p:sp>
      <p:sp>
        <p:nvSpPr>
          <p:cNvPr id="9" name="Text 4">
            <a:extLst xmlns:a="http://schemas.openxmlformats.org/drawingml/2006/main">
              <a:ext uri="{FF2B5EF4-FFF2-40B4-BE49-F238E27FC236}">
                <a16:creationId xmlns:a16="http://schemas.microsoft.com/office/drawing/2014/main" id="{A13579F7-2547-4130-BA8A-5ABC38EAB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8218" y="2368296"/>
            <a:ext cx="3515258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Audio Output</a:t>
            </a:r>
            <a:endParaRPr sz="1450"/>
          </a:p>
        </p:txBody>
      </p:sp>
      <p:sp>
        <p:nvSpPr>
          <p:cNvPr id="10" name="Text 5">
            <a:extLst xmlns:a="http://schemas.openxmlformats.org/drawingml/2006/main">
              <a:ext uri="{FF2B5EF4-FFF2-40B4-BE49-F238E27FC236}">
                <a16:creationId xmlns:a16="http://schemas.microsoft.com/office/drawing/2014/main" id="{8C05A53E-F0F1-4A25-88EE-ECDAF49E5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8218" y="2843784"/>
            <a:ext cx="3515258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mpv uses PipeWire and follows the Pi’s selected audio output.</a:t>
            </a:r>
            <a:endParaRPr sz="1150"/>
          </a:p>
        </p:txBody>
      </p:sp>
      <p:sp>
        <p:nvSpPr>
          <p:cNvPr id="12" name="Text 6">
            <a:extLst xmlns:a="http://schemas.openxmlformats.org/drawingml/2006/main">
              <a:ext uri="{FF2B5EF4-FFF2-40B4-BE49-F238E27FC236}">
                <a16:creationId xmlns:a16="http://schemas.microsoft.com/office/drawing/2014/main" id="{D34A4B19-FBFF-488F-A29F-82CB2E627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7797" y="2368296"/>
            <a:ext cx="3515258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Key Detection</a:t>
            </a:r>
            <a:endParaRPr sz="1450"/>
          </a:p>
        </p:txBody>
      </p:sp>
      <p:sp>
        <p:nvSpPr>
          <p:cNvPr id="13" name="Text 7">
            <a:extLst xmlns:a="http://schemas.openxmlformats.org/drawingml/2006/main">
              <a:ext uri="{FF2B5EF4-FFF2-40B4-BE49-F238E27FC236}">
                <a16:creationId xmlns:a16="http://schemas.microsoft.com/office/drawing/2014/main" id="{95F65EE5-3CE5-4B16-A4B6-C3822CD99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7797" y="2843784"/>
            <a:ext cx="3515258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Matches the joystick’s hardware keycode so TV-app controls respond reliably.</a:t>
            </a:r>
            <a:endParaRPr sz="1150"/>
          </a:p>
        </p:txBody>
      </p:sp>
      <p:sp>
        <p:nvSpPr>
          <p:cNvPr id="14" name="Text 8">
            <a:extLst xmlns:a="http://schemas.openxmlformats.org/drawingml/2006/main">
              <a:ext uri="{FF2B5EF4-FFF2-40B4-BE49-F238E27FC236}">
                <a16:creationId xmlns:a16="http://schemas.microsoft.com/office/drawing/2014/main" id="{BF57BA06-F6EA-4E59-9736-679CF05FC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355080"/>
            <a:ext cx="5486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12</a:t>
            </a:r>
            <a:endParaRPr sz="1000"/>
          </a:p>
        </p:txBody>
      </p:sp>
      <p:sp>
        <p:nvSpPr>
          <p:cNvPr id="15" name="Icon knob tile">
            <a:extLst xmlns:a="http://schemas.openxmlformats.org/drawingml/2006/main">
              <a:ext uri="{FF2B5EF4-FFF2-40B4-BE49-F238E27FC236}">
                <a16:creationId xmlns:a16="http://schemas.microsoft.com/office/drawing/2014/main" id="{B344233D-01D8-4EBD-8F28-132D00B8A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09750" y="1581150"/>
            <a:ext cx="5143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19050">
            <a:solidFill>
              <a:srgbClr val="C0C0C0"/>
            </a:solidFill>
            <a:prstDash val="solid"/>
          </a:ln>
        </p:spPr>
      </p:sp>
      <p:sp>
        <p:nvSpPr>
          <p:cNvPr id="16" name="Icon knob dial">
            <a:extLst xmlns:a="http://schemas.openxmlformats.org/drawingml/2006/main">
              <a:ext uri="{FF2B5EF4-FFF2-40B4-BE49-F238E27FC236}">
                <a16:creationId xmlns:a16="http://schemas.microsoft.com/office/drawing/2014/main" id="{ACA0B96D-E77F-47B0-BDC2-D41D85E67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16764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9525">
            <a:solidFill>
              <a:srgbClr val="C0C0C0"/>
            </a:solidFill>
            <a:prstDash val="solid"/>
          </a:ln>
        </p:spPr>
      </p:sp>
      <p:sp>
        <p:nvSpPr>
          <p:cNvPr id="17" name="Icon knob dial center">
            <a:extLst xmlns:a="http://schemas.openxmlformats.org/drawingml/2006/main">
              <a:ext uri="{FF2B5EF4-FFF2-40B4-BE49-F238E27FC236}">
                <a16:creationId xmlns:a16="http://schemas.microsoft.com/office/drawing/2014/main" id="{DDBD758D-5334-4460-8212-98A73474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173355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9525">
            <a:solidFill>
              <a:srgbClr val="404040"/>
            </a:solidFill>
            <a:prstDash val="solid"/>
          </a:ln>
        </p:spPr>
      </p:sp>
      <p:sp>
        <p:nvSpPr>
          <p:cNvPr id="18" name="Icon knob pointer">
            <a:extLst xmlns:a="http://schemas.openxmlformats.org/drawingml/2006/main">
              <a:ext uri="{FF2B5EF4-FFF2-40B4-BE49-F238E27FC236}">
                <a16:creationId xmlns:a16="http://schemas.microsoft.com/office/drawing/2014/main" id="{79B74F64-E695-44D5-A445-18C40D5F5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57400" y="1685925"/>
            <a:ext cx="28575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19" name="Icon speaker tile">
            <a:extLst xmlns:a="http://schemas.openxmlformats.org/drawingml/2006/main">
              <a:ext uri="{FF2B5EF4-FFF2-40B4-BE49-F238E27FC236}">
                <a16:creationId xmlns:a16="http://schemas.microsoft.com/office/drawing/2014/main" id="{D97A757C-1FA6-40C9-992B-D2C3534BE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00700" y="1581150"/>
            <a:ext cx="5143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19050">
            <a:solidFill>
              <a:srgbClr val="C0C0C0"/>
            </a:solidFill>
            <a:prstDash val="solid"/>
          </a:ln>
        </p:spPr>
      </p:sp>
      <p:sp>
        <p:nvSpPr>
          <p:cNvPr id="20" name="Icon speaker speaker body">
            <a:extLst xmlns:a="http://schemas.openxmlformats.org/drawingml/2006/main">
              <a:ext uri="{FF2B5EF4-FFF2-40B4-BE49-F238E27FC236}">
                <a16:creationId xmlns:a16="http://schemas.microsoft.com/office/drawing/2014/main" id="{99659EBD-99C9-47C8-8D55-E45A2426D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76900" y="1771650"/>
            <a:ext cx="1143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0">
            <a:solidFill>
              <a:srgbClr val="C0C0C0"/>
            </a:solidFill>
            <a:prstDash val="solid"/>
          </a:ln>
        </p:spPr>
      </p:sp>
      <p:sp>
        <p:nvSpPr>
          <p:cNvPr id="21" name="Icon speaker speaker cone">
            <a:extLst xmlns:a="http://schemas.openxmlformats.org/drawingml/2006/main">
              <a:ext uri="{FF2B5EF4-FFF2-40B4-BE49-F238E27FC236}">
                <a16:creationId xmlns:a16="http://schemas.microsoft.com/office/drawing/2014/main" id="{3643C061-E48B-44F6-9679-85684D888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772150" y="1704975"/>
            <a:ext cx="171450" cy="2667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9525">
            <a:solidFill>
              <a:srgbClr val="C0C0C0"/>
            </a:solidFill>
            <a:prstDash val="solid"/>
          </a:ln>
        </p:spPr>
      </p:sp>
      <p:sp>
        <p:nvSpPr>
          <p:cNvPr id="22" name="Icon speaker sound wave one">
            <a:extLst xmlns:a="http://schemas.openxmlformats.org/drawingml/2006/main">
              <a:ext uri="{FF2B5EF4-FFF2-40B4-BE49-F238E27FC236}">
                <a16:creationId xmlns:a16="http://schemas.microsoft.com/office/drawing/2014/main" id="{82D219E3-4C2A-4E6C-B033-0D15175F5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72175" y="1771650"/>
            <a:ext cx="285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23" name="Icon speaker sound wave two">
            <a:extLst xmlns:a="http://schemas.openxmlformats.org/drawingml/2006/main">
              <a:ext uri="{FF2B5EF4-FFF2-40B4-BE49-F238E27FC236}">
                <a16:creationId xmlns:a16="http://schemas.microsoft.com/office/drawing/2014/main" id="{CF752D44-1C25-4CDC-BD73-3C948A787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10275" y="1819275"/>
            <a:ext cx="285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24" name="Icon speaker sound wave three">
            <a:extLst xmlns:a="http://schemas.openxmlformats.org/drawingml/2006/main">
              <a:ext uri="{FF2B5EF4-FFF2-40B4-BE49-F238E27FC236}">
                <a16:creationId xmlns:a16="http://schemas.microsoft.com/office/drawing/2014/main" id="{905DAA71-3EB1-4F8F-88A2-910E606DE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72175" y="1866900"/>
            <a:ext cx="285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25" name="Icon keyboard tile">
            <a:extLst xmlns:a="http://schemas.openxmlformats.org/drawingml/2006/main">
              <a:ext uri="{FF2B5EF4-FFF2-40B4-BE49-F238E27FC236}">
                <a16:creationId xmlns:a16="http://schemas.microsoft.com/office/drawing/2014/main" id="{91C4991A-7C78-464D-B8FD-2F17D5EB4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382125" y="1581150"/>
            <a:ext cx="5143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19050">
            <a:solidFill>
              <a:srgbClr val="C0C0C0"/>
            </a:solidFill>
            <a:prstDash val="solid"/>
          </a:ln>
        </p:spPr>
      </p:sp>
      <p:sp>
        <p:nvSpPr>
          <p:cNvPr id="26" name="Icon keyboard keyboard body">
            <a:extLst xmlns:a="http://schemas.openxmlformats.org/drawingml/2006/main">
              <a:ext uri="{FF2B5EF4-FFF2-40B4-BE49-F238E27FC236}">
                <a16:creationId xmlns:a16="http://schemas.microsoft.com/office/drawing/2014/main" id="{298DCB13-FAB8-420B-9259-9818B51E4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448800" y="1724025"/>
            <a:ext cx="3810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0">
            <a:solidFill>
              <a:srgbClr val="C0C0C0"/>
            </a:solidFill>
            <a:prstDash val="solid"/>
          </a:ln>
        </p:spPr>
      </p:sp>
      <p:sp>
        <p:nvSpPr>
          <p:cNvPr id="27" name="Icon keyboard key 0-0">
            <a:extLst xmlns:a="http://schemas.openxmlformats.org/drawingml/2006/main">
              <a:ext uri="{FF2B5EF4-FFF2-40B4-BE49-F238E27FC236}">
                <a16:creationId xmlns:a16="http://schemas.microsoft.com/office/drawing/2014/main" id="{7809C203-CB2A-49C5-956C-2F5E3D384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486900" y="1762125"/>
            <a:ext cx="38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Icon keyboard key 0-1">
            <a:extLst xmlns:a="http://schemas.openxmlformats.org/drawingml/2006/main">
              <a:ext uri="{FF2B5EF4-FFF2-40B4-BE49-F238E27FC236}">
                <a16:creationId xmlns:a16="http://schemas.microsoft.com/office/drawing/2014/main" id="{43834502-7892-4E09-911C-234A2A932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53575" y="1762125"/>
            <a:ext cx="38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Icon keyboard key 0-2">
            <a:extLst xmlns:a="http://schemas.openxmlformats.org/drawingml/2006/main">
              <a:ext uri="{FF2B5EF4-FFF2-40B4-BE49-F238E27FC236}">
                <a16:creationId xmlns:a16="http://schemas.microsoft.com/office/drawing/2014/main" id="{75AD4E25-D941-47ED-9D75-A04160257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20250" y="1762125"/>
            <a:ext cx="38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Icon keyboard key 0-3">
            <a:extLst xmlns:a="http://schemas.openxmlformats.org/drawingml/2006/main">
              <a:ext uri="{FF2B5EF4-FFF2-40B4-BE49-F238E27FC236}">
                <a16:creationId xmlns:a16="http://schemas.microsoft.com/office/drawing/2014/main" id="{CE2502FE-E75C-45FD-B4D3-78A009276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86925" y="1762125"/>
            <a:ext cx="38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Icon keyboard key 0-4">
            <a:extLst xmlns:a="http://schemas.openxmlformats.org/drawingml/2006/main">
              <a:ext uri="{FF2B5EF4-FFF2-40B4-BE49-F238E27FC236}">
                <a16:creationId xmlns:a16="http://schemas.microsoft.com/office/drawing/2014/main" id="{EBD85C8C-9BF3-4EA0-B703-758CE989B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53600" y="1762125"/>
            <a:ext cx="38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Icon keyboard key 1-0">
            <a:extLst xmlns:a="http://schemas.openxmlformats.org/drawingml/2006/main">
              <a:ext uri="{FF2B5EF4-FFF2-40B4-BE49-F238E27FC236}">
                <a16:creationId xmlns:a16="http://schemas.microsoft.com/office/drawing/2014/main" id="{724A390A-18CF-41C4-9862-E8CD9B8D6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486900" y="1819275"/>
            <a:ext cx="38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Icon keyboard key 1-1">
            <a:extLst xmlns:a="http://schemas.openxmlformats.org/drawingml/2006/main">
              <a:ext uri="{FF2B5EF4-FFF2-40B4-BE49-F238E27FC236}">
                <a16:creationId xmlns:a16="http://schemas.microsoft.com/office/drawing/2014/main" id="{3FA3E25D-3747-4ED1-95E5-8C93C45BF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53575" y="1819275"/>
            <a:ext cx="38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Icon keyboard key 1-2">
            <a:extLst xmlns:a="http://schemas.openxmlformats.org/drawingml/2006/main">
              <a:ext uri="{FF2B5EF4-FFF2-40B4-BE49-F238E27FC236}">
                <a16:creationId xmlns:a16="http://schemas.microsoft.com/office/drawing/2014/main" id="{0A95841D-B6AC-4EC0-8D57-1E9723C35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20250" y="1819275"/>
            <a:ext cx="38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Icon keyboard key 1-3">
            <a:extLst xmlns:a="http://schemas.openxmlformats.org/drawingml/2006/main">
              <a:ext uri="{FF2B5EF4-FFF2-40B4-BE49-F238E27FC236}">
                <a16:creationId xmlns:a16="http://schemas.microsoft.com/office/drawing/2014/main" id="{719CA078-5B45-4FA7-A89C-1F37A55D4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86925" y="1819275"/>
            <a:ext cx="38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Icon keyboard key 1-4">
            <a:extLst xmlns:a="http://schemas.openxmlformats.org/drawingml/2006/main">
              <a:ext uri="{FF2B5EF4-FFF2-40B4-BE49-F238E27FC236}">
                <a16:creationId xmlns:a16="http://schemas.microsoft.com/office/drawing/2014/main" id="{A1F1452B-6E98-420F-B55F-40DC36030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53600" y="1819275"/>
            <a:ext cx="38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Icon keyboard key 2-0">
            <a:extLst xmlns:a="http://schemas.openxmlformats.org/drawingml/2006/main">
              <a:ext uri="{FF2B5EF4-FFF2-40B4-BE49-F238E27FC236}">
                <a16:creationId xmlns:a16="http://schemas.microsoft.com/office/drawing/2014/main" id="{567D36EF-D4A3-48DE-9F86-3644C6FE2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486900" y="1876425"/>
            <a:ext cx="38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Icon keyboard key 2-1">
            <a:extLst xmlns:a="http://schemas.openxmlformats.org/drawingml/2006/main">
              <a:ext uri="{FF2B5EF4-FFF2-40B4-BE49-F238E27FC236}">
                <a16:creationId xmlns:a16="http://schemas.microsoft.com/office/drawing/2014/main" id="{FE12F21E-C463-4952-9731-8DE198DFD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53575" y="1876425"/>
            <a:ext cx="38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Icon keyboard key 2-2">
            <a:extLst xmlns:a="http://schemas.openxmlformats.org/drawingml/2006/main">
              <a:ext uri="{FF2B5EF4-FFF2-40B4-BE49-F238E27FC236}">
                <a16:creationId xmlns:a16="http://schemas.microsoft.com/office/drawing/2014/main" id="{C1EC2248-90B9-4DA1-BB76-23830D575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20250" y="1876425"/>
            <a:ext cx="38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Icon keyboard key 2-3">
            <a:extLst xmlns:a="http://schemas.openxmlformats.org/drawingml/2006/main">
              <a:ext uri="{FF2B5EF4-FFF2-40B4-BE49-F238E27FC236}">
                <a16:creationId xmlns:a16="http://schemas.microsoft.com/office/drawing/2014/main" id="{BA0366EF-E1E1-446B-A281-8E834476A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86925" y="1876425"/>
            <a:ext cx="38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Icon keyboard key 2-4">
            <a:extLst xmlns:a="http://schemas.openxmlformats.org/drawingml/2006/main">
              <a:ext uri="{FF2B5EF4-FFF2-40B4-BE49-F238E27FC236}">
                <a16:creationId xmlns:a16="http://schemas.microsoft.com/office/drawing/2014/main" id="{C67842BD-EA48-40F6-BF06-9EF0A3440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53600" y="1876425"/>
            <a:ext cx="38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Icon keyboard spacebar">
            <a:extLst xmlns:a="http://schemas.openxmlformats.org/drawingml/2006/main">
              <a:ext uri="{FF2B5EF4-FFF2-40B4-BE49-F238E27FC236}">
                <a16:creationId xmlns:a16="http://schemas.microsoft.com/office/drawing/2014/main" id="{A50C0C31-BCA7-4DAF-AC16-ED054A28B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63100" y="1943100"/>
            <a:ext cx="1619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0">
            <a:solidFill>
              <a:srgbClr val="00008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96557094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0808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457A4AE2-F9C3-49EB-BAC8-B278C41B7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048"/>
            <a:ext cx="11094415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1" spc="20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SECTION 03 · SOLUTIONS</a:t>
            </a:r>
            <a:endParaRPr sz="12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EC98CB7A-7F98-49F3-9379-CD28FA88D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31520"/>
            <a:ext cx="11094415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rPr>
              <a:t>Debugging Toolbox</a:t>
            </a:r>
            <a:endParaRPr sz="3000"/>
          </a:p>
        </p:txBody>
      </p:sp>
      <p:sp>
        <p:nvSpPr>
          <p:cNvPr id="6" name="Text 2">
            <a:extLst xmlns:a="http://schemas.openxmlformats.org/drawingml/2006/main">
              <a:ext uri="{FF2B5EF4-FFF2-40B4-BE49-F238E27FC236}">
                <a16:creationId xmlns:a16="http://schemas.microsoft.com/office/drawing/2014/main" id="{92CAF895-70B8-4470-A9C2-421C29FFC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322576"/>
            <a:ext cx="3515258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wpctl status</a:t>
            </a:r>
            <a:endParaRPr sz="1450"/>
          </a:p>
        </p:txBody>
      </p:sp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7E701A39-CD34-4431-B580-F0ED9A963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798064"/>
            <a:ext cx="3515258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Check where audio was actually routing</a:t>
            </a:r>
            <a:endParaRPr sz="1150"/>
          </a:p>
        </p:txBody>
      </p:sp>
      <p:sp>
        <p:nvSpPr>
          <p:cNvPr id="9" name="Text 4">
            <a:extLst xmlns:a="http://schemas.openxmlformats.org/drawingml/2006/main">
              <a:ext uri="{FF2B5EF4-FFF2-40B4-BE49-F238E27FC236}">
                <a16:creationId xmlns:a16="http://schemas.microsoft.com/office/drawing/2014/main" id="{A08AD681-0B6A-46F7-8E0B-5C4499244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8218" y="2322576"/>
            <a:ext cx="3515258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key_debug.py</a:t>
            </a:r>
            <a:endParaRPr sz="1450"/>
          </a:p>
        </p:txBody>
      </p:sp>
      <p:sp>
        <p:nvSpPr>
          <p:cNvPr id="10" name="Text 5">
            <a:extLst xmlns:a="http://schemas.openxmlformats.org/drawingml/2006/main">
              <a:ext uri="{FF2B5EF4-FFF2-40B4-BE49-F238E27FC236}">
                <a16:creationId xmlns:a16="http://schemas.microsoft.com/office/drawing/2014/main" id="{8E756E27-8DD8-4FA2-8B72-8CF62EDAC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8218" y="2798064"/>
            <a:ext cx="3515258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Print the real keycode for any key</a:t>
            </a:r>
            <a:endParaRPr sz="1150"/>
          </a:p>
        </p:txBody>
      </p:sp>
      <p:sp>
        <p:nvSpPr>
          <p:cNvPr id="12" name="Text 6">
            <a:extLst xmlns:a="http://schemas.openxmlformats.org/drawingml/2006/main">
              <a:ext uri="{FF2B5EF4-FFF2-40B4-BE49-F238E27FC236}">
                <a16:creationId xmlns:a16="http://schemas.microsoft.com/office/drawing/2014/main" id="{E7D1A8C8-26AA-4A42-BB34-7C9E6805B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7797" y="2322576"/>
            <a:ext cx="3515258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Flashlight test</a:t>
            </a:r>
            <a:endParaRPr sz="1450"/>
          </a:p>
        </p:txBody>
      </p:sp>
      <p:sp>
        <p:nvSpPr>
          <p:cNvPr id="13" name="Text 7">
            <a:extLst xmlns:a="http://schemas.openxmlformats.org/drawingml/2006/main">
              <a:ext uri="{FF2B5EF4-FFF2-40B4-BE49-F238E27FC236}">
                <a16:creationId xmlns:a16="http://schemas.microsoft.com/office/drawing/2014/main" id="{744497E0-6E00-4B69-AA71-BA38B7463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7797" y="2798064"/>
            <a:ext cx="3515258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Tell a dead backlight from dead video</a:t>
            </a:r>
            <a:endParaRPr sz="1150"/>
          </a:p>
        </p:txBody>
      </p:sp>
      <p:sp>
        <p:nvSpPr>
          <p:cNvPr id="15" name="Text 8">
            <a:extLst xmlns:a="http://schemas.openxmlformats.org/drawingml/2006/main">
              <a:ext uri="{FF2B5EF4-FFF2-40B4-BE49-F238E27FC236}">
                <a16:creationId xmlns:a16="http://schemas.microsoft.com/office/drawing/2014/main" id="{3DA7DDA5-7F04-470A-B108-65820C943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608576"/>
            <a:ext cx="3515258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iptv-org</a:t>
            </a:r>
            <a:endParaRPr sz="1450"/>
          </a:p>
        </p:txBody>
      </p:sp>
      <p:sp>
        <p:nvSpPr>
          <p:cNvPr id="16" name="Text 9">
            <a:extLst xmlns:a="http://schemas.openxmlformats.org/drawingml/2006/main">
              <a:ext uri="{FF2B5EF4-FFF2-40B4-BE49-F238E27FC236}">
                <a16:creationId xmlns:a16="http://schemas.microsoft.com/office/drawing/2014/main" id="{2363A2F4-0C89-4D7F-BC40-D6C9F6376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084064"/>
            <a:ext cx="3515258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Verify channels before adding them</a:t>
            </a:r>
            <a:endParaRPr sz="1150"/>
          </a:p>
        </p:txBody>
      </p:sp>
      <p:sp>
        <p:nvSpPr>
          <p:cNvPr id="18" name="Text 10">
            <a:extLst xmlns:a="http://schemas.openxmlformats.org/drawingml/2006/main">
              <a:ext uri="{FF2B5EF4-FFF2-40B4-BE49-F238E27FC236}">
                <a16:creationId xmlns:a16="http://schemas.microsoft.com/office/drawing/2014/main" id="{2D47773F-8203-4BDD-9405-82EB978CD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8218" y="4608576"/>
            <a:ext cx="3515258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BFS check</a:t>
            </a:r>
            <a:endParaRPr sz="1450"/>
          </a:p>
        </p:txBody>
      </p:sp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A6215502-B1DB-462F-A0A9-00B28A7B1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8218" y="5084064"/>
            <a:ext cx="3515258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Prove the keyboard is joystick-reachable</a:t>
            </a:r>
            <a:endParaRPr sz="1150"/>
          </a:p>
        </p:txBody>
      </p:sp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2D4409B9-1E47-4FB9-8FDB-8305CAF1E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7797" y="4608576"/>
            <a:ext cx="3515258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Round-trip test</a:t>
            </a:r>
            <a:endParaRPr sz="1450"/>
          </a:p>
        </p:txBody>
      </p:sp>
      <p:sp>
        <p:nvSpPr>
          <p:cNvPr id="22" name="Text 13">
            <a:extLst xmlns:a="http://schemas.openxmlformats.org/drawingml/2006/main">
              <a:ext uri="{FF2B5EF4-FFF2-40B4-BE49-F238E27FC236}">
                <a16:creationId xmlns:a16="http://schemas.microsoft.com/office/drawing/2014/main" id="{9FD87372-55DC-4503-9A33-9700B249B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7797" y="5084064"/>
            <a:ext cx="3515258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Verify the installer before sending it</a:t>
            </a:r>
            <a:endParaRPr sz="1150"/>
          </a:p>
        </p:txBody>
      </p:sp>
      <p:sp>
        <p:nvSpPr>
          <p:cNvPr id="23" name="Text 14">
            <a:extLst xmlns:a="http://schemas.openxmlformats.org/drawingml/2006/main">
              <a:ext uri="{FF2B5EF4-FFF2-40B4-BE49-F238E27FC236}">
                <a16:creationId xmlns:a16="http://schemas.microsoft.com/office/drawing/2014/main" id="{3B13DB6D-3027-44B6-A678-10A8E7D76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355080"/>
            <a:ext cx="5486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13</a:t>
            </a:r>
            <a:endParaRPr sz="1000"/>
          </a:p>
        </p:txBody>
      </p:sp>
      <p:sp>
        <p:nvSpPr>
          <p:cNvPr id="24" name="Icon audio tile">
            <a:extLst xmlns:a="http://schemas.openxmlformats.org/drawingml/2006/main">
              <a:ext uri="{FF2B5EF4-FFF2-40B4-BE49-F238E27FC236}">
                <a16:creationId xmlns:a16="http://schemas.microsoft.com/office/drawing/2014/main" id="{A6292B3C-6C6F-40F2-B95A-4DE6B4656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38325" y="160972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16933">
            <a:solidFill>
              <a:srgbClr val="C0C0C0"/>
            </a:solidFill>
            <a:prstDash val="solid"/>
          </a:ln>
        </p:spPr>
      </p:sp>
      <p:sp>
        <p:nvSpPr>
          <p:cNvPr id="25" name="Icon audio speaker body">
            <a:extLst xmlns:a="http://schemas.openxmlformats.org/drawingml/2006/main">
              <a:ext uri="{FF2B5EF4-FFF2-40B4-BE49-F238E27FC236}">
                <a16:creationId xmlns:a16="http://schemas.microsoft.com/office/drawing/2014/main" id="{C3729FBA-015F-4057-9712-9088D9A67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06058" y="1779058"/>
            <a:ext cx="101600" cy="12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0">
            <a:solidFill>
              <a:srgbClr val="C0C0C0"/>
            </a:solidFill>
            <a:prstDash val="solid"/>
          </a:ln>
        </p:spPr>
      </p:sp>
      <p:sp>
        <p:nvSpPr>
          <p:cNvPr id="26" name="Icon audio speaker cone">
            <a:extLst xmlns:a="http://schemas.openxmlformats.org/drawingml/2006/main">
              <a:ext uri="{FF2B5EF4-FFF2-40B4-BE49-F238E27FC236}">
                <a16:creationId xmlns:a16="http://schemas.microsoft.com/office/drawing/2014/main" id="{CDC939D3-355C-4F7F-82FE-9D5D9D2A9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990725" y="1719792"/>
            <a:ext cx="152400" cy="237067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8467">
            <a:solidFill>
              <a:srgbClr val="C0C0C0"/>
            </a:solidFill>
            <a:prstDash val="solid"/>
          </a:ln>
        </p:spPr>
      </p:sp>
      <p:sp>
        <p:nvSpPr>
          <p:cNvPr id="27" name="Icon audio sound wave one">
            <a:extLst xmlns:a="http://schemas.openxmlformats.org/drawingml/2006/main">
              <a:ext uri="{FF2B5EF4-FFF2-40B4-BE49-F238E27FC236}">
                <a16:creationId xmlns:a16="http://schemas.microsoft.com/office/drawing/2014/main" id="{51280A5C-8A4A-4490-ABBE-8C849DB8E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168525" y="1779058"/>
            <a:ext cx="25400" cy="2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28" name="Icon audio sound wave two">
            <a:extLst xmlns:a="http://schemas.openxmlformats.org/drawingml/2006/main">
              <a:ext uri="{FF2B5EF4-FFF2-40B4-BE49-F238E27FC236}">
                <a16:creationId xmlns:a16="http://schemas.microsoft.com/office/drawing/2014/main" id="{829337DA-17E5-4C85-A065-8342017F8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02392" y="1821392"/>
            <a:ext cx="25400" cy="2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29" name="Icon audio sound wave three">
            <a:extLst xmlns:a="http://schemas.openxmlformats.org/drawingml/2006/main">
              <a:ext uri="{FF2B5EF4-FFF2-40B4-BE49-F238E27FC236}">
                <a16:creationId xmlns:a16="http://schemas.microsoft.com/office/drawing/2014/main" id="{B76F113A-1449-4161-B801-25FF0DC79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168525" y="1863725"/>
            <a:ext cx="25400" cy="2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30" name="Icon key tile">
            <a:extLst xmlns:a="http://schemas.openxmlformats.org/drawingml/2006/main">
              <a:ext uri="{FF2B5EF4-FFF2-40B4-BE49-F238E27FC236}">
                <a16:creationId xmlns:a16="http://schemas.microsoft.com/office/drawing/2014/main" id="{3E1ED73C-9450-4A1B-AA3C-5BCDB68CC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29275" y="160972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16933">
            <a:solidFill>
              <a:srgbClr val="C0C0C0"/>
            </a:solidFill>
            <a:prstDash val="solid"/>
          </a:ln>
        </p:spPr>
      </p:sp>
      <p:sp>
        <p:nvSpPr>
          <p:cNvPr id="31" name="Icon key keyboard body">
            <a:extLst xmlns:a="http://schemas.openxmlformats.org/drawingml/2006/main">
              <a:ext uri="{FF2B5EF4-FFF2-40B4-BE49-F238E27FC236}">
                <a16:creationId xmlns:a16="http://schemas.microsoft.com/office/drawing/2014/main" id="{92456F03-902F-4891-B26C-FAF5E3757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88542" y="1736725"/>
            <a:ext cx="338667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0">
            <a:solidFill>
              <a:srgbClr val="C0C0C0"/>
            </a:solidFill>
            <a:prstDash val="solid"/>
          </a:ln>
        </p:spPr>
      </p:sp>
      <p:sp>
        <p:nvSpPr>
          <p:cNvPr id="32" name="Icon key key 0-0">
            <a:extLst xmlns:a="http://schemas.openxmlformats.org/drawingml/2006/main">
              <a:ext uri="{FF2B5EF4-FFF2-40B4-BE49-F238E27FC236}">
                <a16:creationId xmlns:a16="http://schemas.microsoft.com/office/drawing/2014/main" id="{97A5787A-D497-427C-84D7-D7E606C88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22408" y="1770592"/>
            <a:ext cx="33867" cy="2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Icon key key 0-1">
            <a:extLst xmlns:a="http://schemas.openxmlformats.org/drawingml/2006/main">
              <a:ext uri="{FF2B5EF4-FFF2-40B4-BE49-F238E27FC236}">
                <a16:creationId xmlns:a16="http://schemas.microsoft.com/office/drawing/2014/main" id="{72589DFF-6A2F-4D60-BA2E-09AE4CE1F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81675" y="1770592"/>
            <a:ext cx="33867" cy="2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Icon key key 0-2">
            <a:extLst xmlns:a="http://schemas.openxmlformats.org/drawingml/2006/main">
              <a:ext uri="{FF2B5EF4-FFF2-40B4-BE49-F238E27FC236}">
                <a16:creationId xmlns:a16="http://schemas.microsoft.com/office/drawing/2014/main" id="{7F2CE54B-A6DE-4DF9-A68A-ACEDB3F07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40942" y="1770592"/>
            <a:ext cx="33867" cy="2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Icon key key 0-3">
            <a:extLst xmlns:a="http://schemas.openxmlformats.org/drawingml/2006/main">
              <a:ext uri="{FF2B5EF4-FFF2-40B4-BE49-F238E27FC236}">
                <a16:creationId xmlns:a16="http://schemas.microsoft.com/office/drawing/2014/main" id="{C81C758E-3A0B-492C-81AD-A333C2ABF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00208" y="1770592"/>
            <a:ext cx="33867" cy="2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Icon key key 0-4">
            <a:extLst xmlns:a="http://schemas.openxmlformats.org/drawingml/2006/main">
              <a:ext uri="{FF2B5EF4-FFF2-40B4-BE49-F238E27FC236}">
                <a16:creationId xmlns:a16="http://schemas.microsoft.com/office/drawing/2014/main" id="{51E12CE2-4239-45E4-B7EF-1013D93B5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59475" y="1770592"/>
            <a:ext cx="33867" cy="2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Icon key key 1-0">
            <a:extLst xmlns:a="http://schemas.openxmlformats.org/drawingml/2006/main">
              <a:ext uri="{FF2B5EF4-FFF2-40B4-BE49-F238E27FC236}">
                <a16:creationId xmlns:a16="http://schemas.microsoft.com/office/drawing/2014/main" id="{D4CE9DF4-E87E-4888-BCC9-EC943599C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22408" y="1821392"/>
            <a:ext cx="33867" cy="2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Icon key key 1-1">
            <a:extLst xmlns:a="http://schemas.openxmlformats.org/drawingml/2006/main">
              <a:ext uri="{FF2B5EF4-FFF2-40B4-BE49-F238E27FC236}">
                <a16:creationId xmlns:a16="http://schemas.microsoft.com/office/drawing/2014/main" id="{5B123722-7D89-4C07-ADF8-2D31D7E4D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81675" y="1821392"/>
            <a:ext cx="33867" cy="2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Icon key key 1-2">
            <a:extLst xmlns:a="http://schemas.openxmlformats.org/drawingml/2006/main">
              <a:ext uri="{FF2B5EF4-FFF2-40B4-BE49-F238E27FC236}">
                <a16:creationId xmlns:a16="http://schemas.microsoft.com/office/drawing/2014/main" id="{31701472-46CE-4475-84EC-7DF5C674A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40942" y="1821392"/>
            <a:ext cx="33867" cy="2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Icon key key 1-3">
            <a:extLst xmlns:a="http://schemas.openxmlformats.org/drawingml/2006/main">
              <a:ext uri="{FF2B5EF4-FFF2-40B4-BE49-F238E27FC236}">
                <a16:creationId xmlns:a16="http://schemas.microsoft.com/office/drawing/2014/main" id="{6DE3A5A5-E9D6-4E9E-8026-3E90FCDBA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00208" y="1821392"/>
            <a:ext cx="33867" cy="2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Icon key key 1-4">
            <a:extLst xmlns:a="http://schemas.openxmlformats.org/drawingml/2006/main">
              <a:ext uri="{FF2B5EF4-FFF2-40B4-BE49-F238E27FC236}">
                <a16:creationId xmlns:a16="http://schemas.microsoft.com/office/drawing/2014/main" id="{7CA13B0D-0384-4EF3-9EE6-92DA24F35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59475" y="1821392"/>
            <a:ext cx="33867" cy="2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Icon key key 2-0">
            <a:extLst xmlns:a="http://schemas.openxmlformats.org/drawingml/2006/main">
              <a:ext uri="{FF2B5EF4-FFF2-40B4-BE49-F238E27FC236}">
                <a16:creationId xmlns:a16="http://schemas.microsoft.com/office/drawing/2014/main" id="{608ECF17-23ED-405D-A303-9F56132E3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22408" y="1872192"/>
            <a:ext cx="33867" cy="2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Icon key key 2-1">
            <a:extLst xmlns:a="http://schemas.openxmlformats.org/drawingml/2006/main">
              <a:ext uri="{FF2B5EF4-FFF2-40B4-BE49-F238E27FC236}">
                <a16:creationId xmlns:a16="http://schemas.microsoft.com/office/drawing/2014/main" id="{1E8E0DB6-506E-4F5F-99D6-0CA749EC4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81675" y="1872192"/>
            <a:ext cx="33867" cy="2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Icon key key 2-2">
            <a:extLst xmlns:a="http://schemas.openxmlformats.org/drawingml/2006/main">
              <a:ext uri="{FF2B5EF4-FFF2-40B4-BE49-F238E27FC236}">
                <a16:creationId xmlns:a16="http://schemas.microsoft.com/office/drawing/2014/main" id="{BFE78574-97F9-442C-B613-4410E9EA4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40942" y="1872192"/>
            <a:ext cx="33867" cy="2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Icon key key 2-3">
            <a:extLst xmlns:a="http://schemas.openxmlformats.org/drawingml/2006/main">
              <a:ext uri="{FF2B5EF4-FFF2-40B4-BE49-F238E27FC236}">
                <a16:creationId xmlns:a16="http://schemas.microsoft.com/office/drawing/2014/main" id="{C36C8999-9934-4B05-945D-A02F7FA26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00208" y="1872192"/>
            <a:ext cx="33867" cy="2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Icon key key 2-4">
            <a:extLst xmlns:a="http://schemas.openxmlformats.org/drawingml/2006/main">
              <a:ext uri="{FF2B5EF4-FFF2-40B4-BE49-F238E27FC236}">
                <a16:creationId xmlns:a16="http://schemas.microsoft.com/office/drawing/2014/main" id="{C61CECCE-A7E3-47BF-B893-904C0A4F6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59475" y="1872192"/>
            <a:ext cx="33867" cy="2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Icon key spacebar">
            <a:extLst xmlns:a="http://schemas.openxmlformats.org/drawingml/2006/main">
              <a:ext uri="{FF2B5EF4-FFF2-40B4-BE49-F238E27FC236}">
                <a16:creationId xmlns:a16="http://schemas.microsoft.com/office/drawing/2014/main" id="{8DCB8937-0B32-480E-8865-C39DB76E4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90142" y="1931458"/>
            <a:ext cx="143933" cy="1693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0">
            <a:solidFill>
              <a:srgbClr val="000080"/>
            </a:solidFill>
            <a:prstDash val="solid"/>
          </a:ln>
        </p:spPr>
      </p:sp>
      <p:sp>
        <p:nvSpPr>
          <p:cNvPr id="48" name="Icon flashlight tile">
            <a:extLst xmlns:a="http://schemas.openxmlformats.org/drawingml/2006/main">
              <a:ext uri="{FF2B5EF4-FFF2-40B4-BE49-F238E27FC236}">
                <a16:creationId xmlns:a16="http://schemas.microsoft.com/office/drawing/2014/main" id="{069B28A0-70A0-487B-A333-55123D944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410700" y="160972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16933">
            <a:solidFill>
              <a:srgbClr val="C0C0C0"/>
            </a:solidFill>
            <a:prstDash val="solid"/>
          </a:ln>
        </p:spPr>
      </p:sp>
      <p:sp>
        <p:nvSpPr>
          <p:cNvPr id="49" name="Icon flashlight flashlight handle">
            <a:extLst xmlns:a="http://schemas.openxmlformats.org/drawingml/2006/main">
              <a:ext uri="{FF2B5EF4-FFF2-40B4-BE49-F238E27FC236}">
                <a16:creationId xmlns:a16="http://schemas.microsoft.com/office/drawing/2014/main" id="{FCE2F06E-33A2-4E9A-BCCB-E69AF1007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20767" y="1787525"/>
            <a:ext cx="228600" cy="10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0">
            <a:solidFill>
              <a:srgbClr val="C0C0C0"/>
            </a:solidFill>
            <a:prstDash val="solid"/>
          </a:ln>
        </p:spPr>
      </p:sp>
      <p:sp>
        <p:nvSpPr>
          <p:cNvPr id="50" name="Icon flashlight flashlight lamp">
            <a:extLst xmlns:a="http://schemas.openxmlformats.org/drawingml/2006/main">
              <a:ext uri="{FF2B5EF4-FFF2-40B4-BE49-F238E27FC236}">
                <a16:creationId xmlns:a16="http://schemas.microsoft.com/office/drawing/2014/main" id="{8D69A25A-DF58-4ACC-B8C3-4906CE14F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8567" y="1685925"/>
            <a:ext cx="93133" cy="9313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8467">
            <a:solidFill>
              <a:srgbClr val="C0C0C0"/>
            </a:solidFill>
            <a:prstDash val="solid"/>
          </a:ln>
        </p:spPr>
      </p:sp>
      <p:sp>
        <p:nvSpPr>
          <p:cNvPr id="51" name="Icon flashlight beam">
            <a:extLst xmlns:a="http://schemas.openxmlformats.org/drawingml/2006/main">
              <a:ext uri="{FF2B5EF4-FFF2-40B4-BE49-F238E27FC236}">
                <a16:creationId xmlns:a16="http://schemas.microsoft.com/office/drawing/2014/main" id="{352746CE-268A-4025-96D3-3CC7B0ECC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57833" y="1694392"/>
            <a:ext cx="67733" cy="2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52" name="Icon channel tile">
            <a:extLst xmlns:a="http://schemas.openxmlformats.org/drawingml/2006/main">
              <a:ext uri="{FF2B5EF4-FFF2-40B4-BE49-F238E27FC236}">
                <a16:creationId xmlns:a16="http://schemas.microsoft.com/office/drawing/2014/main" id="{CDE0D7E3-28A7-4D74-A60E-F3F9E1B06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38325" y="3886200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16933">
            <a:solidFill>
              <a:srgbClr val="C0C0C0"/>
            </a:solidFill>
            <a:prstDash val="solid"/>
          </a:ln>
        </p:spPr>
      </p:sp>
      <p:sp>
        <p:nvSpPr>
          <p:cNvPr id="53" name="Icon channel screen frame">
            <a:extLst xmlns:a="http://schemas.openxmlformats.org/drawingml/2006/main">
              <a:ext uri="{FF2B5EF4-FFF2-40B4-BE49-F238E27FC236}">
                <a16:creationId xmlns:a16="http://schemas.microsoft.com/office/drawing/2014/main" id="{46FD6394-1285-4B8C-BDC5-F008F9DAE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06058" y="3945467"/>
            <a:ext cx="321733" cy="24553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8467">
            <a:solidFill>
              <a:srgbClr val="C0C0C0"/>
            </a:solidFill>
            <a:prstDash val="solid"/>
          </a:ln>
        </p:spPr>
      </p:sp>
      <p:sp>
        <p:nvSpPr>
          <p:cNvPr id="54" name="Icon channel screen">
            <a:extLst xmlns:a="http://schemas.openxmlformats.org/drawingml/2006/main">
              <a:ext uri="{FF2B5EF4-FFF2-40B4-BE49-F238E27FC236}">
                <a16:creationId xmlns:a16="http://schemas.microsoft.com/office/drawing/2014/main" id="{01517E82-437C-4D41-B967-D9ED80B66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31458" y="3970867"/>
            <a:ext cx="270933" cy="1862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080"/>
          </a:solidFill>
          <a:ln xmlns:a="http://schemas.openxmlformats.org/drawingml/2006/main" w="8467">
            <a:solidFill>
              <a:srgbClr val="404040"/>
            </a:solidFill>
            <a:prstDash val="solid"/>
          </a:ln>
        </p:spPr>
      </p:sp>
      <p:sp>
        <p:nvSpPr>
          <p:cNvPr id="55" name="Icon channel screen highlight">
            <a:extLst xmlns:a="http://schemas.openxmlformats.org/drawingml/2006/main">
              <a:ext uri="{FF2B5EF4-FFF2-40B4-BE49-F238E27FC236}">
                <a16:creationId xmlns:a16="http://schemas.microsoft.com/office/drawing/2014/main" id="{719D404D-A334-4DC9-B93B-9E5F4CE5B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65325" y="4004733"/>
            <a:ext cx="160867" cy="2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56" name="Icon channel screen line">
            <a:extLst xmlns:a="http://schemas.openxmlformats.org/drawingml/2006/main">
              <a:ext uri="{FF2B5EF4-FFF2-40B4-BE49-F238E27FC236}">
                <a16:creationId xmlns:a16="http://schemas.microsoft.com/office/drawing/2014/main" id="{256C4BF3-B375-45B0-A077-5AC341C44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65325" y="4055533"/>
            <a:ext cx="211667" cy="1693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57" name="Icon channel channel row">
            <a:extLst xmlns:a="http://schemas.openxmlformats.org/drawingml/2006/main">
              <a:ext uri="{FF2B5EF4-FFF2-40B4-BE49-F238E27FC236}">
                <a16:creationId xmlns:a16="http://schemas.microsoft.com/office/drawing/2014/main" id="{B6BACBC5-AB96-441B-9365-836FFF7BA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65325" y="4097867"/>
            <a:ext cx="118533" cy="1693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58" name="Icon channel channel row">
            <a:extLst xmlns:a="http://schemas.openxmlformats.org/drawingml/2006/main">
              <a:ext uri="{FF2B5EF4-FFF2-40B4-BE49-F238E27FC236}">
                <a16:creationId xmlns:a16="http://schemas.microsoft.com/office/drawing/2014/main" id="{3E0F042B-453B-4895-9DB5-C6FA44E08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65325" y="4131733"/>
            <a:ext cx="186267" cy="1693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59" name="Icon channel stand">
            <a:extLst xmlns:a="http://schemas.openxmlformats.org/drawingml/2006/main">
              <a:ext uri="{FF2B5EF4-FFF2-40B4-BE49-F238E27FC236}">
                <a16:creationId xmlns:a16="http://schemas.microsoft.com/office/drawing/2014/main" id="{031420E4-7EEE-44C8-9540-4A75E673A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41525" y="4191000"/>
            <a:ext cx="50800" cy="5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0">
            <a:solidFill>
              <a:srgbClr val="C0C0C0"/>
            </a:solidFill>
            <a:prstDash val="solid"/>
          </a:ln>
        </p:spPr>
      </p:sp>
      <p:sp>
        <p:nvSpPr>
          <p:cNvPr id="60" name="Icon channel foot">
            <a:extLst xmlns:a="http://schemas.openxmlformats.org/drawingml/2006/main">
              <a:ext uri="{FF2B5EF4-FFF2-40B4-BE49-F238E27FC236}">
                <a16:creationId xmlns:a16="http://schemas.microsoft.com/office/drawing/2014/main" id="{B09CAF79-E956-4C75-899B-2FBB4F123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90725" y="4241800"/>
            <a:ext cx="152400" cy="2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0">
            <a:solidFill>
              <a:srgbClr val="C0C0C0"/>
            </a:solidFill>
            <a:prstDash val="solid"/>
          </a:ln>
        </p:spPr>
      </p:sp>
      <p:sp>
        <p:nvSpPr>
          <p:cNvPr id="61" name="Icon check tile">
            <a:extLst xmlns:a="http://schemas.openxmlformats.org/drawingml/2006/main">
              <a:ext uri="{FF2B5EF4-FFF2-40B4-BE49-F238E27FC236}">
                <a16:creationId xmlns:a16="http://schemas.microsoft.com/office/drawing/2014/main" id="{34122696-B24E-497A-B126-AA5DD9305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29275" y="3886200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16933">
            <a:solidFill>
              <a:srgbClr val="C0C0C0"/>
            </a:solidFill>
            <a:prstDash val="solid"/>
          </a:ln>
        </p:spPr>
      </p:sp>
      <p:sp>
        <p:nvSpPr>
          <p:cNvPr id="62" name="Icon check check short">
            <a:extLst xmlns:a="http://schemas.openxmlformats.org/drawingml/2006/main">
              <a:ext uri="{FF2B5EF4-FFF2-40B4-BE49-F238E27FC236}">
                <a16:creationId xmlns:a16="http://schemas.microsoft.com/office/drawing/2014/main" id="{469AD575-13D3-4DE5-9437-3422D6C6E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39342" y="4131733"/>
            <a:ext cx="135467" cy="4233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63" name="Icon check check long">
            <a:extLst xmlns:a="http://schemas.openxmlformats.org/drawingml/2006/main">
              <a:ext uri="{FF2B5EF4-FFF2-40B4-BE49-F238E27FC236}">
                <a16:creationId xmlns:a16="http://schemas.microsoft.com/office/drawing/2014/main" id="{303295E5-DE22-4531-8CF5-BB62264AE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32475" y="4089400"/>
            <a:ext cx="194733" cy="4233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64" name="Icon tool tile">
            <a:extLst xmlns:a="http://schemas.openxmlformats.org/drawingml/2006/main">
              <a:ext uri="{FF2B5EF4-FFF2-40B4-BE49-F238E27FC236}">
                <a16:creationId xmlns:a16="http://schemas.microsoft.com/office/drawing/2014/main" id="{B106A376-FC94-412C-873F-0B5A3955C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410700" y="3886200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16933">
            <a:solidFill>
              <a:srgbClr val="C0C0C0"/>
            </a:solidFill>
            <a:prstDash val="solid"/>
          </a:ln>
        </p:spPr>
      </p:sp>
      <p:sp>
        <p:nvSpPr>
          <p:cNvPr id="65" name="Icon tool gear ring">
            <a:extLst xmlns:a="http://schemas.openxmlformats.org/drawingml/2006/main">
              <a:ext uri="{FF2B5EF4-FFF2-40B4-BE49-F238E27FC236}">
                <a16:creationId xmlns:a16="http://schemas.microsoft.com/office/drawing/2014/main" id="{ECA06E02-A4FC-415A-98F9-562D0AEB9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2300" y="3987800"/>
            <a:ext cx="254000" cy="2540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C0C0C0"/>
            </a:solidFill>
            <a:prstDash val="solid"/>
          </a:ln>
        </p:spPr>
      </p:sp>
      <p:sp>
        <p:nvSpPr>
          <p:cNvPr id="66" name="Icon tool gear core">
            <a:extLst xmlns:a="http://schemas.openxmlformats.org/drawingml/2006/main">
              <a:ext uri="{FF2B5EF4-FFF2-40B4-BE49-F238E27FC236}">
                <a16:creationId xmlns:a16="http://schemas.microsoft.com/office/drawing/2014/main" id="{F7F09CA9-338D-4BF3-A0CD-DF9326118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8500" y="4064000"/>
            <a:ext cx="101600" cy="101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67" name="Icon tool gear tooth top">
            <a:extLst xmlns:a="http://schemas.openxmlformats.org/drawingml/2006/main">
              <a:ext uri="{FF2B5EF4-FFF2-40B4-BE49-F238E27FC236}">
                <a16:creationId xmlns:a16="http://schemas.microsoft.com/office/drawing/2014/main" id="{7B75C68F-A7F3-4FB8-AB3F-ADD3618A2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13900" y="3928533"/>
            <a:ext cx="508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0">
            <a:solidFill>
              <a:srgbClr val="C0C0C0"/>
            </a:solidFill>
            <a:prstDash val="solid"/>
          </a:ln>
        </p:spPr>
      </p:sp>
      <p:sp>
        <p:nvSpPr>
          <p:cNvPr id="68" name="Icon tool gear tooth bottom">
            <a:extLst xmlns:a="http://schemas.openxmlformats.org/drawingml/2006/main">
              <a:ext uri="{FF2B5EF4-FFF2-40B4-BE49-F238E27FC236}">
                <a16:creationId xmlns:a16="http://schemas.microsoft.com/office/drawing/2014/main" id="{63F2EF61-680D-4CBF-BAD6-1B2624388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13900" y="4224867"/>
            <a:ext cx="508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0">
            <a:solidFill>
              <a:srgbClr val="C0C0C0"/>
            </a:solidFill>
            <a:prstDash val="solid"/>
          </a:ln>
        </p:spPr>
      </p:sp>
      <p:sp>
        <p:nvSpPr>
          <p:cNvPr id="69" name="Icon tool gear tooth left">
            <a:extLst xmlns:a="http://schemas.openxmlformats.org/drawingml/2006/main">
              <a:ext uri="{FF2B5EF4-FFF2-40B4-BE49-F238E27FC236}">
                <a16:creationId xmlns:a16="http://schemas.microsoft.com/office/drawing/2014/main" id="{974F62BA-A54F-44FF-966E-58F6CF0A4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453033" y="4089400"/>
            <a:ext cx="76200" cy="5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0">
            <a:solidFill>
              <a:srgbClr val="C0C0C0"/>
            </a:solidFill>
            <a:prstDash val="solid"/>
          </a:ln>
        </p:spPr>
      </p:sp>
      <p:sp>
        <p:nvSpPr>
          <p:cNvPr id="70" name="Icon tool gear tooth right">
            <a:extLst xmlns:a="http://schemas.openxmlformats.org/drawingml/2006/main">
              <a:ext uri="{FF2B5EF4-FFF2-40B4-BE49-F238E27FC236}">
                <a16:creationId xmlns:a16="http://schemas.microsoft.com/office/drawing/2014/main" id="{B4679B97-398D-4C14-9A93-BC114A9BB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49367" y="4089400"/>
            <a:ext cx="76200" cy="5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0">
            <a:solidFill>
              <a:srgbClr val="C0C0C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97194092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0808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6A688D27-8FF8-4A53-8B81-5D2140868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048"/>
            <a:ext cx="11094415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1" spc="20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SECTION 03 · SOLUTIONS</a:t>
            </a:r>
            <a:endParaRPr sz="12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85E9F346-D27A-4C55-8F6D-7BC689301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31520"/>
            <a:ext cx="11094415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rPr>
              <a:t>Current Status</a:t>
            </a:r>
            <a:endParaRPr sz="3000"/>
          </a:p>
        </p:txBody>
      </p:sp>
      <p:sp>
        <p:nvSpPr>
          <p:cNvPr id="6" name="Text 2">
            <a:extLst xmlns:a="http://schemas.openxmlformats.org/drawingml/2006/main">
              <a:ext uri="{FF2B5EF4-FFF2-40B4-BE49-F238E27FC236}">
                <a16:creationId xmlns:a16="http://schemas.microsoft.com/office/drawing/2014/main" id="{C9122C38-EA79-4846-8A8D-45AD8A739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286000"/>
            <a:ext cx="6400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700" b="0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1700" b="0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1700" b="0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1700" b="0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1700" b="0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1700" b="0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1700" b="0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1700" b="0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1700" b="0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1700" b="0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1700" b="0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700" b="0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The replacement Pi 4 boots to desktop. The merged update adds stream readahead and smoother player cleanup; playback still needs testing on the Pi.</a:t>
            </a:r>
            <a:endParaRPr sz="1700"/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0EF6D196-DB5E-4677-B657-229AF8FD4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355080"/>
            <a:ext cx="5486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14</a:t>
            </a:r>
            <a:endParaRPr sz="1000"/>
          </a:p>
        </p:txBody>
      </p:sp>
      <p:sp>
        <p:nvSpPr>
          <p:cNvPr id="9" name="Icon pi tile">
            <a:extLst xmlns:a="http://schemas.openxmlformats.org/drawingml/2006/main">
              <a:ext uri="{FF2B5EF4-FFF2-40B4-BE49-F238E27FC236}">
                <a16:creationId xmlns:a16="http://schemas.microsoft.com/office/drawing/2014/main" id="{8CE94074-C508-4178-A9D9-DC3DF4CAC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01275" y="15811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20461">
            <a:solidFill>
              <a:srgbClr val="C0C0C0"/>
            </a:solidFill>
            <a:prstDash val="solid"/>
          </a:ln>
        </p:spPr>
      </p:sp>
      <p:sp>
        <p:nvSpPr>
          <p:cNvPr id="10" name="Icon pi board">
            <a:extLst xmlns:a="http://schemas.openxmlformats.org/drawingml/2006/main">
              <a:ext uri="{FF2B5EF4-FFF2-40B4-BE49-F238E27FC236}">
                <a16:creationId xmlns:a16="http://schemas.microsoft.com/office/drawing/2014/main" id="{E598B73A-4C28-417A-AF6F-9CDD0F9FF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83119" y="1652764"/>
            <a:ext cx="388761" cy="4092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080"/>
          </a:solidFill>
          <a:ln xmlns:a="http://schemas.openxmlformats.org/drawingml/2006/main" w="20461">
            <a:solidFill>
              <a:srgbClr val="C0C0C0"/>
            </a:solidFill>
            <a:prstDash val="solid"/>
          </a:ln>
        </p:spPr>
      </p:sp>
      <p:sp>
        <p:nvSpPr>
          <p:cNvPr id="11" name="Icon pi processor">
            <a:extLst xmlns:a="http://schemas.openxmlformats.org/drawingml/2006/main">
              <a:ext uri="{FF2B5EF4-FFF2-40B4-BE49-F238E27FC236}">
                <a16:creationId xmlns:a16="http://schemas.microsoft.com/office/drawing/2014/main" id="{64BDE621-F62E-440D-84A0-2D077C7C5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385425" y="1744839"/>
            <a:ext cx="184150" cy="18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20461">
            <a:solidFill>
              <a:srgbClr val="FFFF00"/>
            </a:solidFill>
            <a:prstDash val="solid"/>
          </a:ln>
        </p:spPr>
      </p:sp>
      <p:sp>
        <p:nvSpPr>
          <p:cNvPr id="12" name="Icon pi left pin 0">
            <a:extLst xmlns:a="http://schemas.openxmlformats.org/drawingml/2006/main">
              <a:ext uri="{FF2B5EF4-FFF2-40B4-BE49-F238E27FC236}">
                <a16:creationId xmlns:a16="http://schemas.microsoft.com/office/drawing/2014/main" id="{D34E24BC-5184-4CC1-B046-71AD8E577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42197" y="1693686"/>
            <a:ext cx="40922" cy="306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13" name="Icon pi right pin 0">
            <a:extLst xmlns:a="http://schemas.openxmlformats.org/drawingml/2006/main">
              <a:ext uri="{FF2B5EF4-FFF2-40B4-BE49-F238E27FC236}">
                <a16:creationId xmlns:a16="http://schemas.microsoft.com/office/drawing/2014/main" id="{E8CA349C-27B7-4602-8667-13E208D0C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671881" y="1693686"/>
            <a:ext cx="40922" cy="306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14" name="Icon pi left pin 1">
            <a:extLst xmlns:a="http://schemas.openxmlformats.org/drawingml/2006/main">
              <a:ext uri="{FF2B5EF4-FFF2-40B4-BE49-F238E27FC236}">
                <a16:creationId xmlns:a16="http://schemas.microsoft.com/office/drawing/2014/main" id="{00E6ACC9-3766-4E39-B06C-46BE5D984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42197" y="1775531"/>
            <a:ext cx="40922" cy="306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15" name="Icon pi right pin 1">
            <a:extLst xmlns:a="http://schemas.openxmlformats.org/drawingml/2006/main">
              <a:ext uri="{FF2B5EF4-FFF2-40B4-BE49-F238E27FC236}">
                <a16:creationId xmlns:a16="http://schemas.microsoft.com/office/drawing/2014/main" id="{B1C5B5C8-3DB5-4063-820D-1DE7AAF5E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671881" y="1775531"/>
            <a:ext cx="40922" cy="306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16" name="Icon pi left pin 2">
            <a:extLst xmlns:a="http://schemas.openxmlformats.org/drawingml/2006/main">
              <a:ext uri="{FF2B5EF4-FFF2-40B4-BE49-F238E27FC236}">
                <a16:creationId xmlns:a16="http://schemas.microsoft.com/office/drawing/2014/main" id="{F24C5191-EE05-44FF-AED3-A7CA68F2D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42197" y="1857375"/>
            <a:ext cx="40922" cy="306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17" name="Icon pi right pin 2">
            <a:extLst xmlns:a="http://schemas.openxmlformats.org/drawingml/2006/main">
              <a:ext uri="{FF2B5EF4-FFF2-40B4-BE49-F238E27FC236}">
                <a16:creationId xmlns:a16="http://schemas.microsoft.com/office/drawing/2014/main" id="{C3982243-5FE0-4CCD-8174-71F00EAD7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671881" y="1857375"/>
            <a:ext cx="40922" cy="306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18" name="Icon pi left pin 3">
            <a:extLst xmlns:a="http://schemas.openxmlformats.org/drawingml/2006/main">
              <a:ext uri="{FF2B5EF4-FFF2-40B4-BE49-F238E27FC236}">
                <a16:creationId xmlns:a16="http://schemas.microsoft.com/office/drawing/2014/main" id="{F18A42CD-C632-434E-B518-AF901D6EA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42197" y="1939219"/>
            <a:ext cx="40922" cy="306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19" name="Icon pi right pin 3">
            <a:extLst xmlns:a="http://schemas.openxmlformats.org/drawingml/2006/main">
              <a:ext uri="{FF2B5EF4-FFF2-40B4-BE49-F238E27FC236}">
                <a16:creationId xmlns:a16="http://schemas.microsoft.com/office/drawing/2014/main" id="{2E04F8CE-2336-4CF0-89EC-35211355E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671881" y="1939219"/>
            <a:ext cx="40922" cy="306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83047200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0808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0">
            <a:extLst xmlns:a="http://schemas.openxmlformats.org/drawingml/2006/main">
              <a:ext uri="{FF2B5EF4-FFF2-40B4-BE49-F238E27FC236}">
                <a16:creationId xmlns:a16="http://schemas.microsoft.com/office/drawing/2014/main" id="{A4147391-3E51-44EE-A52E-1A50B0A4A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63240"/>
            <a:ext cx="12191695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6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6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6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6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6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6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6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6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6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6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6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00" b="1" spc="400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rPr>
              <a:t>SECTION 04</a:t>
            </a:r>
            <a:endParaRPr sz="1600"/>
          </a:p>
        </p:txBody>
      </p:sp>
      <p:sp>
        <p:nvSpPr>
          <p:cNvPr id="5" name="Text 1">
            <a:extLst xmlns:a="http://schemas.openxmlformats.org/drawingml/2006/main">
              <a:ext uri="{FF2B5EF4-FFF2-40B4-BE49-F238E27FC236}">
                <a16:creationId xmlns:a16="http://schemas.microsoft.com/office/drawing/2014/main" id="{D013CB1E-7B02-4C34-BA4D-2FE62A3AB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520440"/>
            <a:ext cx="12191695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4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4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4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4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4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4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4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4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4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4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4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4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THE WIRING</a:t>
            </a:r>
            <a:endParaRPr sz="4000"/>
          </a:p>
        </p:txBody>
      </p:sp>
      <p:sp>
        <p:nvSpPr>
          <p:cNvPr id="6" name="Text 2">
            <a:extLst xmlns:a="http://schemas.openxmlformats.org/drawingml/2006/main">
              <a:ext uri="{FF2B5EF4-FFF2-40B4-BE49-F238E27FC236}">
                <a16:creationId xmlns:a16="http://schemas.microsoft.com/office/drawing/2014/main" id="{E62B0A09-A152-464D-9C8D-3102A9869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448" y="4343400"/>
            <a:ext cx="6400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4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4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4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4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4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4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4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4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4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4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4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How every part connects</a:t>
            </a:r>
            <a:endParaRPr sz="1400"/>
          </a:p>
        </p:txBody>
      </p:sp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5B58085F-8706-4A55-AE0A-84F5DC421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355080"/>
            <a:ext cx="5486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15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45063066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0808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4F4E91E9-2A85-4A2A-A39D-471C02CC1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048"/>
            <a:ext cx="11094415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1" spc="20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SECTION 04 · THE WIRING</a:t>
            </a:r>
            <a:endParaRPr sz="12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27F6EEB3-3FA8-4EC2-B48F-32A12AB68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31520"/>
            <a:ext cx="11094415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rPr>
              <a:t>Wiring Overview</a:t>
            </a:r>
            <a:endParaRPr sz="3000"/>
          </a:p>
        </p:txBody>
      </p:sp>
      <p:sp>
        <p:nvSpPr>
          <p:cNvPr id="6" name="Text 2">
            <a:extLst xmlns:a="http://schemas.openxmlformats.org/drawingml/2006/main">
              <a:ext uri="{FF2B5EF4-FFF2-40B4-BE49-F238E27FC236}">
                <a16:creationId xmlns:a16="http://schemas.microsoft.com/office/drawing/2014/main" id="{E865C4EB-3153-4978-84D3-2C20F9A10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322576"/>
            <a:ext cx="3515258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Joystick</a:t>
            </a:r>
            <a:endParaRPr sz="1450"/>
          </a:p>
        </p:txBody>
      </p:sp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759B26E1-076E-46B9-B806-CC9D8A231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798064"/>
            <a:ext cx="3515258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Arduino digital pins, plus one for the click button</a:t>
            </a:r>
            <a:endParaRPr sz="1150"/>
          </a:p>
        </p:txBody>
      </p:sp>
      <p:sp>
        <p:nvSpPr>
          <p:cNvPr id="9" name="Text 4">
            <a:extLst xmlns:a="http://schemas.openxmlformats.org/drawingml/2006/main">
              <a:ext uri="{FF2B5EF4-FFF2-40B4-BE49-F238E27FC236}">
                <a16:creationId xmlns:a16="http://schemas.microsoft.com/office/drawing/2014/main" id="{B587625B-4A8A-4C2A-B6F5-148ECF33E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8218" y="2322576"/>
            <a:ext cx="3515258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Volume Encoder</a:t>
            </a:r>
            <a:endParaRPr sz="1450"/>
          </a:p>
        </p:txBody>
      </p:sp>
      <p:sp>
        <p:nvSpPr>
          <p:cNvPr id="10" name="Text 5">
            <a:extLst xmlns:a="http://schemas.openxmlformats.org/drawingml/2006/main">
              <a:ext uri="{FF2B5EF4-FFF2-40B4-BE49-F238E27FC236}">
                <a16:creationId xmlns:a16="http://schemas.microsoft.com/office/drawing/2014/main" id="{B579CAA7-BA31-4943-BC38-D33EEDB41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8218" y="2798064"/>
            <a:ext cx="3515258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The Uno sends volume-up and volume-down commands</a:t>
            </a:r>
            <a:endParaRPr sz="1150"/>
          </a:p>
        </p:txBody>
      </p:sp>
      <p:sp>
        <p:nvSpPr>
          <p:cNvPr id="12" name="Text 6">
            <a:extLst xmlns:a="http://schemas.openxmlformats.org/drawingml/2006/main">
              <a:ext uri="{FF2B5EF4-FFF2-40B4-BE49-F238E27FC236}">
                <a16:creationId xmlns:a16="http://schemas.microsoft.com/office/drawing/2014/main" id="{EE337A4B-2675-47E1-8320-E4A361A06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7797" y="2322576"/>
            <a:ext cx="3515258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Power Button</a:t>
            </a:r>
            <a:endParaRPr sz="1450"/>
          </a:p>
        </p:txBody>
      </p:sp>
      <p:sp>
        <p:nvSpPr>
          <p:cNvPr id="13" name="Text 7">
            <a:extLst xmlns:a="http://schemas.openxmlformats.org/drawingml/2006/main">
              <a:ext uri="{FF2B5EF4-FFF2-40B4-BE49-F238E27FC236}">
                <a16:creationId xmlns:a16="http://schemas.microsoft.com/office/drawing/2014/main" id="{401CE18E-3711-45AE-8FAB-2A23B618D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7797" y="2798064"/>
            <a:ext cx="3515258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Connected directly to Pi GPIO3 and ground</a:t>
            </a:r>
            <a:endParaRPr sz="1150"/>
          </a:p>
        </p:txBody>
      </p:sp>
      <p:sp>
        <p:nvSpPr>
          <p:cNvPr id="15" name="Text 8">
            <a:extLst xmlns:a="http://schemas.openxmlformats.org/drawingml/2006/main">
              <a:ext uri="{FF2B5EF4-FFF2-40B4-BE49-F238E27FC236}">
                <a16:creationId xmlns:a16="http://schemas.microsoft.com/office/drawing/2014/main" id="{43276B14-9A6D-408F-8482-B062DF04D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608576"/>
            <a:ext cx="3515258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Arduino -&gt; Pi</a:t>
            </a:r>
            <a:endParaRPr sz="1450"/>
          </a:p>
        </p:txBody>
      </p:sp>
      <p:sp>
        <p:nvSpPr>
          <p:cNvPr id="16" name="Text 9">
            <a:extLst xmlns:a="http://schemas.openxmlformats.org/drawingml/2006/main">
              <a:ext uri="{FF2B5EF4-FFF2-40B4-BE49-F238E27FC236}">
                <a16:creationId xmlns:a16="http://schemas.microsoft.com/office/drawing/2014/main" id="{7D8ECA90-2F7B-4748-B52C-B9E75E380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084064"/>
            <a:ext cx="3515258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USB, sending plain text commands over serial</a:t>
            </a:r>
            <a:endParaRPr sz="1150"/>
          </a:p>
        </p:txBody>
      </p:sp>
      <p:sp>
        <p:nvSpPr>
          <p:cNvPr id="18" name="Text 10">
            <a:extLst xmlns:a="http://schemas.openxmlformats.org/drawingml/2006/main">
              <a:ext uri="{FF2B5EF4-FFF2-40B4-BE49-F238E27FC236}">
                <a16:creationId xmlns:a16="http://schemas.microsoft.com/office/drawing/2014/main" id="{623B091F-B991-4015-9B8B-1240BD5F7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8218" y="4608576"/>
            <a:ext cx="3515258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Pi -&gt; Monitor</a:t>
            </a:r>
            <a:endParaRPr sz="1450"/>
          </a:p>
        </p:txBody>
      </p:sp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00C26C22-C867-4794-A663-A0DFA4CF6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8218" y="5084064"/>
            <a:ext cx="3515258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HDMI cable carries video straight to the monitor</a:t>
            </a:r>
            <a:endParaRPr sz="1150"/>
          </a:p>
        </p:txBody>
      </p:sp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C65635B4-5DAE-4B7A-9065-33BCF70C9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7797" y="4608576"/>
            <a:ext cx="3515258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No driver board</a:t>
            </a:r>
            <a:endParaRPr sz="1450"/>
          </a:p>
        </p:txBody>
      </p:sp>
      <p:sp>
        <p:nvSpPr>
          <p:cNvPr id="22" name="Text 13">
            <a:extLst xmlns:a="http://schemas.openxmlformats.org/drawingml/2006/main">
              <a:ext uri="{FF2B5EF4-FFF2-40B4-BE49-F238E27FC236}">
                <a16:creationId xmlns:a16="http://schemas.microsoft.com/office/drawing/2014/main" id="{CCA66977-8C35-4889-9576-8C4FA5478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7797" y="5084064"/>
            <a:ext cx="3515258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The HDMI monitor has its own display electronics</a:t>
            </a:r>
            <a:endParaRPr sz="1150"/>
          </a:p>
        </p:txBody>
      </p:sp>
      <p:sp>
        <p:nvSpPr>
          <p:cNvPr id="23" name="Text 14">
            <a:extLst xmlns:a="http://schemas.openxmlformats.org/drawingml/2006/main">
              <a:ext uri="{FF2B5EF4-FFF2-40B4-BE49-F238E27FC236}">
                <a16:creationId xmlns:a16="http://schemas.microsoft.com/office/drawing/2014/main" id="{88D1212B-6DF8-4008-89F7-6161B20D0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355080"/>
            <a:ext cx="5486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16</a:t>
            </a:r>
            <a:endParaRPr sz="1000"/>
          </a:p>
        </p:txBody>
      </p:sp>
      <p:sp>
        <p:nvSpPr>
          <p:cNvPr id="24" name="Icon joystick tile">
            <a:extLst xmlns:a="http://schemas.openxmlformats.org/drawingml/2006/main">
              <a:ext uri="{FF2B5EF4-FFF2-40B4-BE49-F238E27FC236}">
                <a16:creationId xmlns:a16="http://schemas.microsoft.com/office/drawing/2014/main" id="{CFECBDE2-0FFC-40D5-9F52-C361E06DF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19275" y="1562100"/>
            <a:ext cx="495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18344">
            <a:solidFill>
              <a:srgbClr val="C0C0C0"/>
            </a:solidFill>
            <a:prstDash val="solid"/>
          </a:ln>
        </p:spPr>
      </p:sp>
      <p:sp>
        <p:nvSpPr>
          <p:cNvPr id="25" name="Icon joystick base">
            <a:extLst xmlns:a="http://schemas.openxmlformats.org/drawingml/2006/main">
              <a:ext uri="{FF2B5EF4-FFF2-40B4-BE49-F238E27FC236}">
                <a16:creationId xmlns:a16="http://schemas.microsoft.com/office/drawing/2014/main" id="{EB4EA735-1951-44DD-BD34-91CB37359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10997" y="1855611"/>
            <a:ext cx="311856" cy="10089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9172">
            <a:solidFill>
              <a:srgbClr val="404040"/>
            </a:solidFill>
            <a:prstDash val="solid"/>
          </a:ln>
        </p:spPr>
      </p:sp>
      <p:sp>
        <p:nvSpPr>
          <p:cNvPr id="26" name="Icon joystick stick">
            <a:extLst xmlns:a="http://schemas.openxmlformats.org/drawingml/2006/main">
              <a:ext uri="{FF2B5EF4-FFF2-40B4-BE49-F238E27FC236}">
                <a16:creationId xmlns:a16="http://schemas.microsoft.com/office/drawing/2014/main" id="{A1E0743F-C195-4D43-9010-9A73D788A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48581" y="1699683"/>
            <a:ext cx="45861" cy="1742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0">
            <a:solidFill>
              <a:srgbClr val="C0C0C0"/>
            </a:solidFill>
            <a:prstDash val="solid"/>
          </a:ln>
        </p:spPr>
      </p:sp>
      <p:sp>
        <p:nvSpPr>
          <p:cNvPr id="27" name="Icon joystick ball">
            <a:extLst xmlns:a="http://schemas.openxmlformats.org/drawingml/2006/main">
              <a:ext uri="{FF2B5EF4-FFF2-40B4-BE49-F238E27FC236}">
                <a16:creationId xmlns:a16="http://schemas.microsoft.com/office/drawing/2014/main" id="{95A5E29D-EA39-43B2-9FA5-887CE26F3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547" y="1644650"/>
            <a:ext cx="155928" cy="155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9172">
            <a:solidFill>
              <a:srgbClr val="404040"/>
            </a:solidFill>
            <a:prstDash val="solid"/>
          </a:ln>
        </p:spPr>
      </p:sp>
      <p:sp>
        <p:nvSpPr>
          <p:cNvPr id="28" name="Icon knob tile">
            <a:extLst xmlns:a="http://schemas.openxmlformats.org/drawingml/2006/main">
              <a:ext uri="{FF2B5EF4-FFF2-40B4-BE49-F238E27FC236}">
                <a16:creationId xmlns:a16="http://schemas.microsoft.com/office/drawing/2014/main" id="{D549D81C-5C8A-4AC4-B435-8286C6249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10225" y="1562100"/>
            <a:ext cx="495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18344">
            <a:solidFill>
              <a:srgbClr val="C0C0C0"/>
            </a:solidFill>
            <a:prstDash val="solid"/>
          </a:ln>
        </p:spPr>
      </p:sp>
      <p:sp>
        <p:nvSpPr>
          <p:cNvPr id="29" name="Icon knob dial">
            <a:extLst xmlns:a="http://schemas.openxmlformats.org/drawingml/2006/main">
              <a:ext uri="{FF2B5EF4-FFF2-40B4-BE49-F238E27FC236}">
                <a16:creationId xmlns:a16="http://schemas.microsoft.com/office/drawing/2014/main" id="{26372B23-0B22-4482-8DB2-FC95BC711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1947" y="1653822"/>
            <a:ext cx="311856" cy="3118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9172">
            <a:solidFill>
              <a:srgbClr val="C0C0C0"/>
            </a:solidFill>
            <a:prstDash val="solid"/>
          </a:ln>
        </p:spPr>
      </p:sp>
      <p:sp>
        <p:nvSpPr>
          <p:cNvPr id="30" name="Icon knob dial center">
            <a:extLst xmlns:a="http://schemas.openxmlformats.org/drawingml/2006/main">
              <a:ext uri="{FF2B5EF4-FFF2-40B4-BE49-F238E27FC236}">
                <a16:creationId xmlns:a16="http://schemas.microsoft.com/office/drawing/2014/main" id="{D43BCEAF-DD0D-4E7B-AF81-D5BC497A2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6981" y="1708856"/>
            <a:ext cx="201789" cy="2017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9172">
            <a:solidFill>
              <a:srgbClr val="404040"/>
            </a:solidFill>
            <a:prstDash val="solid"/>
          </a:ln>
        </p:spPr>
      </p:sp>
      <p:sp>
        <p:nvSpPr>
          <p:cNvPr id="31" name="Icon knob pointer">
            <a:extLst xmlns:a="http://schemas.openxmlformats.org/drawingml/2006/main">
              <a:ext uri="{FF2B5EF4-FFF2-40B4-BE49-F238E27FC236}">
                <a16:creationId xmlns:a16="http://schemas.microsoft.com/office/drawing/2014/main" id="{7444571D-34A0-47CA-9063-7D4BC3FE3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48703" y="1662994"/>
            <a:ext cx="27517" cy="12841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32" name="Icon power tile">
            <a:extLst xmlns:a="http://schemas.openxmlformats.org/drawingml/2006/main">
              <a:ext uri="{FF2B5EF4-FFF2-40B4-BE49-F238E27FC236}">
                <a16:creationId xmlns:a16="http://schemas.microsoft.com/office/drawing/2014/main" id="{0D3CE115-2C17-4D9E-8500-3650AA808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391650" y="1562100"/>
            <a:ext cx="495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18344">
            <a:solidFill>
              <a:srgbClr val="C0C0C0"/>
            </a:solidFill>
            <a:prstDash val="solid"/>
          </a:ln>
        </p:spPr>
      </p:sp>
      <p:sp>
        <p:nvSpPr>
          <p:cNvPr id="33" name="Icon power power ring">
            <a:extLst xmlns:a="http://schemas.openxmlformats.org/drawingml/2006/main">
              <a:ext uri="{FF2B5EF4-FFF2-40B4-BE49-F238E27FC236}">
                <a16:creationId xmlns:a16="http://schemas.microsoft.com/office/drawing/2014/main" id="{20EB7B85-C1C6-4E3D-9143-A45FB2CF1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1717" y="1681339"/>
            <a:ext cx="275167" cy="275167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7517">
            <a:solidFill>
              <a:srgbClr val="C0C0C0"/>
            </a:solidFill>
            <a:prstDash val="solid"/>
          </a:ln>
        </p:spPr>
      </p:sp>
      <p:sp>
        <p:nvSpPr>
          <p:cNvPr id="34" name="Icon power power stem">
            <a:extLst xmlns:a="http://schemas.openxmlformats.org/drawingml/2006/main">
              <a:ext uri="{FF2B5EF4-FFF2-40B4-BE49-F238E27FC236}">
                <a16:creationId xmlns:a16="http://schemas.microsoft.com/office/drawing/2014/main" id="{8D62291D-2A43-48AF-B3A4-7D1F629C2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20956" y="1626306"/>
            <a:ext cx="36689" cy="19261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35" name="Icon cable tile">
            <a:extLst xmlns:a="http://schemas.openxmlformats.org/drawingml/2006/main">
              <a:ext uri="{FF2B5EF4-FFF2-40B4-BE49-F238E27FC236}">
                <a16:creationId xmlns:a16="http://schemas.microsoft.com/office/drawing/2014/main" id="{B5F0D626-C18F-4FFA-BB20-5B198FCC9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19275" y="3848100"/>
            <a:ext cx="495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18344">
            <a:solidFill>
              <a:srgbClr val="C0C0C0"/>
            </a:solidFill>
            <a:prstDash val="solid"/>
          </a:ln>
        </p:spPr>
      </p:sp>
      <p:sp>
        <p:nvSpPr>
          <p:cNvPr id="36" name="Icon cable board">
            <a:extLst xmlns:a="http://schemas.openxmlformats.org/drawingml/2006/main">
              <a:ext uri="{FF2B5EF4-FFF2-40B4-BE49-F238E27FC236}">
                <a16:creationId xmlns:a16="http://schemas.microsoft.com/office/drawing/2014/main" id="{9299E2F6-9A01-446B-A9A4-068294FB4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92653" y="3912306"/>
            <a:ext cx="348544" cy="3668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080"/>
          </a:solidFill>
          <a:ln xmlns:a="http://schemas.openxmlformats.org/drawingml/2006/main" w="18344">
            <a:solidFill>
              <a:srgbClr val="C0C0C0"/>
            </a:solidFill>
            <a:prstDash val="solid"/>
          </a:ln>
        </p:spPr>
      </p:sp>
      <p:sp>
        <p:nvSpPr>
          <p:cNvPr id="37" name="Icon cable processor">
            <a:extLst xmlns:a="http://schemas.openxmlformats.org/drawingml/2006/main">
              <a:ext uri="{FF2B5EF4-FFF2-40B4-BE49-F238E27FC236}">
                <a16:creationId xmlns:a16="http://schemas.microsoft.com/office/drawing/2014/main" id="{152941C9-0CC7-4722-97D0-DD8938110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84375" y="3994856"/>
            <a:ext cx="165100" cy="165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18344">
            <a:solidFill>
              <a:srgbClr val="FFFF00"/>
            </a:solidFill>
            <a:prstDash val="solid"/>
          </a:ln>
        </p:spPr>
      </p:sp>
      <p:sp>
        <p:nvSpPr>
          <p:cNvPr id="38" name="Icon cable left pin 0">
            <a:extLst xmlns:a="http://schemas.openxmlformats.org/drawingml/2006/main">
              <a:ext uri="{FF2B5EF4-FFF2-40B4-BE49-F238E27FC236}">
                <a16:creationId xmlns:a16="http://schemas.microsoft.com/office/drawing/2014/main" id="{A0C33D88-9E09-4212-93DE-721451417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55964" y="3948994"/>
            <a:ext cx="36689" cy="2751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39" name="Icon cable right pin 0">
            <a:extLst xmlns:a="http://schemas.openxmlformats.org/drawingml/2006/main">
              <a:ext uri="{FF2B5EF4-FFF2-40B4-BE49-F238E27FC236}">
                <a16:creationId xmlns:a16="http://schemas.microsoft.com/office/drawing/2014/main" id="{4288B435-CAC9-46C2-A57D-5CC1778F4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41197" y="3948994"/>
            <a:ext cx="36689" cy="2751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40" name="Icon cable left pin 1">
            <a:extLst xmlns:a="http://schemas.openxmlformats.org/drawingml/2006/main">
              <a:ext uri="{FF2B5EF4-FFF2-40B4-BE49-F238E27FC236}">
                <a16:creationId xmlns:a16="http://schemas.microsoft.com/office/drawing/2014/main" id="{87608158-5465-4743-BB53-5B390450C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55964" y="4022372"/>
            <a:ext cx="36689" cy="2751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41" name="Icon cable right pin 1">
            <a:extLst xmlns:a="http://schemas.openxmlformats.org/drawingml/2006/main">
              <a:ext uri="{FF2B5EF4-FFF2-40B4-BE49-F238E27FC236}">
                <a16:creationId xmlns:a16="http://schemas.microsoft.com/office/drawing/2014/main" id="{51895FFA-1360-4482-BC93-954429DDE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41197" y="4022372"/>
            <a:ext cx="36689" cy="2751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42" name="Icon cable left pin 2">
            <a:extLst xmlns:a="http://schemas.openxmlformats.org/drawingml/2006/main">
              <a:ext uri="{FF2B5EF4-FFF2-40B4-BE49-F238E27FC236}">
                <a16:creationId xmlns:a16="http://schemas.microsoft.com/office/drawing/2014/main" id="{5C29CD63-34B5-4F6B-B316-A605BE310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55964" y="4095750"/>
            <a:ext cx="36689" cy="2751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43" name="Icon cable right pin 2">
            <a:extLst xmlns:a="http://schemas.openxmlformats.org/drawingml/2006/main">
              <a:ext uri="{FF2B5EF4-FFF2-40B4-BE49-F238E27FC236}">
                <a16:creationId xmlns:a16="http://schemas.microsoft.com/office/drawing/2014/main" id="{BC148E98-4AFA-4BF4-99DD-530FCD438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41197" y="4095750"/>
            <a:ext cx="36689" cy="2751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44" name="Icon cable left pin 3">
            <a:extLst xmlns:a="http://schemas.openxmlformats.org/drawingml/2006/main">
              <a:ext uri="{FF2B5EF4-FFF2-40B4-BE49-F238E27FC236}">
                <a16:creationId xmlns:a16="http://schemas.microsoft.com/office/drawing/2014/main" id="{616000A9-4CD6-4D14-9110-E3F8C15CF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55964" y="4169128"/>
            <a:ext cx="36689" cy="2751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45" name="Icon cable right pin 3">
            <a:extLst xmlns:a="http://schemas.openxmlformats.org/drawingml/2006/main">
              <a:ext uri="{FF2B5EF4-FFF2-40B4-BE49-F238E27FC236}">
                <a16:creationId xmlns:a16="http://schemas.microsoft.com/office/drawing/2014/main" id="{5E3667AD-F2C7-407D-B300-7A1AED015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41197" y="4169128"/>
            <a:ext cx="36689" cy="2751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46" name="Icon cable connector">
            <a:extLst xmlns:a="http://schemas.openxmlformats.org/drawingml/2006/main">
              <a:ext uri="{FF2B5EF4-FFF2-40B4-BE49-F238E27FC236}">
                <a16:creationId xmlns:a16="http://schemas.microsoft.com/office/drawing/2014/main" id="{77964389-284F-41B1-8FD9-98050BD10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56858" y="4022372"/>
            <a:ext cx="220133" cy="1100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9172">
            <a:solidFill>
              <a:srgbClr val="FFFF00"/>
            </a:solidFill>
            <a:prstDash val="solid"/>
          </a:ln>
        </p:spPr>
      </p:sp>
      <p:sp>
        <p:nvSpPr>
          <p:cNvPr id="47" name="Icon cable cable">
            <a:extLst xmlns:a="http://schemas.openxmlformats.org/drawingml/2006/main">
              <a:ext uri="{FF2B5EF4-FFF2-40B4-BE49-F238E27FC236}">
                <a16:creationId xmlns:a16="http://schemas.microsoft.com/office/drawing/2014/main" id="{3958A7BE-EF87-4FF9-ADC3-AFCD0255D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158647" y="4059061"/>
            <a:ext cx="110067" cy="366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48" name="Icon display tile">
            <a:extLst xmlns:a="http://schemas.openxmlformats.org/drawingml/2006/main">
              <a:ext uri="{FF2B5EF4-FFF2-40B4-BE49-F238E27FC236}">
                <a16:creationId xmlns:a16="http://schemas.microsoft.com/office/drawing/2014/main" id="{A41B562A-3790-45E4-84D0-A775BE957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10225" y="3848100"/>
            <a:ext cx="495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18344">
            <a:solidFill>
              <a:srgbClr val="C0C0C0"/>
            </a:solidFill>
            <a:prstDash val="solid"/>
          </a:ln>
        </p:spPr>
      </p:sp>
      <p:sp>
        <p:nvSpPr>
          <p:cNvPr id="49" name="Icon display screen frame">
            <a:extLst xmlns:a="http://schemas.openxmlformats.org/drawingml/2006/main">
              <a:ext uri="{FF2B5EF4-FFF2-40B4-BE49-F238E27FC236}">
                <a16:creationId xmlns:a16="http://schemas.microsoft.com/office/drawing/2014/main" id="{163FB13D-AD3E-4BA1-89F2-8DBA7CFCD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83603" y="3912306"/>
            <a:ext cx="348544" cy="26599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9172">
            <a:solidFill>
              <a:srgbClr val="C0C0C0"/>
            </a:solidFill>
            <a:prstDash val="solid"/>
          </a:ln>
        </p:spPr>
      </p:sp>
      <p:sp>
        <p:nvSpPr>
          <p:cNvPr id="50" name="Icon display screen">
            <a:extLst xmlns:a="http://schemas.openxmlformats.org/drawingml/2006/main">
              <a:ext uri="{FF2B5EF4-FFF2-40B4-BE49-F238E27FC236}">
                <a16:creationId xmlns:a16="http://schemas.microsoft.com/office/drawing/2014/main" id="{54B4141B-824C-42AE-991D-98D9D491E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11119" y="3939822"/>
            <a:ext cx="293511" cy="2017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080"/>
          </a:solidFill>
          <a:ln xmlns:a="http://schemas.openxmlformats.org/drawingml/2006/main" w="9172">
            <a:solidFill>
              <a:srgbClr val="404040"/>
            </a:solidFill>
            <a:prstDash val="solid"/>
          </a:ln>
        </p:spPr>
      </p:sp>
      <p:sp>
        <p:nvSpPr>
          <p:cNvPr id="51" name="Icon display screen highlight">
            <a:extLst xmlns:a="http://schemas.openxmlformats.org/drawingml/2006/main">
              <a:ext uri="{FF2B5EF4-FFF2-40B4-BE49-F238E27FC236}">
                <a16:creationId xmlns:a16="http://schemas.microsoft.com/office/drawing/2014/main" id="{2A06338B-B66B-4804-8674-4ADDC52DA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47808" y="3976511"/>
            <a:ext cx="174272" cy="2751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52" name="Icon display screen line">
            <a:extLst xmlns:a="http://schemas.openxmlformats.org/drawingml/2006/main">
              <a:ext uri="{FF2B5EF4-FFF2-40B4-BE49-F238E27FC236}">
                <a16:creationId xmlns:a16="http://schemas.microsoft.com/office/drawing/2014/main" id="{CA698238-FA59-4486-AA4D-F28AC2025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47808" y="4031544"/>
            <a:ext cx="229306" cy="183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53" name="Icon display stand">
            <a:extLst xmlns:a="http://schemas.openxmlformats.org/drawingml/2006/main">
              <a:ext uri="{FF2B5EF4-FFF2-40B4-BE49-F238E27FC236}">
                <a16:creationId xmlns:a16="http://schemas.microsoft.com/office/drawing/2014/main" id="{549C7BBF-71F7-4E68-91FB-AA9104EC4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30358" y="4178300"/>
            <a:ext cx="55033" cy="5503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0">
            <a:solidFill>
              <a:srgbClr val="C0C0C0"/>
            </a:solidFill>
            <a:prstDash val="solid"/>
          </a:ln>
        </p:spPr>
      </p:sp>
      <p:sp>
        <p:nvSpPr>
          <p:cNvPr id="54" name="Icon display foot">
            <a:extLst xmlns:a="http://schemas.openxmlformats.org/drawingml/2006/main">
              <a:ext uri="{FF2B5EF4-FFF2-40B4-BE49-F238E27FC236}">
                <a16:creationId xmlns:a16="http://schemas.microsoft.com/office/drawing/2014/main" id="{115CCFF5-2747-4AA9-8308-F4499C962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75325" y="4233333"/>
            <a:ext cx="165100" cy="2751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0">
            <a:solidFill>
              <a:srgbClr val="C0C0C0"/>
            </a:solidFill>
            <a:prstDash val="solid"/>
          </a:ln>
        </p:spPr>
      </p:sp>
      <p:sp>
        <p:nvSpPr>
          <p:cNvPr id="55" name="Icon hdmi tile">
            <a:extLst xmlns:a="http://schemas.openxmlformats.org/drawingml/2006/main">
              <a:ext uri="{FF2B5EF4-FFF2-40B4-BE49-F238E27FC236}">
                <a16:creationId xmlns:a16="http://schemas.microsoft.com/office/drawing/2014/main" id="{7B34BADD-7198-4E1E-9265-21F5E7A81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391650" y="3848100"/>
            <a:ext cx="495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18344">
            <a:solidFill>
              <a:srgbClr val="C0C0C0"/>
            </a:solidFill>
            <a:prstDash val="solid"/>
          </a:ln>
        </p:spPr>
      </p:sp>
      <p:sp>
        <p:nvSpPr>
          <p:cNvPr id="56" name="Icon hdmi screen frame">
            <a:extLst xmlns:a="http://schemas.openxmlformats.org/drawingml/2006/main">
              <a:ext uri="{FF2B5EF4-FFF2-40B4-BE49-F238E27FC236}">
                <a16:creationId xmlns:a16="http://schemas.microsoft.com/office/drawing/2014/main" id="{12ABE1D2-ED08-4079-846E-72F74B871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465028" y="3912306"/>
            <a:ext cx="348544" cy="26599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9172">
            <a:solidFill>
              <a:srgbClr val="C0C0C0"/>
            </a:solidFill>
            <a:prstDash val="solid"/>
          </a:ln>
        </p:spPr>
      </p:sp>
      <p:sp>
        <p:nvSpPr>
          <p:cNvPr id="57" name="Icon hdmi screen">
            <a:extLst xmlns:a="http://schemas.openxmlformats.org/drawingml/2006/main">
              <a:ext uri="{FF2B5EF4-FFF2-40B4-BE49-F238E27FC236}">
                <a16:creationId xmlns:a16="http://schemas.microsoft.com/office/drawing/2014/main" id="{95091078-4E32-4ADF-AEFA-B740137D4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492544" y="3939822"/>
            <a:ext cx="293511" cy="2017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080"/>
          </a:solidFill>
          <a:ln xmlns:a="http://schemas.openxmlformats.org/drawingml/2006/main" w="9172">
            <a:solidFill>
              <a:srgbClr val="404040"/>
            </a:solidFill>
            <a:prstDash val="solid"/>
          </a:ln>
        </p:spPr>
      </p:sp>
      <p:sp>
        <p:nvSpPr>
          <p:cNvPr id="58" name="Icon hdmi screen highlight">
            <a:extLst xmlns:a="http://schemas.openxmlformats.org/drawingml/2006/main">
              <a:ext uri="{FF2B5EF4-FFF2-40B4-BE49-F238E27FC236}">
                <a16:creationId xmlns:a16="http://schemas.microsoft.com/office/drawing/2014/main" id="{25FF08AC-2155-4410-BB0E-4527DBF59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29233" y="3976511"/>
            <a:ext cx="174272" cy="2751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59" name="Icon hdmi screen line">
            <a:extLst xmlns:a="http://schemas.openxmlformats.org/drawingml/2006/main">
              <a:ext uri="{FF2B5EF4-FFF2-40B4-BE49-F238E27FC236}">
                <a16:creationId xmlns:a16="http://schemas.microsoft.com/office/drawing/2014/main" id="{BF8A782A-C34F-4CB2-B535-66B7203A1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29233" y="4031544"/>
            <a:ext cx="229306" cy="183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0" name="Icon hdmi stand">
            <a:extLst xmlns:a="http://schemas.openxmlformats.org/drawingml/2006/main">
              <a:ext uri="{FF2B5EF4-FFF2-40B4-BE49-F238E27FC236}">
                <a16:creationId xmlns:a16="http://schemas.microsoft.com/office/drawing/2014/main" id="{80B279A1-D85E-4BFC-ABA8-F442890E8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11783" y="4178300"/>
            <a:ext cx="55033" cy="5503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0">
            <a:solidFill>
              <a:srgbClr val="C0C0C0"/>
            </a:solidFill>
            <a:prstDash val="solid"/>
          </a:ln>
        </p:spPr>
      </p:sp>
      <p:sp>
        <p:nvSpPr>
          <p:cNvPr id="61" name="Icon hdmi foot">
            <a:extLst xmlns:a="http://schemas.openxmlformats.org/drawingml/2006/main">
              <a:ext uri="{FF2B5EF4-FFF2-40B4-BE49-F238E27FC236}">
                <a16:creationId xmlns:a16="http://schemas.microsoft.com/office/drawing/2014/main" id="{FB80EEF7-687B-41BC-9530-51B440F1E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56750" y="4233333"/>
            <a:ext cx="165100" cy="2751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0">
            <a:solidFill>
              <a:srgbClr val="C0C0C0"/>
            </a:solidFill>
            <a:prstDash val="solid"/>
          </a:ln>
        </p:spPr>
      </p:sp>
      <p:sp>
        <p:nvSpPr>
          <p:cNvPr id="62" name="Icon hdmi HDMI plug">
            <a:extLst xmlns:a="http://schemas.openxmlformats.org/drawingml/2006/main">
              <a:ext uri="{FF2B5EF4-FFF2-40B4-BE49-F238E27FC236}">
                <a16:creationId xmlns:a16="http://schemas.microsoft.com/office/drawing/2014/main" id="{11816D64-CEEB-4DBB-8086-350C70853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10889" y="4205817"/>
            <a:ext cx="100894" cy="4586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0">
            <a:solidFill>
              <a:srgbClr val="C0C0C0"/>
            </a:solidFill>
            <a:prstDash val="solid"/>
          </a:ln>
        </p:spPr>
      </p:sp>
      <p:sp>
        <p:nvSpPr>
          <p:cNvPr id="63" name="Icon hdmi HDMI cable">
            <a:extLst xmlns:a="http://schemas.openxmlformats.org/drawingml/2006/main">
              <a:ext uri="{FF2B5EF4-FFF2-40B4-BE49-F238E27FC236}">
                <a16:creationId xmlns:a16="http://schemas.microsoft.com/office/drawing/2014/main" id="{8D7D5F52-8C20-4B33-A9B4-14FED672D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11783" y="4214989"/>
            <a:ext cx="137583" cy="2751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87788574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0808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C9AAA0D0-BDD1-4488-9CD0-39DF2B0E8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048"/>
            <a:ext cx="11094415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1" spc="20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SECTION 04 · THE WIRING</a:t>
            </a:r>
            <a:endParaRPr sz="12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668AAE76-3179-45C7-8258-0F7D72810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31520"/>
            <a:ext cx="11094415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rPr>
              <a:t>How A Button Press Travels</a:t>
            </a:r>
            <a:endParaRPr sz="3000"/>
          </a:p>
        </p:txBody>
      </p:sp>
      <p:sp>
        <p:nvSpPr>
          <p:cNvPr id="6" name="Text 2">
            <a:extLst xmlns:a="http://schemas.openxmlformats.org/drawingml/2006/main">
              <a:ext uri="{FF2B5EF4-FFF2-40B4-BE49-F238E27FC236}">
                <a16:creationId xmlns:a16="http://schemas.microsoft.com/office/drawing/2014/main" id="{BBD94F08-0123-4AE7-91BA-5D818BBC8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505456"/>
            <a:ext cx="3515258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1. ARDUINO</a:t>
            </a:r>
            <a:endParaRPr sz="1450"/>
          </a:p>
        </p:txBody>
      </p:sp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006C4731-D775-49C1-913F-B85BA7E29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980944"/>
            <a:ext cx="3515258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Reads the joystick, knob, and button; sends a command over serial</a:t>
            </a:r>
            <a:endParaRPr sz="1150"/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E81BF88-2685-44AB-82B5-9CD06751C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2186" y="1965960"/>
            <a:ext cx="23774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26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26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26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26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26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26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26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26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26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26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26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26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→</a:t>
            </a:r>
            <a:endParaRPr sz="2600"/>
          </a:p>
        </p:txBody>
      </p:sp>
      <p:sp>
        <p:nvSpPr>
          <p:cNvPr id="10" name="Text 5">
            <a:extLst xmlns:a="http://schemas.openxmlformats.org/drawingml/2006/main">
              <a:ext uri="{FF2B5EF4-FFF2-40B4-BE49-F238E27FC236}">
                <a16:creationId xmlns:a16="http://schemas.microsoft.com/office/drawing/2014/main" id="{ED6E5E3F-C922-487E-92C4-7209A47A6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8218" y="2505456"/>
            <a:ext cx="3515258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2. THE BRIDGE</a:t>
            </a:r>
            <a:endParaRPr sz="1450"/>
          </a:p>
        </p:txBody>
      </p:sp>
      <p:sp>
        <p:nvSpPr>
          <p:cNvPr id="11" name="Text 6">
            <a:extLst xmlns:a="http://schemas.openxmlformats.org/drawingml/2006/main">
              <a:ext uri="{FF2B5EF4-FFF2-40B4-BE49-F238E27FC236}">
                <a16:creationId xmlns:a16="http://schemas.microsoft.com/office/drawing/2014/main" id="{5B23AF34-BC07-48CE-A9A2-D38899265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8218" y="2980944"/>
            <a:ext cx="3515258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rpi_bridge.py turns that command into a real key or mouse event</a:t>
            </a:r>
            <a:endParaRPr sz="1150"/>
          </a:p>
        </p:txBody>
      </p:sp>
      <p:sp>
        <p:nvSpPr>
          <p:cNvPr id="12" name="Text 7">
            <a:extLst xmlns:a="http://schemas.openxmlformats.org/drawingml/2006/main">
              <a:ext uri="{FF2B5EF4-FFF2-40B4-BE49-F238E27FC236}">
                <a16:creationId xmlns:a16="http://schemas.microsoft.com/office/drawing/2014/main" id="{2A94BEE7-C20D-439D-8801-52A169704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1765" y="1965960"/>
            <a:ext cx="23774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26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26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26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26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26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26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26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26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26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26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26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26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→</a:t>
            </a:r>
            <a:endParaRPr sz="2600"/>
          </a:p>
        </p:txBody>
      </p:sp>
      <p:sp>
        <p:nvSpPr>
          <p:cNvPr id="14" name="Text 8">
            <a:extLst xmlns:a="http://schemas.openxmlformats.org/drawingml/2006/main">
              <a:ext uri="{FF2B5EF4-FFF2-40B4-BE49-F238E27FC236}">
                <a16:creationId xmlns:a16="http://schemas.microsoft.com/office/drawing/2014/main" id="{6144C5D2-388C-46C8-8DC0-E3803189A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7797" y="2505456"/>
            <a:ext cx="3515258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3. THE APP</a:t>
            </a:r>
            <a:endParaRPr sz="1450"/>
          </a:p>
        </p:txBody>
      </p:sp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C5623D9E-6643-457F-A66D-3B0B24B97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7797" y="2980944"/>
            <a:ext cx="3515258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tv.py receives it like normal keyboard input and reacts on screen</a:t>
            </a:r>
            <a:endParaRPr sz="1150"/>
          </a:p>
        </p:txBody>
      </p:sp>
      <p:sp>
        <p:nvSpPr>
          <p:cNvPr id="16" name="Text 10">
            <a:extLst xmlns:a="http://schemas.openxmlformats.org/drawingml/2006/main">
              <a:ext uri="{FF2B5EF4-FFF2-40B4-BE49-F238E27FC236}">
                <a16:creationId xmlns:a16="http://schemas.microsoft.com/office/drawing/2014/main" id="{CBE493A6-5BC0-4878-88C7-776E6AC1E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355080"/>
            <a:ext cx="5486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17</a:t>
            </a:r>
            <a:endParaRPr sz="1000"/>
          </a:p>
        </p:txBody>
      </p:sp>
      <p:sp>
        <p:nvSpPr>
          <p:cNvPr id="17" name="Icon uno tile">
            <a:extLst xmlns:a="http://schemas.openxmlformats.org/drawingml/2006/main">
              <a:ext uri="{FF2B5EF4-FFF2-40B4-BE49-F238E27FC236}">
                <a16:creationId xmlns:a16="http://schemas.microsoft.com/office/drawing/2014/main" id="{40D6DE2E-5E4A-459C-90A7-01EDCF837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09750" y="1685925"/>
            <a:ext cx="5143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19050">
            <a:solidFill>
              <a:srgbClr val="C0C0C0"/>
            </a:solidFill>
            <a:prstDash val="solid"/>
          </a:ln>
        </p:spPr>
      </p:sp>
      <p:sp>
        <p:nvSpPr>
          <p:cNvPr id="18" name="Icon uno board">
            <a:extLst xmlns:a="http://schemas.openxmlformats.org/drawingml/2006/main">
              <a:ext uri="{FF2B5EF4-FFF2-40B4-BE49-F238E27FC236}">
                <a16:creationId xmlns:a16="http://schemas.microsoft.com/office/drawing/2014/main" id="{0E69E651-9020-4CBC-B943-C8E71D8A4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85950" y="1752600"/>
            <a:ext cx="361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080"/>
          </a:solidFill>
          <a:ln xmlns:a="http://schemas.openxmlformats.org/drawingml/2006/main" w="19050">
            <a:solidFill>
              <a:srgbClr val="C0C0C0"/>
            </a:solidFill>
            <a:prstDash val="solid"/>
          </a:ln>
        </p:spPr>
      </p:sp>
      <p:sp>
        <p:nvSpPr>
          <p:cNvPr id="19" name="Icon uno processor">
            <a:extLst xmlns:a="http://schemas.openxmlformats.org/drawingml/2006/main">
              <a:ext uri="{FF2B5EF4-FFF2-40B4-BE49-F238E27FC236}">
                <a16:creationId xmlns:a16="http://schemas.microsoft.com/office/drawing/2014/main" id="{EE233EE8-BD04-4AC2-93F3-81E919E82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81200" y="1838325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19050">
            <a:solidFill>
              <a:srgbClr val="FFFF00"/>
            </a:solidFill>
            <a:prstDash val="solid"/>
          </a:ln>
        </p:spPr>
      </p:sp>
      <p:sp>
        <p:nvSpPr>
          <p:cNvPr id="20" name="Icon uno left pin 0">
            <a:extLst xmlns:a="http://schemas.openxmlformats.org/drawingml/2006/main">
              <a:ext uri="{FF2B5EF4-FFF2-40B4-BE49-F238E27FC236}">
                <a16:creationId xmlns:a16="http://schemas.microsoft.com/office/drawing/2014/main" id="{3D276694-BD3D-40E8-8D32-2F6CA2440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47850" y="1790700"/>
            <a:ext cx="38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21" name="Icon uno right pin 0">
            <a:extLst xmlns:a="http://schemas.openxmlformats.org/drawingml/2006/main">
              <a:ext uri="{FF2B5EF4-FFF2-40B4-BE49-F238E27FC236}">
                <a16:creationId xmlns:a16="http://schemas.microsoft.com/office/drawing/2014/main" id="{D693A81F-1F1C-4A6C-94A0-6468C54A5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47900" y="1790700"/>
            <a:ext cx="38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22" name="Icon uno left pin 1">
            <a:extLst xmlns:a="http://schemas.openxmlformats.org/drawingml/2006/main">
              <a:ext uri="{FF2B5EF4-FFF2-40B4-BE49-F238E27FC236}">
                <a16:creationId xmlns:a16="http://schemas.microsoft.com/office/drawing/2014/main" id="{02BA0C8E-8953-40B1-9DE9-FB236C435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47850" y="1866900"/>
            <a:ext cx="38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23" name="Icon uno right pin 1">
            <a:extLst xmlns:a="http://schemas.openxmlformats.org/drawingml/2006/main">
              <a:ext uri="{FF2B5EF4-FFF2-40B4-BE49-F238E27FC236}">
                <a16:creationId xmlns:a16="http://schemas.microsoft.com/office/drawing/2014/main" id="{6F3F60E9-CFF2-4571-A3EE-C10132E5C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47900" y="1866900"/>
            <a:ext cx="38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24" name="Icon uno left pin 2">
            <a:extLst xmlns:a="http://schemas.openxmlformats.org/drawingml/2006/main">
              <a:ext uri="{FF2B5EF4-FFF2-40B4-BE49-F238E27FC236}">
                <a16:creationId xmlns:a16="http://schemas.microsoft.com/office/drawing/2014/main" id="{131AC23F-D161-4E0C-9E27-1E36095BC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47850" y="1943100"/>
            <a:ext cx="38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25" name="Icon uno right pin 2">
            <a:extLst xmlns:a="http://schemas.openxmlformats.org/drawingml/2006/main">
              <a:ext uri="{FF2B5EF4-FFF2-40B4-BE49-F238E27FC236}">
                <a16:creationId xmlns:a16="http://schemas.microsoft.com/office/drawing/2014/main" id="{E431F4B7-DD12-4859-8234-456239A33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47900" y="1943100"/>
            <a:ext cx="38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26" name="Icon uno left pin 3">
            <a:extLst xmlns:a="http://schemas.openxmlformats.org/drawingml/2006/main">
              <a:ext uri="{FF2B5EF4-FFF2-40B4-BE49-F238E27FC236}">
                <a16:creationId xmlns:a16="http://schemas.microsoft.com/office/drawing/2014/main" id="{51E9BEAD-24B1-42FA-91F7-01824CD61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47850" y="2019300"/>
            <a:ext cx="38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27" name="Icon uno right pin 3">
            <a:extLst xmlns:a="http://schemas.openxmlformats.org/drawingml/2006/main">
              <a:ext uri="{FF2B5EF4-FFF2-40B4-BE49-F238E27FC236}">
                <a16:creationId xmlns:a16="http://schemas.microsoft.com/office/drawing/2014/main" id="{A1BC01D1-4627-4D14-84C2-5C67CCC6E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47900" y="2019300"/>
            <a:ext cx="38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28" name="Icon uno U">
            <a:extLst xmlns:a="http://schemas.openxmlformats.org/drawingml/2006/main">
              <a:ext uri="{FF2B5EF4-FFF2-40B4-BE49-F238E27FC236}">
                <a16:creationId xmlns:a16="http://schemas.microsoft.com/office/drawing/2014/main" id="{3E2B3CF8-C8A4-4EE8-885F-25BB84AE6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857375"/>
            <a:ext cx="1333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defRPr sz="9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defRPr sz="9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defRPr sz="9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defRPr sz="9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defRPr sz="9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defRPr sz="9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defRPr sz="9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defRPr sz="9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defRPr sz="9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algn="ctr">
              <a:defRPr sz="9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9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rPr>
              <a:t>U</a:t>
            </a:r>
          </a:p>
        </p:txBody>
      </p:sp>
      <p:sp>
        <p:nvSpPr>
          <p:cNvPr id="29" name="Icon bridge tile">
            <a:extLst xmlns:a="http://schemas.openxmlformats.org/drawingml/2006/main">
              <a:ext uri="{FF2B5EF4-FFF2-40B4-BE49-F238E27FC236}">
                <a16:creationId xmlns:a16="http://schemas.microsoft.com/office/drawing/2014/main" id="{487A12A6-2003-4303-9805-C9A7938A1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00700" y="1685925"/>
            <a:ext cx="5143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19050">
            <a:solidFill>
              <a:srgbClr val="C0C0C0"/>
            </a:solidFill>
            <a:prstDash val="solid"/>
          </a:ln>
        </p:spPr>
      </p:sp>
      <p:sp>
        <p:nvSpPr>
          <p:cNvPr id="30" name="Icon bridge board">
            <a:extLst xmlns:a="http://schemas.openxmlformats.org/drawingml/2006/main">
              <a:ext uri="{FF2B5EF4-FFF2-40B4-BE49-F238E27FC236}">
                <a16:creationId xmlns:a16="http://schemas.microsoft.com/office/drawing/2014/main" id="{0A9D94F0-E289-4BAA-9C28-397D9FDD3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76900" y="1752600"/>
            <a:ext cx="361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080"/>
          </a:solidFill>
          <a:ln xmlns:a="http://schemas.openxmlformats.org/drawingml/2006/main" w="19050">
            <a:solidFill>
              <a:srgbClr val="C0C0C0"/>
            </a:solidFill>
            <a:prstDash val="solid"/>
          </a:ln>
        </p:spPr>
      </p:sp>
      <p:sp>
        <p:nvSpPr>
          <p:cNvPr id="31" name="Icon bridge processor">
            <a:extLst xmlns:a="http://schemas.openxmlformats.org/drawingml/2006/main">
              <a:ext uri="{FF2B5EF4-FFF2-40B4-BE49-F238E27FC236}">
                <a16:creationId xmlns:a16="http://schemas.microsoft.com/office/drawing/2014/main" id="{4B2ABC51-45EF-4322-BD6B-BC61BCB4B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72150" y="1838325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19050">
            <a:solidFill>
              <a:srgbClr val="FFFF00"/>
            </a:solidFill>
            <a:prstDash val="solid"/>
          </a:ln>
        </p:spPr>
      </p:sp>
      <p:sp>
        <p:nvSpPr>
          <p:cNvPr id="32" name="Icon bridge left pin 0">
            <a:extLst xmlns:a="http://schemas.openxmlformats.org/drawingml/2006/main">
              <a:ext uri="{FF2B5EF4-FFF2-40B4-BE49-F238E27FC236}">
                <a16:creationId xmlns:a16="http://schemas.microsoft.com/office/drawing/2014/main" id="{F9A688AA-EC0D-4B0C-8AC0-559284025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38800" y="1790700"/>
            <a:ext cx="38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33" name="Icon bridge right pin 0">
            <a:extLst xmlns:a="http://schemas.openxmlformats.org/drawingml/2006/main">
              <a:ext uri="{FF2B5EF4-FFF2-40B4-BE49-F238E27FC236}">
                <a16:creationId xmlns:a16="http://schemas.microsoft.com/office/drawing/2014/main" id="{FB35E086-2857-418E-8FC1-4070ED96B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38850" y="1790700"/>
            <a:ext cx="38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34" name="Icon bridge left pin 1">
            <a:extLst xmlns:a="http://schemas.openxmlformats.org/drawingml/2006/main">
              <a:ext uri="{FF2B5EF4-FFF2-40B4-BE49-F238E27FC236}">
                <a16:creationId xmlns:a16="http://schemas.microsoft.com/office/drawing/2014/main" id="{41917806-0E82-4695-B853-7E93BA76F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38800" y="1866900"/>
            <a:ext cx="38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35" name="Icon bridge right pin 1">
            <a:extLst xmlns:a="http://schemas.openxmlformats.org/drawingml/2006/main">
              <a:ext uri="{FF2B5EF4-FFF2-40B4-BE49-F238E27FC236}">
                <a16:creationId xmlns:a16="http://schemas.microsoft.com/office/drawing/2014/main" id="{DFFA295B-9D90-4559-91C8-37F8A16E0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38850" y="1866900"/>
            <a:ext cx="38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36" name="Icon bridge left pin 2">
            <a:extLst xmlns:a="http://schemas.openxmlformats.org/drawingml/2006/main">
              <a:ext uri="{FF2B5EF4-FFF2-40B4-BE49-F238E27FC236}">
                <a16:creationId xmlns:a16="http://schemas.microsoft.com/office/drawing/2014/main" id="{78DC9E51-4011-4BE0-B49D-E547C7B85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38800" y="1943100"/>
            <a:ext cx="38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37" name="Icon bridge right pin 2">
            <a:extLst xmlns:a="http://schemas.openxmlformats.org/drawingml/2006/main">
              <a:ext uri="{FF2B5EF4-FFF2-40B4-BE49-F238E27FC236}">
                <a16:creationId xmlns:a16="http://schemas.microsoft.com/office/drawing/2014/main" id="{F3999F25-4CC0-457F-B2A7-727CC45C9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38850" y="1943100"/>
            <a:ext cx="38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38" name="Icon bridge left pin 3">
            <a:extLst xmlns:a="http://schemas.openxmlformats.org/drawingml/2006/main">
              <a:ext uri="{FF2B5EF4-FFF2-40B4-BE49-F238E27FC236}">
                <a16:creationId xmlns:a16="http://schemas.microsoft.com/office/drawing/2014/main" id="{048822A1-3106-4335-8C69-218292E3E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38800" y="2019300"/>
            <a:ext cx="38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39" name="Icon bridge right pin 3">
            <a:extLst xmlns:a="http://schemas.openxmlformats.org/drawingml/2006/main">
              <a:ext uri="{FF2B5EF4-FFF2-40B4-BE49-F238E27FC236}">
                <a16:creationId xmlns:a16="http://schemas.microsoft.com/office/drawing/2014/main" id="{04462B05-8999-4E3C-B60C-E10A4CDF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38850" y="2019300"/>
            <a:ext cx="38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40" name="Icon bridge connector">
            <a:extLst xmlns:a="http://schemas.openxmlformats.org/drawingml/2006/main">
              <a:ext uri="{FF2B5EF4-FFF2-40B4-BE49-F238E27FC236}">
                <a16:creationId xmlns:a16="http://schemas.microsoft.com/office/drawing/2014/main" id="{7C442F57-00BD-47F2-BFBB-E7E601748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43575" y="1866900"/>
            <a:ext cx="2286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9525">
            <a:solidFill>
              <a:srgbClr val="FFFF00"/>
            </a:solidFill>
            <a:prstDash val="solid"/>
          </a:ln>
        </p:spPr>
      </p:sp>
      <p:sp>
        <p:nvSpPr>
          <p:cNvPr id="41" name="Icon bridge cable">
            <a:extLst xmlns:a="http://schemas.openxmlformats.org/drawingml/2006/main">
              <a:ext uri="{FF2B5EF4-FFF2-40B4-BE49-F238E27FC236}">
                <a16:creationId xmlns:a16="http://schemas.microsoft.com/office/drawing/2014/main" id="{5FBD52ED-7341-4C16-9FCA-A544966FA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53125" y="1905000"/>
            <a:ext cx="114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42" name="Icon tv tile">
            <a:extLst xmlns:a="http://schemas.openxmlformats.org/drawingml/2006/main">
              <a:ext uri="{FF2B5EF4-FFF2-40B4-BE49-F238E27FC236}">
                <a16:creationId xmlns:a16="http://schemas.microsoft.com/office/drawing/2014/main" id="{0F850552-EA4F-4282-BFAD-C0507CA44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382125" y="1685925"/>
            <a:ext cx="5143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19050">
            <a:solidFill>
              <a:srgbClr val="C0C0C0"/>
            </a:solidFill>
            <a:prstDash val="solid"/>
          </a:ln>
        </p:spPr>
      </p:sp>
      <p:sp>
        <p:nvSpPr>
          <p:cNvPr id="43" name="Icon tv screen frame">
            <a:extLst xmlns:a="http://schemas.openxmlformats.org/drawingml/2006/main">
              <a:ext uri="{FF2B5EF4-FFF2-40B4-BE49-F238E27FC236}">
                <a16:creationId xmlns:a16="http://schemas.microsoft.com/office/drawing/2014/main" id="{AE7EB4EB-4E7A-47E7-B5B7-0A86DDE71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458325" y="1752600"/>
            <a:ext cx="36195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9525">
            <a:solidFill>
              <a:srgbClr val="C0C0C0"/>
            </a:solidFill>
            <a:prstDash val="solid"/>
          </a:ln>
        </p:spPr>
      </p:sp>
      <p:sp>
        <p:nvSpPr>
          <p:cNvPr id="44" name="Icon tv screen">
            <a:extLst xmlns:a="http://schemas.openxmlformats.org/drawingml/2006/main">
              <a:ext uri="{FF2B5EF4-FFF2-40B4-BE49-F238E27FC236}">
                <a16:creationId xmlns:a16="http://schemas.microsoft.com/office/drawing/2014/main" id="{3163C3D0-B333-48A4-B6CB-715668906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486900" y="1781175"/>
            <a:ext cx="304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080"/>
          </a:solidFill>
          <a:ln xmlns:a="http://schemas.openxmlformats.org/drawingml/2006/main" w="9525">
            <a:solidFill>
              <a:srgbClr val="404040"/>
            </a:solidFill>
            <a:prstDash val="solid"/>
          </a:ln>
        </p:spPr>
      </p:sp>
      <p:sp>
        <p:nvSpPr>
          <p:cNvPr id="45" name="Icon tv screen highlight">
            <a:extLst xmlns:a="http://schemas.openxmlformats.org/drawingml/2006/main">
              <a:ext uri="{FF2B5EF4-FFF2-40B4-BE49-F238E27FC236}">
                <a16:creationId xmlns:a16="http://schemas.microsoft.com/office/drawing/2014/main" id="{BD55FAED-C51B-4072-A6CE-457731F7A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25000" y="1819275"/>
            <a:ext cx="1809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46" name="Icon tv screen line">
            <a:extLst xmlns:a="http://schemas.openxmlformats.org/drawingml/2006/main">
              <a:ext uri="{FF2B5EF4-FFF2-40B4-BE49-F238E27FC236}">
                <a16:creationId xmlns:a16="http://schemas.microsoft.com/office/drawing/2014/main" id="{B789678B-5CDB-45BF-94DB-F8257F6A8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25000" y="1876425"/>
            <a:ext cx="2381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47" name="Icon tv stand">
            <a:extLst xmlns:a="http://schemas.openxmlformats.org/drawingml/2006/main">
              <a:ext uri="{FF2B5EF4-FFF2-40B4-BE49-F238E27FC236}">
                <a16:creationId xmlns:a16="http://schemas.microsoft.com/office/drawing/2014/main" id="{327032B1-5C27-40C1-8602-C728002E7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10725" y="20288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0">
            <a:solidFill>
              <a:srgbClr val="C0C0C0"/>
            </a:solidFill>
            <a:prstDash val="solid"/>
          </a:ln>
        </p:spPr>
      </p:sp>
      <p:sp>
        <p:nvSpPr>
          <p:cNvPr id="48" name="Icon tv foot">
            <a:extLst xmlns:a="http://schemas.openxmlformats.org/drawingml/2006/main">
              <a:ext uri="{FF2B5EF4-FFF2-40B4-BE49-F238E27FC236}">
                <a16:creationId xmlns:a16="http://schemas.microsoft.com/office/drawing/2014/main" id="{4E786025-44FC-4F36-864B-7F8BDB6BD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53575" y="2085975"/>
            <a:ext cx="171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0">
            <a:solidFill>
              <a:srgbClr val="C0C0C0"/>
            </a:solidFill>
            <a:prstDash val="solid"/>
          </a:ln>
        </p:spPr>
      </p:sp>
      <p:sp>
        <p:nvSpPr>
          <p:cNvPr id="49" name="Icon tv dial one">
            <a:extLst xmlns:a="http://schemas.openxmlformats.org/drawingml/2006/main">
              <a:ext uri="{FF2B5EF4-FFF2-40B4-BE49-F238E27FC236}">
                <a16:creationId xmlns:a16="http://schemas.microsoft.com/office/drawing/2014/main" id="{753ECC7F-7F56-44BC-9EC3-D6A70A230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057400"/>
            <a:ext cx="38100" cy="38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50" name="Icon tv dial two">
            <a:extLst xmlns:a="http://schemas.openxmlformats.org/drawingml/2006/main">
              <a:ext uri="{FF2B5EF4-FFF2-40B4-BE49-F238E27FC236}">
                <a16:creationId xmlns:a16="http://schemas.microsoft.com/office/drawing/2014/main" id="{225E5118-744D-4C87-A0AE-F205CCF03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057400"/>
            <a:ext cx="38100" cy="38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0">
            <a:solidFill>
              <a:srgbClr val="C0C0C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05299624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0808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EC29F006-31AB-41E6-8AAC-E006DC306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048"/>
            <a:ext cx="11094415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1" spc="20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SECTION 04 · THE WIRING</a:t>
            </a:r>
            <a:endParaRPr sz="12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EC85389E-1DC5-46B7-BB08-E48D0EEA2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31520"/>
            <a:ext cx="11094415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rPr>
              <a:t>Control Connections</a:t>
            </a:r>
            <a:endParaRPr sz="3000"/>
          </a:p>
        </p:txBody>
      </p:sp>
      <p:sp>
        <p:nvSpPr>
          <p:cNvPr id="6" name="Text 2">
            <a:extLst xmlns:a="http://schemas.openxmlformats.org/drawingml/2006/main">
              <a:ext uri="{FF2B5EF4-FFF2-40B4-BE49-F238E27FC236}">
                <a16:creationId xmlns:a16="http://schemas.microsoft.com/office/drawing/2014/main" id="{E7C7C537-14BC-40E7-939E-B1BE4456D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194560"/>
            <a:ext cx="6583680" cy="1645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1800" b="0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1800" b="0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1800" b="0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1800" b="0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1800" b="0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1800" b="0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1800" b="0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1800" b="0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1800" b="0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1800" b="0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The joystick and volume encoder connect to the Uno, which sends input to the Pi over USB. The shutdown button connects separately to GPIO3 and GND.</a:t>
            </a:r>
            <a:endParaRPr sz="1800"/>
          </a:p>
        </p:txBody>
      </p:sp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655AB322-C6B9-4B71-9EE5-1BD828A08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355080"/>
            <a:ext cx="5486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18</a:t>
            </a:r>
            <a:endParaRPr sz="1000"/>
          </a:p>
        </p:txBody>
      </p:sp>
      <p:sp>
        <p:nvSpPr>
          <p:cNvPr id="8" name="Icon cable tile">
            <a:extLst xmlns:a="http://schemas.openxmlformats.org/drawingml/2006/main">
              <a:ext uri="{FF2B5EF4-FFF2-40B4-BE49-F238E27FC236}">
                <a16:creationId xmlns:a16="http://schemas.microsoft.com/office/drawing/2014/main" id="{023A08E2-C03A-406A-9FEA-689199F38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182100" y="2266950"/>
            <a:ext cx="685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25400">
            <a:solidFill>
              <a:srgbClr val="C0C0C0"/>
            </a:solidFill>
            <a:prstDash val="solid"/>
          </a:ln>
        </p:spPr>
      </p:sp>
      <p:sp>
        <p:nvSpPr>
          <p:cNvPr id="9" name="Icon cable board">
            <a:extLst xmlns:a="http://schemas.openxmlformats.org/drawingml/2006/main">
              <a:ext uri="{FF2B5EF4-FFF2-40B4-BE49-F238E27FC236}">
                <a16:creationId xmlns:a16="http://schemas.microsoft.com/office/drawing/2014/main" id="{F3B41084-4018-49CE-A0CE-95C5B52B2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83700" y="2355850"/>
            <a:ext cx="482600" cy="50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080"/>
          </a:solidFill>
          <a:ln xmlns:a="http://schemas.openxmlformats.org/drawingml/2006/main" w="25400">
            <a:solidFill>
              <a:srgbClr val="C0C0C0"/>
            </a:solidFill>
            <a:prstDash val="solid"/>
          </a:ln>
        </p:spPr>
      </p:sp>
      <p:sp>
        <p:nvSpPr>
          <p:cNvPr id="10" name="Icon cable processor">
            <a:extLst xmlns:a="http://schemas.openxmlformats.org/drawingml/2006/main">
              <a:ext uri="{FF2B5EF4-FFF2-40B4-BE49-F238E27FC236}">
                <a16:creationId xmlns:a16="http://schemas.microsoft.com/office/drawing/2014/main" id="{2900EB38-607E-4366-834C-99DDEA52E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410700" y="247015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25400">
            <a:solidFill>
              <a:srgbClr val="FFFF00"/>
            </a:solidFill>
            <a:prstDash val="solid"/>
          </a:ln>
        </p:spPr>
      </p:sp>
      <p:sp>
        <p:nvSpPr>
          <p:cNvPr id="11" name="Icon cable left pin 0">
            <a:extLst xmlns:a="http://schemas.openxmlformats.org/drawingml/2006/main">
              <a:ext uri="{FF2B5EF4-FFF2-40B4-BE49-F238E27FC236}">
                <a16:creationId xmlns:a16="http://schemas.microsoft.com/office/drawing/2014/main" id="{DE978E5C-7662-4209-B7C9-B989B0458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32900" y="2406650"/>
            <a:ext cx="50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12" name="Icon cable right pin 0">
            <a:extLst xmlns:a="http://schemas.openxmlformats.org/drawingml/2006/main">
              <a:ext uri="{FF2B5EF4-FFF2-40B4-BE49-F238E27FC236}">
                <a16:creationId xmlns:a16="http://schemas.microsoft.com/office/drawing/2014/main" id="{33C9F993-077C-41EB-A70A-80A7A7452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66300" y="2406650"/>
            <a:ext cx="50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13" name="Icon cable left pin 1">
            <a:extLst xmlns:a="http://schemas.openxmlformats.org/drawingml/2006/main">
              <a:ext uri="{FF2B5EF4-FFF2-40B4-BE49-F238E27FC236}">
                <a16:creationId xmlns:a16="http://schemas.microsoft.com/office/drawing/2014/main" id="{2AD8AD40-F0D8-4E9B-A061-FC29FC8BA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32900" y="2508250"/>
            <a:ext cx="50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14" name="Icon cable right pin 1">
            <a:extLst xmlns:a="http://schemas.openxmlformats.org/drawingml/2006/main">
              <a:ext uri="{FF2B5EF4-FFF2-40B4-BE49-F238E27FC236}">
                <a16:creationId xmlns:a16="http://schemas.microsoft.com/office/drawing/2014/main" id="{CB4FAB5F-8224-4ACC-86F4-F03B583F9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66300" y="2508250"/>
            <a:ext cx="50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15" name="Icon cable left pin 2">
            <a:extLst xmlns:a="http://schemas.openxmlformats.org/drawingml/2006/main">
              <a:ext uri="{FF2B5EF4-FFF2-40B4-BE49-F238E27FC236}">
                <a16:creationId xmlns:a16="http://schemas.microsoft.com/office/drawing/2014/main" id="{7AD7AB88-3117-4419-B2FF-1C45FC7C7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32900" y="2609850"/>
            <a:ext cx="50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16" name="Icon cable right pin 2">
            <a:extLst xmlns:a="http://schemas.openxmlformats.org/drawingml/2006/main">
              <a:ext uri="{FF2B5EF4-FFF2-40B4-BE49-F238E27FC236}">
                <a16:creationId xmlns:a16="http://schemas.microsoft.com/office/drawing/2014/main" id="{40F565DA-19F4-4BA9-9AD9-59621EDE9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66300" y="2609850"/>
            <a:ext cx="50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17" name="Icon cable left pin 3">
            <a:extLst xmlns:a="http://schemas.openxmlformats.org/drawingml/2006/main">
              <a:ext uri="{FF2B5EF4-FFF2-40B4-BE49-F238E27FC236}">
                <a16:creationId xmlns:a16="http://schemas.microsoft.com/office/drawing/2014/main" id="{D2D93F33-1162-409A-9217-BB72E8C26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32900" y="2711450"/>
            <a:ext cx="50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18" name="Icon cable right pin 3">
            <a:extLst xmlns:a="http://schemas.openxmlformats.org/drawingml/2006/main">
              <a:ext uri="{FF2B5EF4-FFF2-40B4-BE49-F238E27FC236}">
                <a16:creationId xmlns:a16="http://schemas.microsoft.com/office/drawing/2014/main" id="{719DC0B4-AC0A-4DAB-AAE3-95B2E5D27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66300" y="2711450"/>
            <a:ext cx="50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19" name="Icon cable connector">
            <a:extLst xmlns:a="http://schemas.openxmlformats.org/drawingml/2006/main">
              <a:ext uri="{FF2B5EF4-FFF2-40B4-BE49-F238E27FC236}">
                <a16:creationId xmlns:a16="http://schemas.microsoft.com/office/drawing/2014/main" id="{FD5FEDCB-E2D4-489C-8655-BC93CF875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372600" y="2508250"/>
            <a:ext cx="3048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12700">
            <a:solidFill>
              <a:srgbClr val="FFFF00"/>
            </a:solidFill>
            <a:prstDash val="solid"/>
          </a:ln>
        </p:spPr>
      </p:sp>
      <p:sp>
        <p:nvSpPr>
          <p:cNvPr id="20" name="Icon cable cable">
            <a:extLst xmlns:a="http://schemas.openxmlformats.org/drawingml/2006/main">
              <a:ext uri="{FF2B5EF4-FFF2-40B4-BE49-F238E27FC236}">
                <a16:creationId xmlns:a16="http://schemas.microsoft.com/office/drawing/2014/main" id="{583C8607-D875-439B-ABE1-BB0B9641D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52000" y="2559050"/>
            <a:ext cx="152400" cy="5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872298620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0808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ADCA6107-B129-4842-8C52-A7AA1775E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048"/>
            <a:ext cx="11094415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1" spc="20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SECTION 04 · THE WIRING</a:t>
            </a:r>
            <a:endParaRPr sz="12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6A632748-7C3B-4A4A-8394-316F58B52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31520"/>
            <a:ext cx="11094415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rPr>
              <a:t>Frame Complete</a:t>
            </a:r>
            <a:endParaRPr sz="3000"/>
          </a:p>
        </p:txBody>
      </p:sp>
      <p:sp>
        <p:nvSpPr>
          <p:cNvPr id="6" name="Text 2">
            <a:extLst xmlns:a="http://schemas.openxmlformats.org/drawingml/2006/main">
              <a:ext uri="{FF2B5EF4-FFF2-40B4-BE49-F238E27FC236}">
                <a16:creationId xmlns:a16="http://schemas.microsoft.com/office/drawing/2014/main" id="{89214C3D-2675-4FF7-9EFB-7B96C349B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355080"/>
            <a:ext cx="5486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19</a:t>
            </a:r>
            <a:endParaRPr sz="1000"/>
          </a:p>
        </p:txBody>
      </p:sp>
      <p:sp>
        <p:nvSpPr>
          <p:cNvPr id="7" name="Frame status note">
            <a:extLst xmlns:a="http://schemas.openxmlformats.org/drawingml/2006/main">
              <a:ext uri="{FF2B5EF4-FFF2-40B4-BE49-F238E27FC236}">
                <a16:creationId xmlns:a16="http://schemas.microsoft.com/office/drawing/2014/main" id="{59B4D695-6EE0-44C2-B63C-73816CB4E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4143375"/>
            <a:ext cx="657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350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defRPr sz="1350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defRPr sz="1350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defRPr sz="1350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defRPr sz="1350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defRPr sz="1350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defRPr sz="1350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defRPr sz="1350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defRPr sz="1350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defRPr sz="1350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algn="ctr">
              <a:defRPr sz="1350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The frame is finished; I checked it and everything is good.</a:t>
            </a:r>
          </a:p>
        </p:txBody>
      </p:sp>
      <p:sp>
        <p:nvSpPr>
          <p:cNvPr id="8" name="Icon frame tile">
            <a:extLst xmlns:a="http://schemas.openxmlformats.org/drawingml/2006/main">
              <a:ext uri="{FF2B5EF4-FFF2-40B4-BE49-F238E27FC236}">
                <a16:creationId xmlns:a16="http://schemas.microsoft.com/office/drawing/2014/main" id="{D0E0EAEE-7526-4747-8539-A03F417B0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05475" y="1885950"/>
            <a:ext cx="7810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28928">
            <a:solidFill>
              <a:srgbClr val="C0C0C0"/>
            </a:solidFill>
            <a:prstDash val="solid"/>
          </a:ln>
        </p:spPr>
      </p:sp>
      <p:sp>
        <p:nvSpPr>
          <p:cNvPr id="9" name="Icon frame cabinet">
            <a:extLst xmlns:a="http://schemas.openxmlformats.org/drawingml/2006/main">
              <a:ext uri="{FF2B5EF4-FFF2-40B4-BE49-F238E27FC236}">
                <a16:creationId xmlns:a16="http://schemas.microsoft.com/office/drawing/2014/main" id="{47D3A042-3E4C-47FE-A2C6-8CBAF76EA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50114" y="1987197"/>
            <a:ext cx="491772" cy="5785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0">
            <a:solidFill>
              <a:srgbClr val="C0C0C0"/>
            </a:solidFill>
            <a:prstDash val="solid"/>
          </a:ln>
        </p:spPr>
      </p:sp>
      <p:sp>
        <p:nvSpPr>
          <p:cNvPr id="10" name="Icon frame cabinet screen">
            <a:extLst xmlns:a="http://schemas.openxmlformats.org/drawingml/2006/main">
              <a:ext uri="{FF2B5EF4-FFF2-40B4-BE49-F238E27FC236}">
                <a16:creationId xmlns:a16="http://schemas.microsoft.com/office/drawing/2014/main" id="{5CF1DCB1-C087-48ED-B902-AA7F391E6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07969" y="2045053"/>
            <a:ext cx="376061" cy="31820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28928">
            <a:solidFill>
              <a:srgbClr val="404040"/>
            </a:solidFill>
            <a:prstDash val="solid"/>
          </a:ln>
        </p:spPr>
      </p:sp>
      <p:sp>
        <p:nvSpPr>
          <p:cNvPr id="11" name="Icon frame cabinet window">
            <a:extLst xmlns:a="http://schemas.openxmlformats.org/drawingml/2006/main">
              <a:ext uri="{FF2B5EF4-FFF2-40B4-BE49-F238E27FC236}">
                <a16:creationId xmlns:a16="http://schemas.microsoft.com/office/drawing/2014/main" id="{484CF0EC-D251-41C3-867B-8770585B9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51361" y="2088444"/>
            <a:ext cx="289278" cy="2169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080"/>
          </a:solidFill>
          <a:ln xmlns:a="http://schemas.openxmlformats.org/drawingml/2006/main" w="0">
            <a:solidFill>
              <a:srgbClr val="008080"/>
            </a:solidFill>
            <a:prstDash val="solid"/>
          </a:ln>
        </p:spPr>
      </p:sp>
      <p:sp>
        <p:nvSpPr>
          <p:cNvPr id="12" name="Icon frame cabinet base">
            <a:extLst xmlns:a="http://schemas.openxmlformats.org/drawingml/2006/main">
              <a:ext uri="{FF2B5EF4-FFF2-40B4-BE49-F238E27FC236}">
                <a16:creationId xmlns:a16="http://schemas.microsoft.com/office/drawing/2014/main" id="{3DB1464F-CD79-4676-B258-C508063FD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80289" y="2421114"/>
            <a:ext cx="231422" cy="7231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4040"/>
          </a:solidFill>
          <a:ln xmlns:a="http://schemas.openxmlformats.org/drawingml/2006/main" w="0">
            <a:solidFill>
              <a:srgbClr val="40404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638075233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0808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A7F427BE-9ED4-4E74-8DCA-2A0AF9074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048"/>
            <a:ext cx="11094415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1" spc="20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SECTION 04 · THE WIRING</a:t>
            </a:r>
            <a:endParaRPr sz="12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1A0ED3E1-22D5-4779-A308-2C87014A5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31520"/>
            <a:ext cx="11094415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rPr>
              <a:t>Three Main Connections</a:t>
            </a:r>
            <a:endParaRPr sz="3000"/>
          </a:p>
        </p:txBody>
      </p:sp>
      <p:sp>
        <p:nvSpPr>
          <p:cNvPr id="6" name="Text 2">
            <a:extLst xmlns:a="http://schemas.openxmlformats.org/drawingml/2006/main">
              <a:ext uri="{FF2B5EF4-FFF2-40B4-BE49-F238E27FC236}">
                <a16:creationId xmlns:a16="http://schemas.microsoft.com/office/drawing/2014/main" id="{2DBAAB64-BB6C-4D7E-AED3-4EDD580ED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368296"/>
            <a:ext cx="3515258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USB Serial</a:t>
            </a:r>
            <a:endParaRPr sz="1450"/>
          </a:p>
        </p:txBody>
      </p:sp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D1A53C11-1654-4629-910C-3E869FC2C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843784"/>
            <a:ext cx="3515258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Arduino to Pi, carrying joystick and volume commands</a:t>
            </a:r>
            <a:endParaRPr sz="1150"/>
          </a:p>
        </p:txBody>
      </p:sp>
      <p:sp>
        <p:nvSpPr>
          <p:cNvPr id="9" name="Text 4">
            <a:extLst xmlns:a="http://schemas.openxmlformats.org/drawingml/2006/main">
              <a:ext uri="{FF2B5EF4-FFF2-40B4-BE49-F238E27FC236}">
                <a16:creationId xmlns:a16="http://schemas.microsoft.com/office/drawing/2014/main" id="{68E46F35-7149-4ACE-B810-020F37A15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8218" y="2368296"/>
            <a:ext cx="3515258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GPIO</a:t>
            </a:r>
            <a:endParaRPr sz="1450"/>
          </a:p>
        </p:txBody>
      </p:sp>
      <p:sp>
        <p:nvSpPr>
          <p:cNvPr id="10" name="Text 5">
            <a:extLst xmlns:a="http://schemas.openxmlformats.org/drawingml/2006/main">
              <a:ext uri="{FF2B5EF4-FFF2-40B4-BE49-F238E27FC236}">
                <a16:creationId xmlns:a16="http://schemas.microsoft.com/office/drawing/2014/main" id="{A5EDFD74-DA57-467B-8712-5946F9A41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8218" y="2843784"/>
            <a:ext cx="3515258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Shutdown button connects to GPIO3 and GND for safe shutdown.</a:t>
            </a:r>
            <a:endParaRPr sz="1150"/>
          </a:p>
        </p:txBody>
      </p:sp>
      <p:sp>
        <p:nvSpPr>
          <p:cNvPr id="12" name="Text 6">
            <a:extLst xmlns:a="http://schemas.openxmlformats.org/drawingml/2006/main">
              <a:ext uri="{FF2B5EF4-FFF2-40B4-BE49-F238E27FC236}">
                <a16:creationId xmlns:a16="http://schemas.microsoft.com/office/drawing/2014/main" id="{C2403641-B202-4DC2-921D-F0A11BBC8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7797" y="2368296"/>
            <a:ext cx="3515258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HDMI</a:t>
            </a:r>
            <a:endParaRPr sz="1450"/>
          </a:p>
        </p:txBody>
      </p:sp>
      <p:sp>
        <p:nvSpPr>
          <p:cNvPr id="13" name="Text 7">
            <a:extLst xmlns:a="http://schemas.openxmlformats.org/drawingml/2006/main">
              <a:ext uri="{FF2B5EF4-FFF2-40B4-BE49-F238E27FC236}">
                <a16:creationId xmlns:a16="http://schemas.microsoft.com/office/drawing/2014/main" id="{271DC2F2-C109-42BA-BAE8-2F0B7E427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7797" y="2843784"/>
            <a:ext cx="3515258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Pi to the 22-inch HDMI monitor</a:t>
            </a:r>
            <a:endParaRPr sz="1150"/>
          </a:p>
        </p:txBody>
      </p:sp>
      <p:sp>
        <p:nvSpPr>
          <p:cNvPr id="14" name="Text 8">
            <a:extLst xmlns:a="http://schemas.openxmlformats.org/drawingml/2006/main">
              <a:ext uri="{FF2B5EF4-FFF2-40B4-BE49-F238E27FC236}">
                <a16:creationId xmlns:a16="http://schemas.microsoft.com/office/drawing/2014/main" id="{A09F0CF1-C321-4645-AE64-80F48B4E8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355080"/>
            <a:ext cx="5486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20</a:t>
            </a:r>
            <a:endParaRPr sz="1000"/>
          </a:p>
        </p:txBody>
      </p:sp>
      <p:sp>
        <p:nvSpPr>
          <p:cNvPr id="15" name="Icon cable tile">
            <a:extLst xmlns:a="http://schemas.openxmlformats.org/drawingml/2006/main">
              <a:ext uri="{FF2B5EF4-FFF2-40B4-BE49-F238E27FC236}">
                <a16:creationId xmlns:a16="http://schemas.microsoft.com/office/drawing/2014/main" id="{42CC7152-F500-4C04-93D8-6A26089AF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09750" y="1514475"/>
            <a:ext cx="5143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19050">
            <a:solidFill>
              <a:srgbClr val="C0C0C0"/>
            </a:solidFill>
            <a:prstDash val="solid"/>
          </a:ln>
        </p:spPr>
      </p:sp>
      <p:sp>
        <p:nvSpPr>
          <p:cNvPr id="16" name="Icon cable board">
            <a:extLst xmlns:a="http://schemas.openxmlformats.org/drawingml/2006/main">
              <a:ext uri="{FF2B5EF4-FFF2-40B4-BE49-F238E27FC236}">
                <a16:creationId xmlns:a16="http://schemas.microsoft.com/office/drawing/2014/main" id="{0B0A30A8-5FBF-43DA-AD74-25DB2C959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85950" y="1581150"/>
            <a:ext cx="361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080"/>
          </a:solidFill>
          <a:ln xmlns:a="http://schemas.openxmlformats.org/drawingml/2006/main" w="19050">
            <a:solidFill>
              <a:srgbClr val="C0C0C0"/>
            </a:solidFill>
            <a:prstDash val="solid"/>
          </a:ln>
        </p:spPr>
      </p:sp>
      <p:sp>
        <p:nvSpPr>
          <p:cNvPr id="17" name="Icon cable processor">
            <a:extLst xmlns:a="http://schemas.openxmlformats.org/drawingml/2006/main">
              <a:ext uri="{FF2B5EF4-FFF2-40B4-BE49-F238E27FC236}">
                <a16:creationId xmlns:a16="http://schemas.microsoft.com/office/drawing/2014/main" id="{E0CFD188-E17D-4A6B-AC74-1EE8CF196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81200" y="1666875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19050">
            <a:solidFill>
              <a:srgbClr val="FFFF00"/>
            </a:solidFill>
            <a:prstDash val="solid"/>
          </a:ln>
        </p:spPr>
      </p:sp>
      <p:sp>
        <p:nvSpPr>
          <p:cNvPr id="18" name="Icon cable left pin 0">
            <a:extLst xmlns:a="http://schemas.openxmlformats.org/drawingml/2006/main">
              <a:ext uri="{FF2B5EF4-FFF2-40B4-BE49-F238E27FC236}">
                <a16:creationId xmlns:a16="http://schemas.microsoft.com/office/drawing/2014/main" id="{44818B9C-689A-4A9F-9F50-1B9A3122A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47850" y="1619250"/>
            <a:ext cx="38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19" name="Icon cable right pin 0">
            <a:extLst xmlns:a="http://schemas.openxmlformats.org/drawingml/2006/main">
              <a:ext uri="{FF2B5EF4-FFF2-40B4-BE49-F238E27FC236}">
                <a16:creationId xmlns:a16="http://schemas.microsoft.com/office/drawing/2014/main" id="{25BEF948-4CAA-4B1F-B780-36FB6A42A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47900" y="1619250"/>
            <a:ext cx="38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20" name="Icon cable left pin 1">
            <a:extLst xmlns:a="http://schemas.openxmlformats.org/drawingml/2006/main">
              <a:ext uri="{FF2B5EF4-FFF2-40B4-BE49-F238E27FC236}">
                <a16:creationId xmlns:a16="http://schemas.microsoft.com/office/drawing/2014/main" id="{CA468349-BAE8-4226-A7D5-91432D888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47850" y="1695450"/>
            <a:ext cx="38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21" name="Icon cable right pin 1">
            <a:extLst xmlns:a="http://schemas.openxmlformats.org/drawingml/2006/main">
              <a:ext uri="{FF2B5EF4-FFF2-40B4-BE49-F238E27FC236}">
                <a16:creationId xmlns:a16="http://schemas.microsoft.com/office/drawing/2014/main" id="{CAE0E15B-496F-4948-AFDA-00074753F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47900" y="1695450"/>
            <a:ext cx="38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22" name="Icon cable left pin 2">
            <a:extLst xmlns:a="http://schemas.openxmlformats.org/drawingml/2006/main">
              <a:ext uri="{FF2B5EF4-FFF2-40B4-BE49-F238E27FC236}">
                <a16:creationId xmlns:a16="http://schemas.microsoft.com/office/drawing/2014/main" id="{DF356E2F-EDE5-4576-B9C5-1B3556D89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47850" y="1771650"/>
            <a:ext cx="38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23" name="Icon cable right pin 2">
            <a:extLst xmlns:a="http://schemas.openxmlformats.org/drawingml/2006/main">
              <a:ext uri="{FF2B5EF4-FFF2-40B4-BE49-F238E27FC236}">
                <a16:creationId xmlns:a16="http://schemas.microsoft.com/office/drawing/2014/main" id="{41653173-F5BD-4BF8-8D76-261425DFD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47900" y="1771650"/>
            <a:ext cx="38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24" name="Icon cable left pin 3">
            <a:extLst xmlns:a="http://schemas.openxmlformats.org/drawingml/2006/main">
              <a:ext uri="{FF2B5EF4-FFF2-40B4-BE49-F238E27FC236}">
                <a16:creationId xmlns:a16="http://schemas.microsoft.com/office/drawing/2014/main" id="{4DB951B2-2EB2-4EDA-AE8C-42733E2EF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47850" y="1847850"/>
            <a:ext cx="38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25" name="Icon cable right pin 3">
            <a:extLst xmlns:a="http://schemas.openxmlformats.org/drawingml/2006/main">
              <a:ext uri="{FF2B5EF4-FFF2-40B4-BE49-F238E27FC236}">
                <a16:creationId xmlns:a16="http://schemas.microsoft.com/office/drawing/2014/main" id="{8AAA8A00-6AF5-4423-8908-D50345996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47900" y="1847850"/>
            <a:ext cx="38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26" name="Icon cable connector">
            <a:extLst xmlns:a="http://schemas.openxmlformats.org/drawingml/2006/main">
              <a:ext uri="{FF2B5EF4-FFF2-40B4-BE49-F238E27FC236}">
                <a16:creationId xmlns:a16="http://schemas.microsoft.com/office/drawing/2014/main" id="{C217A974-8B46-421D-8980-8D7881D26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52625" y="1695450"/>
            <a:ext cx="2286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9525">
            <a:solidFill>
              <a:srgbClr val="FFFF00"/>
            </a:solidFill>
            <a:prstDash val="solid"/>
          </a:ln>
        </p:spPr>
      </p:sp>
      <p:sp>
        <p:nvSpPr>
          <p:cNvPr id="27" name="Icon cable cable">
            <a:extLst xmlns:a="http://schemas.openxmlformats.org/drawingml/2006/main">
              <a:ext uri="{FF2B5EF4-FFF2-40B4-BE49-F238E27FC236}">
                <a16:creationId xmlns:a16="http://schemas.microsoft.com/office/drawing/2014/main" id="{A7A44FF4-CE54-4903-8C1C-14E2A9117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162175" y="1733550"/>
            <a:ext cx="114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28" name="Icon power tile">
            <a:extLst xmlns:a="http://schemas.openxmlformats.org/drawingml/2006/main">
              <a:ext uri="{FF2B5EF4-FFF2-40B4-BE49-F238E27FC236}">
                <a16:creationId xmlns:a16="http://schemas.microsoft.com/office/drawing/2014/main" id="{5B6833B9-A895-4E95-9852-54622A55F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00700" y="1514475"/>
            <a:ext cx="5143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19050">
            <a:solidFill>
              <a:srgbClr val="C0C0C0"/>
            </a:solidFill>
            <a:prstDash val="solid"/>
          </a:ln>
        </p:spPr>
      </p:sp>
      <p:sp>
        <p:nvSpPr>
          <p:cNvPr id="29" name="Icon power power ring">
            <a:extLst xmlns:a="http://schemas.openxmlformats.org/drawingml/2006/main">
              <a:ext uri="{FF2B5EF4-FFF2-40B4-BE49-F238E27FC236}">
                <a16:creationId xmlns:a16="http://schemas.microsoft.com/office/drawing/2014/main" id="{5B9F9014-980B-44F2-A50B-CD4937D16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638300"/>
            <a:ext cx="285750" cy="2857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0C0C0"/>
            </a:solidFill>
            <a:prstDash val="solid"/>
          </a:ln>
        </p:spPr>
      </p:sp>
      <p:sp>
        <p:nvSpPr>
          <p:cNvPr id="30" name="Icon power power stem">
            <a:extLst xmlns:a="http://schemas.openxmlformats.org/drawingml/2006/main">
              <a:ext uri="{FF2B5EF4-FFF2-40B4-BE49-F238E27FC236}">
                <a16:creationId xmlns:a16="http://schemas.microsoft.com/office/drawing/2014/main" id="{64A15618-E5EC-4B8F-8AF5-88AD09F0F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38825" y="1581150"/>
            <a:ext cx="3810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31" name="Icon hdmi tile">
            <a:extLst xmlns:a="http://schemas.openxmlformats.org/drawingml/2006/main">
              <a:ext uri="{FF2B5EF4-FFF2-40B4-BE49-F238E27FC236}">
                <a16:creationId xmlns:a16="http://schemas.microsoft.com/office/drawing/2014/main" id="{6ECE9D44-2411-4189-933C-23B4A3D55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382125" y="1514475"/>
            <a:ext cx="5143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19050">
            <a:solidFill>
              <a:srgbClr val="C0C0C0"/>
            </a:solidFill>
            <a:prstDash val="solid"/>
          </a:ln>
        </p:spPr>
      </p:sp>
      <p:sp>
        <p:nvSpPr>
          <p:cNvPr id="32" name="Icon hdmi screen frame">
            <a:extLst xmlns:a="http://schemas.openxmlformats.org/drawingml/2006/main">
              <a:ext uri="{FF2B5EF4-FFF2-40B4-BE49-F238E27FC236}">
                <a16:creationId xmlns:a16="http://schemas.microsoft.com/office/drawing/2014/main" id="{49AA7790-9BB0-487F-9579-A9B8796A1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458325" y="1581150"/>
            <a:ext cx="36195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9525">
            <a:solidFill>
              <a:srgbClr val="C0C0C0"/>
            </a:solidFill>
            <a:prstDash val="solid"/>
          </a:ln>
        </p:spPr>
      </p:sp>
      <p:sp>
        <p:nvSpPr>
          <p:cNvPr id="33" name="Icon hdmi screen">
            <a:extLst xmlns:a="http://schemas.openxmlformats.org/drawingml/2006/main">
              <a:ext uri="{FF2B5EF4-FFF2-40B4-BE49-F238E27FC236}">
                <a16:creationId xmlns:a16="http://schemas.microsoft.com/office/drawing/2014/main" id="{BC6E3D70-7537-4E83-8339-FEA3759CB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486900" y="1609725"/>
            <a:ext cx="304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080"/>
          </a:solidFill>
          <a:ln xmlns:a="http://schemas.openxmlformats.org/drawingml/2006/main" w="9525">
            <a:solidFill>
              <a:srgbClr val="404040"/>
            </a:solidFill>
            <a:prstDash val="solid"/>
          </a:ln>
        </p:spPr>
      </p:sp>
      <p:sp>
        <p:nvSpPr>
          <p:cNvPr id="34" name="Icon hdmi screen highlight">
            <a:extLst xmlns:a="http://schemas.openxmlformats.org/drawingml/2006/main">
              <a:ext uri="{FF2B5EF4-FFF2-40B4-BE49-F238E27FC236}">
                <a16:creationId xmlns:a16="http://schemas.microsoft.com/office/drawing/2014/main" id="{5D61C29F-D26A-4875-8A08-75220C0AC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25000" y="1647825"/>
            <a:ext cx="1809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35" name="Icon hdmi screen line">
            <a:extLst xmlns:a="http://schemas.openxmlformats.org/drawingml/2006/main">
              <a:ext uri="{FF2B5EF4-FFF2-40B4-BE49-F238E27FC236}">
                <a16:creationId xmlns:a16="http://schemas.microsoft.com/office/drawing/2014/main" id="{A40D40C4-BA86-4D03-9A99-5AC2ABB2B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25000" y="1704975"/>
            <a:ext cx="2381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36" name="Icon hdmi stand">
            <a:extLst xmlns:a="http://schemas.openxmlformats.org/drawingml/2006/main">
              <a:ext uri="{FF2B5EF4-FFF2-40B4-BE49-F238E27FC236}">
                <a16:creationId xmlns:a16="http://schemas.microsoft.com/office/drawing/2014/main" id="{18AFD24E-C751-456A-8C58-6987F74A4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10725" y="18573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0">
            <a:solidFill>
              <a:srgbClr val="C0C0C0"/>
            </a:solidFill>
            <a:prstDash val="solid"/>
          </a:ln>
        </p:spPr>
      </p:sp>
      <p:sp>
        <p:nvSpPr>
          <p:cNvPr id="37" name="Icon hdmi foot">
            <a:extLst xmlns:a="http://schemas.openxmlformats.org/drawingml/2006/main">
              <a:ext uri="{FF2B5EF4-FFF2-40B4-BE49-F238E27FC236}">
                <a16:creationId xmlns:a16="http://schemas.microsoft.com/office/drawing/2014/main" id="{6582A5E9-BA92-448F-A6ED-DD16EBDB1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53575" y="1914525"/>
            <a:ext cx="171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0">
            <a:solidFill>
              <a:srgbClr val="C0C0C0"/>
            </a:solidFill>
            <a:prstDash val="solid"/>
          </a:ln>
        </p:spPr>
      </p:sp>
      <p:sp>
        <p:nvSpPr>
          <p:cNvPr id="38" name="Icon hdmi HDMI plug">
            <a:extLst xmlns:a="http://schemas.openxmlformats.org/drawingml/2006/main">
              <a:ext uri="{FF2B5EF4-FFF2-40B4-BE49-F238E27FC236}">
                <a16:creationId xmlns:a16="http://schemas.microsoft.com/office/drawing/2014/main" id="{9BCFCD4D-05CC-41B5-BEDC-B9A79EAFE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05950" y="1885950"/>
            <a:ext cx="10477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0">
            <a:solidFill>
              <a:srgbClr val="C0C0C0"/>
            </a:solidFill>
            <a:prstDash val="solid"/>
          </a:ln>
        </p:spPr>
      </p:sp>
      <p:sp>
        <p:nvSpPr>
          <p:cNvPr id="39" name="Icon hdmi HDMI cable">
            <a:extLst xmlns:a="http://schemas.openxmlformats.org/drawingml/2006/main">
              <a:ext uri="{FF2B5EF4-FFF2-40B4-BE49-F238E27FC236}">
                <a16:creationId xmlns:a16="http://schemas.microsoft.com/office/drawing/2014/main" id="{14AB5259-5DB2-4606-BF02-5B50649E3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10725" y="1895475"/>
            <a:ext cx="1428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89539416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0808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A7C48D84-575A-4AA9-ADF5-C20686F55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048"/>
            <a:ext cx="11094415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1" spc="20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SECTION 04 · THE WIRING</a:t>
            </a:r>
            <a:endParaRPr sz="12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4396D44F-A76F-4B20-8ACB-689F62E90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31520"/>
            <a:ext cx="11094415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rPr>
              <a:t>Current Wiring Reference</a:t>
            </a:r>
            <a:endParaRPr sz="3000"/>
          </a:p>
        </p:txBody>
      </p:sp>
      <p:graphicFrame>
        <p:nvGraphicFramePr>
          <p:cNvPr id="22" name="Table 0">
            <a:extLst xmlns:a="http://schemas.openxmlformats.org/drawingml/2006/main">
              <a:ext uri="{FF2B5EF4-FFF2-40B4-BE49-F238E27FC236}">
                <a16:creationId xmlns:a16="http://schemas.microsoft.com/office/drawing/2014/main" id="{29F06DDD-89AE-485D-A4CA-C1DF98173AD7}"/>
              </a:ext>
            </a:extLst>
          </p:cNvPr>
          <p:cNvGraphicFramePr/>
          <p:nvPr/>
        </p:nvGraphicFramePr>
        <p:xfrm>
          <a:off xmlns:a="http://schemas.openxmlformats.org/drawingml/2006/main" x="548640" y="1645920"/>
          <a:ext xmlns:a="http://schemas.openxmlformats.org/drawingml/2006/main" cx="11094415" cy="4206240"/>
        </p:xfrm>
        <a:graphic xmlns:a="http://schemas.openxmlformats.org/drawingml/2006/main"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73604"/>
                <a:gridCol w="2773604"/>
                <a:gridCol w="2773604"/>
                <a:gridCol w="2773604"/>
              </a:tblGrid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sz="12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12700" cmpd="sng">
                      <a:solidFill>
                        <a:srgbClr val="332E27"/>
                      </a:solidFill>
                      <a:prstDash val="solid"/>
                    </a:lnL>
                    <a:lnR w="12700" cmpd="sng">
                      <a:solidFill>
                        <a:srgbClr val="332E27"/>
                      </a:solidFill>
                      <a:prstDash val="solid"/>
                    </a:lnR>
                    <a:lnT w="12700" cmpd="sng">
                      <a:solidFill>
                        <a:srgbClr val="332E27"/>
                      </a:solidFill>
                      <a:prstDash val="solid"/>
                    </a:lnT>
                    <a:lnB w="12700" cmpd="sng">
                      <a:solidFill>
                        <a:srgbClr val="332E27"/>
                      </a:solidFill>
                      <a:prstDash val="soli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25" b="1">
                          <a:solidFill>
                            <a:srgbClr val="000080"/>
                          </a:solidFill>
                          <a:latin typeface="DejaVu Sans Mono"/>
                          <a:ea typeface="DejaVu Sans Mono"/>
                          <a:cs typeface="DejaVu Sans Mono"/>
                        </a:rPr>
                        <a:t>PART</a:t>
                      </a:r>
                      <a:endParaRPr sz="12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12700" cmpd="sng">
                      <a:solidFill>
                        <a:srgbClr val="332E27"/>
                      </a:solidFill>
                      <a:prstDash val="solid"/>
                    </a:lnL>
                    <a:lnR w="12700" cmpd="sng">
                      <a:solidFill>
                        <a:srgbClr val="332E27"/>
                      </a:solidFill>
                      <a:prstDash val="solid"/>
                    </a:lnR>
                    <a:lnT w="12700" cmpd="sng">
                      <a:solidFill>
                        <a:srgbClr val="332E27"/>
                      </a:solidFill>
                      <a:prstDash val="solid"/>
                    </a:lnT>
                    <a:lnB w="12700" cmpd="sng">
                      <a:solidFill>
                        <a:srgbClr val="332E27"/>
                      </a:solidFill>
                      <a:prstDash val="soli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25" b="1">
                          <a:solidFill>
                            <a:srgbClr val="000080"/>
                          </a:solidFill>
                          <a:latin typeface="DejaVu Sans Mono"/>
                          <a:ea typeface="DejaVu Sans Mono"/>
                          <a:cs typeface="DejaVu Sans Mono"/>
                        </a:rPr>
                        <a:t>CONNECTION</a:t>
                      </a:r>
                      <a:endParaRPr sz="12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12700" cmpd="sng">
                      <a:solidFill>
                        <a:srgbClr val="332E27"/>
                      </a:solidFill>
                      <a:prstDash val="solid"/>
                    </a:lnL>
                    <a:lnR w="12700" cmpd="sng">
                      <a:solidFill>
                        <a:srgbClr val="332E27"/>
                      </a:solidFill>
                      <a:prstDash val="solid"/>
                    </a:lnR>
                    <a:lnT w="12700" cmpd="sng">
                      <a:solidFill>
                        <a:srgbClr val="332E27"/>
                      </a:solidFill>
                      <a:prstDash val="solid"/>
                    </a:lnT>
                    <a:lnB w="12700" cmpd="sng">
                      <a:solidFill>
                        <a:srgbClr val="332E27"/>
                      </a:solidFill>
                      <a:prstDash val="soli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25" b="1">
                          <a:solidFill>
                            <a:srgbClr val="000080"/>
                          </a:solidFill>
                          <a:latin typeface="DejaVu Sans Mono"/>
                          <a:ea typeface="DejaVu Sans Mono"/>
                          <a:cs typeface="DejaVu Sans Mono"/>
                        </a:rPr>
                        <a:t>PURPOSE</a:t>
                      </a:r>
                      <a:endParaRPr sz="12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12700" cmpd="sng">
                      <a:solidFill>
                        <a:srgbClr val="332E27"/>
                      </a:solidFill>
                      <a:prstDash val="solid"/>
                    </a:lnL>
                    <a:lnR w="12700" cmpd="sng">
                      <a:solidFill>
                        <a:srgbClr val="332E27"/>
                      </a:solidFill>
                      <a:prstDash val="solid"/>
                    </a:lnR>
                    <a:lnT w="12700" cmpd="sng">
                      <a:solidFill>
                        <a:srgbClr val="332E27"/>
                      </a:solidFill>
                      <a:prstDash val="solid"/>
                    </a:lnT>
                    <a:lnB w="12700" cmpd="sng">
                      <a:solidFill>
                        <a:srgbClr val="332E27"/>
                      </a:solidFill>
                      <a:prstDash val="solid"/>
                    </a:lnB>
                    <a:solidFill>
                      <a:srgbClr val="C0C0C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DejaVu Sans Mono"/>
                          <a:ea typeface="DejaVu Sans Mono"/>
                          <a:cs typeface="DejaVu Sans Mono"/>
                        </a:rPr>
                        <a:t>ARDUINO UNO</a:t>
                      </a:r>
                      <a:endParaRPr sz="12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12700" cmpd="sng">
                      <a:solidFill>
                        <a:srgbClr val="332E27"/>
                      </a:solidFill>
                      <a:prstDash val="solid"/>
                    </a:lnL>
                    <a:lnR w="12700" cmpd="sng">
                      <a:solidFill>
                        <a:srgbClr val="332E27"/>
                      </a:solidFill>
                      <a:prstDash val="solid"/>
                    </a:lnR>
                    <a:lnT w="12700" cmpd="sng">
                      <a:solidFill>
                        <a:srgbClr val="332E27"/>
                      </a:solidFill>
                      <a:prstDash val="solid"/>
                    </a:lnT>
                    <a:lnB w="12700" cmpd="sng">
                      <a:solidFill>
                        <a:srgbClr val="332E27"/>
                      </a:solidFill>
                      <a:prstDash val="solid"/>
                    </a:lnB>
                    <a:solidFill>
                      <a:srgbClr val="00008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DejaVu Sans Mono"/>
                          <a:ea typeface="DejaVu Sans Mono"/>
                          <a:cs typeface="DejaVu Sans Mono"/>
                        </a:rPr>
                        <a:t>Joystick X/Y + click</a:t>
                      </a:r>
                      <a:endParaRPr sz="12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12700" cmpd="sng">
                      <a:solidFill>
                        <a:srgbClr val="332E27"/>
                      </a:solidFill>
                      <a:prstDash val="solid"/>
                    </a:lnL>
                    <a:lnR w="12700" cmpd="sng">
                      <a:solidFill>
                        <a:srgbClr val="332E27"/>
                      </a:solidFill>
                      <a:prstDash val="solid"/>
                    </a:lnR>
                    <a:lnT w="12700" cmpd="sng">
                      <a:solidFill>
                        <a:srgbClr val="332E27"/>
                      </a:solidFill>
                      <a:prstDash val="solid"/>
                    </a:lnT>
                    <a:lnB w="12700" cmpd="sng">
                      <a:solidFill>
                        <a:srgbClr val="332E27"/>
                      </a:solidFill>
                      <a:prstDash val="solid"/>
                    </a:lnB>
                    <a:solidFill>
                      <a:srgbClr val="00008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DejaVu Sans Mono"/>
                          <a:ea typeface="DejaVu Sans Mono"/>
                          <a:cs typeface="DejaVu Sans Mono"/>
                        </a:rPr>
                        <a:t>Volume encoder A/B</a:t>
                      </a:r>
                      <a:endParaRPr sz="12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12700" cmpd="sng">
                      <a:solidFill>
                        <a:srgbClr val="332E27"/>
                      </a:solidFill>
                      <a:prstDash val="solid"/>
                    </a:lnL>
                    <a:lnR w="12700" cmpd="sng">
                      <a:solidFill>
                        <a:srgbClr val="332E27"/>
                      </a:solidFill>
                      <a:prstDash val="solid"/>
                    </a:lnR>
                    <a:lnT w="12700" cmpd="sng">
                      <a:solidFill>
                        <a:srgbClr val="332E27"/>
                      </a:solidFill>
                      <a:prstDash val="solid"/>
                    </a:lnT>
                    <a:lnB w="12700" cmpd="sng">
                      <a:solidFill>
                        <a:srgbClr val="332E27"/>
                      </a:solidFill>
                      <a:prstDash val="solid"/>
                    </a:lnB>
                    <a:solidFill>
                      <a:srgbClr val="00008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DejaVu Sans Mono"/>
                          <a:ea typeface="DejaVu Sans Mono"/>
                          <a:cs typeface="DejaVu Sans Mono"/>
                        </a:rPr>
                        <a:t>USB serial to Pi</a:t>
                      </a:r>
                      <a:endParaRPr sz="12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12700" cmpd="sng">
                      <a:solidFill>
                        <a:srgbClr val="332E27"/>
                      </a:solidFill>
                      <a:prstDash val="solid"/>
                    </a:lnL>
                    <a:lnR w="12700" cmpd="sng">
                      <a:solidFill>
                        <a:srgbClr val="332E27"/>
                      </a:solidFill>
                      <a:prstDash val="solid"/>
                    </a:lnR>
                    <a:lnT w="12700" cmpd="sng">
                      <a:solidFill>
                        <a:srgbClr val="332E27"/>
                      </a:solidFill>
                      <a:prstDash val="solid"/>
                    </a:lnT>
                    <a:lnB w="12700" cmpd="sng">
                      <a:solidFill>
                        <a:srgbClr val="332E27"/>
                      </a:solidFill>
                      <a:prstDash val="solid"/>
                    </a:lnB>
                    <a:solidFill>
                      <a:srgbClr val="00008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DejaVu Sans Mono"/>
                          <a:ea typeface="DejaVu Sans Mono"/>
                          <a:cs typeface="DejaVu Sans Mono"/>
                        </a:rPr>
                        <a:t>RASPBERRY PI</a:t>
                      </a:r>
                      <a:endParaRPr sz="12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12700" cmpd="sng">
                      <a:solidFill>
                        <a:srgbClr val="332E27"/>
                      </a:solidFill>
                      <a:prstDash val="solid"/>
                    </a:lnL>
                    <a:lnR w="12700" cmpd="sng">
                      <a:solidFill>
                        <a:srgbClr val="332E27"/>
                      </a:solidFill>
                      <a:prstDash val="solid"/>
                    </a:lnR>
                    <a:lnT w="12700" cmpd="sng">
                      <a:solidFill>
                        <a:srgbClr val="332E27"/>
                      </a:solidFill>
                      <a:prstDash val="solid"/>
                    </a:lnT>
                    <a:lnB w="12700" cmpd="sng">
                      <a:solidFill>
                        <a:srgbClr val="332E27"/>
                      </a:solidFill>
                      <a:prstDash val="solid"/>
                    </a:lnB>
                    <a:solidFill>
                      <a:srgbClr val="00008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DejaVu Sans Mono"/>
                          <a:ea typeface="DejaVu Sans Mono"/>
                          <a:cs typeface="DejaVu Sans Mono"/>
                        </a:rPr>
                        <a:t>USB from Uno</a:t>
                      </a:r>
                      <a:endParaRPr sz="12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12700" cmpd="sng">
                      <a:solidFill>
                        <a:srgbClr val="332E27"/>
                      </a:solidFill>
                      <a:prstDash val="solid"/>
                    </a:lnL>
                    <a:lnR w="12700" cmpd="sng">
                      <a:solidFill>
                        <a:srgbClr val="332E27"/>
                      </a:solidFill>
                      <a:prstDash val="solid"/>
                    </a:lnR>
                    <a:lnT w="12700" cmpd="sng">
                      <a:solidFill>
                        <a:srgbClr val="332E27"/>
                      </a:solidFill>
                      <a:prstDash val="solid"/>
                    </a:lnT>
                    <a:lnB w="12700" cmpd="sng">
                      <a:solidFill>
                        <a:srgbClr val="332E27"/>
                      </a:solidFill>
                      <a:prstDash val="solid"/>
                    </a:lnB>
                    <a:solidFill>
                      <a:srgbClr val="00008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DejaVu Sans Mono"/>
                          <a:ea typeface="DejaVu Sans Mono"/>
                          <a:cs typeface="DejaVu Sans Mono"/>
                        </a:rPr>
                        <a:t>HDMI to monitor</a:t>
                      </a:r>
                      <a:endParaRPr sz="12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12700" cmpd="sng">
                      <a:solidFill>
                        <a:srgbClr val="332E27"/>
                      </a:solidFill>
                      <a:prstDash val="solid"/>
                    </a:lnL>
                    <a:lnR w="12700" cmpd="sng">
                      <a:solidFill>
                        <a:srgbClr val="332E27"/>
                      </a:solidFill>
                      <a:prstDash val="solid"/>
                    </a:lnR>
                    <a:lnT w="12700" cmpd="sng">
                      <a:solidFill>
                        <a:srgbClr val="332E27"/>
                      </a:solidFill>
                      <a:prstDash val="solid"/>
                    </a:lnT>
                    <a:lnB w="12700" cmpd="sng">
                      <a:solidFill>
                        <a:srgbClr val="332E27"/>
                      </a:solidFill>
                      <a:prstDash val="solid"/>
                    </a:lnB>
                    <a:solidFill>
                      <a:srgbClr val="00008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DejaVu Sans Mono"/>
                          <a:ea typeface="DejaVu Sans Mono"/>
                          <a:cs typeface="DejaVu Sans Mono"/>
                        </a:rPr>
                        <a:t>GPIO3 + GND to button</a:t>
                      </a:r>
                      <a:endParaRPr sz="12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12700" cmpd="sng">
                      <a:solidFill>
                        <a:srgbClr val="332E27"/>
                      </a:solidFill>
                      <a:prstDash val="solid"/>
                    </a:lnL>
                    <a:lnR w="12700" cmpd="sng">
                      <a:solidFill>
                        <a:srgbClr val="332E27"/>
                      </a:solidFill>
                      <a:prstDash val="solid"/>
                    </a:lnR>
                    <a:lnT w="12700" cmpd="sng">
                      <a:solidFill>
                        <a:srgbClr val="332E27"/>
                      </a:solidFill>
                      <a:prstDash val="solid"/>
                    </a:lnT>
                    <a:lnB w="12700" cmpd="sng">
                      <a:solidFill>
                        <a:srgbClr val="332E27"/>
                      </a:solidFill>
                      <a:prstDash val="solid"/>
                    </a:lnB>
                    <a:solidFill>
                      <a:srgbClr val="00008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DejaVu Sans Mono"/>
                          <a:ea typeface="DejaVu Sans Mono"/>
                          <a:cs typeface="DejaVu Sans Mono"/>
                        </a:rPr>
                        <a:t>MONITOR</a:t>
                      </a:r>
                      <a:endParaRPr sz="12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12700" cmpd="sng">
                      <a:solidFill>
                        <a:srgbClr val="332E27"/>
                      </a:solidFill>
                      <a:prstDash val="solid"/>
                    </a:lnL>
                    <a:lnR w="12700" cmpd="sng">
                      <a:solidFill>
                        <a:srgbClr val="332E27"/>
                      </a:solidFill>
                      <a:prstDash val="solid"/>
                    </a:lnR>
                    <a:lnT w="12700" cmpd="sng">
                      <a:solidFill>
                        <a:srgbClr val="332E27"/>
                      </a:solidFill>
                      <a:prstDash val="solid"/>
                    </a:lnT>
                    <a:lnB w="12700" cmpd="sng">
                      <a:solidFill>
                        <a:srgbClr val="332E27"/>
                      </a:solidFill>
                      <a:prstDash val="solid"/>
                    </a:lnB>
                    <a:solidFill>
                      <a:srgbClr val="00008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DejaVu Sans Mono"/>
                          <a:ea typeface="DejaVu Sans Mono"/>
                          <a:cs typeface="DejaVu Sans Mono"/>
                        </a:rPr>
                        <a:t>HDMI input</a:t>
                      </a:r>
                      <a:endParaRPr sz="12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12700" cmpd="sng">
                      <a:solidFill>
                        <a:srgbClr val="332E27"/>
                      </a:solidFill>
                      <a:prstDash val="solid"/>
                    </a:lnL>
                    <a:lnR w="12700" cmpd="sng">
                      <a:solidFill>
                        <a:srgbClr val="332E27"/>
                      </a:solidFill>
                      <a:prstDash val="solid"/>
                    </a:lnR>
                    <a:lnT w="12700" cmpd="sng">
                      <a:solidFill>
                        <a:srgbClr val="332E27"/>
                      </a:solidFill>
                      <a:prstDash val="solid"/>
                    </a:lnT>
                    <a:lnB w="12700" cmpd="sng">
                      <a:solidFill>
                        <a:srgbClr val="332E27"/>
                      </a:solidFill>
                      <a:prstDash val="solid"/>
                    </a:lnB>
                    <a:solidFill>
                      <a:srgbClr val="00008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DejaVu Sans Mono"/>
                          <a:ea typeface="DejaVu Sans Mono"/>
                          <a:cs typeface="DejaVu Sans Mono"/>
                        </a:rPr>
                        <a:t>No LVDS connection</a:t>
                      </a:r>
                      <a:endParaRPr sz="12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12700" cmpd="sng">
                      <a:solidFill>
                        <a:srgbClr val="332E27"/>
                      </a:solidFill>
                      <a:prstDash val="solid"/>
                    </a:lnL>
                    <a:lnR w="12700" cmpd="sng">
                      <a:solidFill>
                        <a:srgbClr val="332E27"/>
                      </a:solidFill>
                      <a:prstDash val="solid"/>
                    </a:lnR>
                    <a:lnT w="12700" cmpd="sng">
                      <a:solidFill>
                        <a:srgbClr val="332E27"/>
                      </a:solidFill>
                      <a:prstDash val="solid"/>
                    </a:lnT>
                    <a:lnB w="12700" cmpd="sng">
                      <a:solidFill>
                        <a:srgbClr val="332E27"/>
                      </a:solidFill>
                      <a:prstDash val="solid"/>
                    </a:lnB>
                    <a:solidFill>
                      <a:srgbClr val="00008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DejaVu Sans Mono"/>
                          <a:ea typeface="DejaVu Sans Mono"/>
                          <a:cs typeface="DejaVu Sans Mono"/>
                        </a:rPr>
                        <a:t>Monitor's own power</a:t>
                      </a:r>
                      <a:endParaRPr sz="12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12700" cmpd="sng">
                      <a:solidFill>
                        <a:srgbClr val="332E27"/>
                      </a:solidFill>
                      <a:prstDash val="solid"/>
                    </a:lnL>
                    <a:lnR w="12700" cmpd="sng">
                      <a:solidFill>
                        <a:srgbClr val="332E27"/>
                      </a:solidFill>
                      <a:prstDash val="solid"/>
                    </a:lnR>
                    <a:lnT w="12700" cmpd="sng">
                      <a:solidFill>
                        <a:srgbClr val="332E27"/>
                      </a:solidFill>
                      <a:prstDash val="solid"/>
                    </a:lnT>
                    <a:lnB w="12700" cmpd="sng">
                      <a:solidFill>
                        <a:srgbClr val="332E27"/>
                      </a:solidFill>
                      <a:prstDash val="solid"/>
                    </a:lnB>
                    <a:solidFill>
                      <a:srgbClr val="00008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DejaVu Sans Mono"/>
                          <a:ea typeface="DejaVu Sans Mono"/>
                          <a:cs typeface="DejaVu Sans Mono"/>
                        </a:rPr>
                        <a:t>POWER BUTTON</a:t>
                      </a:r>
                      <a:endParaRPr sz="12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12700" cmpd="sng">
                      <a:solidFill>
                        <a:srgbClr val="332E27"/>
                      </a:solidFill>
                      <a:prstDash val="solid"/>
                    </a:lnL>
                    <a:lnR w="12700" cmpd="sng">
                      <a:solidFill>
                        <a:srgbClr val="332E27"/>
                      </a:solidFill>
                      <a:prstDash val="solid"/>
                    </a:lnR>
                    <a:lnT w="12700" cmpd="sng">
                      <a:solidFill>
                        <a:srgbClr val="332E27"/>
                      </a:solidFill>
                      <a:prstDash val="solid"/>
                    </a:lnT>
                    <a:lnB w="12700" cmpd="sng">
                      <a:solidFill>
                        <a:srgbClr val="332E27"/>
                      </a:solidFill>
                      <a:prstDash val="solid"/>
                    </a:lnB>
                    <a:solidFill>
                      <a:srgbClr val="00008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DejaVu Sans Mono"/>
                          <a:ea typeface="DejaVu Sans Mono"/>
                          <a:cs typeface="DejaVu Sans Mono"/>
                        </a:rPr>
                        <a:t>Shutdown switch</a:t>
                      </a:r>
                      <a:endParaRPr sz="12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12700" cmpd="sng">
                      <a:solidFill>
                        <a:srgbClr val="332E27"/>
                      </a:solidFill>
                      <a:prstDash val="solid"/>
                    </a:lnL>
                    <a:lnR w="12700" cmpd="sng">
                      <a:solidFill>
                        <a:srgbClr val="332E27"/>
                      </a:solidFill>
                      <a:prstDash val="solid"/>
                    </a:lnR>
                    <a:lnT w="12700" cmpd="sng">
                      <a:solidFill>
                        <a:srgbClr val="332E27"/>
                      </a:solidFill>
                      <a:prstDash val="solid"/>
                    </a:lnT>
                    <a:lnB w="12700" cmpd="sng">
                      <a:solidFill>
                        <a:srgbClr val="332E27"/>
                      </a:solidFill>
                      <a:prstDash val="solid"/>
                    </a:lnB>
                    <a:solidFill>
                      <a:srgbClr val="00008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DejaVu Sans Mono"/>
                          <a:ea typeface="DejaVu Sans Mono"/>
                          <a:cs typeface="DejaVu Sans Mono"/>
                        </a:rPr>
                        <a:t>GPIO3 + GND</a:t>
                      </a:r>
                      <a:endParaRPr sz="12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12700" cmpd="sng">
                      <a:solidFill>
                        <a:srgbClr val="332E27"/>
                      </a:solidFill>
                      <a:prstDash val="solid"/>
                    </a:lnL>
                    <a:lnR w="12700" cmpd="sng">
                      <a:solidFill>
                        <a:srgbClr val="332E27"/>
                      </a:solidFill>
                      <a:prstDash val="solid"/>
                    </a:lnR>
                    <a:lnT w="12700" cmpd="sng">
                      <a:solidFill>
                        <a:srgbClr val="332E27"/>
                      </a:solidFill>
                      <a:prstDash val="solid"/>
                    </a:lnT>
                    <a:lnB w="12700" cmpd="sng">
                      <a:solidFill>
                        <a:srgbClr val="332E27"/>
                      </a:solidFill>
                      <a:prstDash val="solid"/>
                    </a:lnB>
                    <a:solidFill>
                      <a:srgbClr val="00008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DejaVu Sans Mono"/>
                          <a:ea typeface="DejaVu Sans Mono"/>
                          <a:cs typeface="DejaVu Sans Mono"/>
                        </a:rPr>
                        <a:t>Requests safe shutdown</a:t>
                      </a:r>
                      <a:endParaRPr sz="12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12700" cmpd="sng">
                      <a:solidFill>
                        <a:srgbClr val="332E27"/>
                      </a:solidFill>
                      <a:prstDash val="solid"/>
                    </a:lnL>
                    <a:lnR w="12700" cmpd="sng">
                      <a:solidFill>
                        <a:srgbClr val="332E27"/>
                      </a:solidFill>
                      <a:prstDash val="solid"/>
                    </a:lnR>
                    <a:lnT w="12700" cmpd="sng">
                      <a:solidFill>
                        <a:srgbClr val="332E27"/>
                      </a:solidFill>
                      <a:prstDash val="solid"/>
                    </a:lnT>
                    <a:lnB w="12700" cmpd="sng">
                      <a:solidFill>
                        <a:srgbClr val="332E27"/>
                      </a:solidFill>
                      <a:prstDash val="solid"/>
                    </a:lnB>
                    <a:solidFill>
                      <a:srgbClr val="00008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DejaVu Sans Mono"/>
                          <a:ea typeface="DejaVu Sans Mono"/>
                          <a:cs typeface="DejaVu Sans Mono"/>
                        </a:rPr>
                        <a:t>POWER</a:t>
                      </a:r>
                      <a:endParaRPr sz="12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12700" cmpd="sng">
                      <a:solidFill>
                        <a:srgbClr val="332E27"/>
                      </a:solidFill>
                      <a:prstDash val="solid"/>
                    </a:lnL>
                    <a:lnR w="12700" cmpd="sng">
                      <a:solidFill>
                        <a:srgbClr val="332E27"/>
                      </a:solidFill>
                      <a:prstDash val="solid"/>
                    </a:lnR>
                    <a:lnT w="12700" cmpd="sng">
                      <a:solidFill>
                        <a:srgbClr val="332E27"/>
                      </a:solidFill>
                      <a:prstDash val="solid"/>
                    </a:lnT>
                    <a:lnB w="12700" cmpd="sng">
                      <a:solidFill>
                        <a:srgbClr val="332E27"/>
                      </a:solidFill>
                      <a:prstDash val="solid"/>
                    </a:lnB>
                    <a:solidFill>
                      <a:srgbClr val="00008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DejaVu Sans Mono"/>
                          <a:ea typeface="DejaVu Sans Mono"/>
                          <a:cs typeface="DejaVu Sans Mono"/>
                        </a:rPr>
                        <a:t>USB-C to Pi</a:t>
                      </a:r>
                      <a:endParaRPr sz="12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12700" cmpd="sng">
                      <a:solidFill>
                        <a:srgbClr val="332E27"/>
                      </a:solidFill>
                      <a:prstDash val="solid"/>
                    </a:lnL>
                    <a:lnR w="12700" cmpd="sng">
                      <a:solidFill>
                        <a:srgbClr val="332E27"/>
                      </a:solidFill>
                      <a:prstDash val="solid"/>
                    </a:lnR>
                    <a:lnT w="12700" cmpd="sng">
                      <a:solidFill>
                        <a:srgbClr val="332E27"/>
                      </a:solidFill>
                      <a:prstDash val="solid"/>
                    </a:lnT>
                    <a:lnB w="12700" cmpd="sng">
                      <a:solidFill>
                        <a:srgbClr val="332E27"/>
                      </a:solidFill>
                      <a:prstDash val="solid"/>
                    </a:lnB>
                    <a:solidFill>
                      <a:srgbClr val="00008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DejaVu Sans Mono"/>
                          <a:ea typeface="DejaVu Sans Mono"/>
                          <a:cs typeface="DejaVu Sans Mono"/>
                        </a:rPr>
                        <a:t>Monitor power cable</a:t>
                      </a:r>
                      <a:endParaRPr sz="12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12700" cmpd="sng">
                      <a:solidFill>
                        <a:srgbClr val="332E27"/>
                      </a:solidFill>
                      <a:prstDash val="solid"/>
                    </a:lnL>
                    <a:lnR w="12700" cmpd="sng">
                      <a:solidFill>
                        <a:srgbClr val="332E27"/>
                      </a:solidFill>
                      <a:prstDash val="solid"/>
                    </a:lnR>
                    <a:lnT w="12700" cmpd="sng">
                      <a:solidFill>
                        <a:srgbClr val="332E27"/>
                      </a:solidFill>
                      <a:prstDash val="solid"/>
                    </a:lnT>
                    <a:lnB w="12700" cmpd="sng">
                      <a:solidFill>
                        <a:srgbClr val="332E27"/>
                      </a:solidFill>
                      <a:prstDash val="solid"/>
                    </a:lnB>
                    <a:solidFill>
                      <a:srgbClr val="00008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DejaVu Sans Mono"/>
                          <a:ea typeface="DejaVu Sans Mono"/>
                          <a:cs typeface="DejaVu Sans Mono"/>
                        </a:rPr>
                        <a:t>Uno powered over USB</a:t>
                      </a:r>
                      <a:endParaRPr sz="12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12700" cmpd="sng">
                      <a:solidFill>
                        <a:srgbClr val="332E27"/>
                      </a:solidFill>
                      <a:prstDash val="solid"/>
                    </a:lnL>
                    <a:lnR w="12700" cmpd="sng">
                      <a:solidFill>
                        <a:srgbClr val="332E27"/>
                      </a:solidFill>
                      <a:prstDash val="solid"/>
                    </a:lnR>
                    <a:lnT w="12700" cmpd="sng">
                      <a:solidFill>
                        <a:srgbClr val="332E27"/>
                      </a:solidFill>
                      <a:prstDash val="solid"/>
                    </a:lnT>
                    <a:lnB w="12700" cmpd="sng">
                      <a:solidFill>
                        <a:srgbClr val="332E27"/>
                      </a:solidFill>
                      <a:prstDash val="solid"/>
                    </a:lnB>
                    <a:solidFill>
                      <a:srgbClr val="000080"/>
                    </a:solidFill>
                  </a:tcPr>
                </a:tc>
              </a:tr>
            </a:tbl>
          </a:graphicData>
        </a:graphic>
      </p:graphicFrame>
      <p:sp>
        <p:nvSpPr>
          <p:cNvPr id="6" name="Text 2">
            <a:extLst xmlns:a="http://schemas.openxmlformats.org/drawingml/2006/main">
              <a:ext uri="{FF2B5EF4-FFF2-40B4-BE49-F238E27FC236}">
                <a16:creationId xmlns:a16="http://schemas.microsoft.com/office/drawing/2014/main" id="{545CF1BA-B5DB-4094-9371-DB0E7B455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355080"/>
            <a:ext cx="5486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21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292636467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0808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A836A0B6-6F81-498F-AA9D-A171890D4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048"/>
            <a:ext cx="11094415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1" spc="20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SECTION 04 · THE WIRING</a:t>
            </a:r>
            <a:endParaRPr sz="12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CB585021-537E-4B32-AE45-BB3500D85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31520"/>
            <a:ext cx="11094415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rPr>
              <a:t>Build and Test Flow</a:t>
            </a:r>
            <a:endParaRPr sz="3000"/>
          </a:p>
        </p:txBody>
      </p:sp>
      <p:sp>
        <p:nvSpPr>
          <p:cNvPr id="6" name="Text 2">
            <a:extLst xmlns:a="http://schemas.openxmlformats.org/drawingml/2006/main">
              <a:ext uri="{FF2B5EF4-FFF2-40B4-BE49-F238E27FC236}">
                <a16:creationId xmlns:a16="http://schemas.microsoft.com/office/drawing/2014/main" id="{D40430D3-CCE8-4EF9-910C-E78094457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414016"/>
            <a:ext cx="2567864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STEP 1</a:t>
            </a:r>
            <a:endParaRPr sz="1450"/>
          </a:p>
        </p:txBody>
      </p:sp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5E8F99CD-D922-4BBC-93BD-3ED1B3165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889504"/>
            <a:ext cx="2567864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Connect joystick and encoder to the Uno</a:t>
            </a:r>
            <a:endParaRPr sz="1150"/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C6545F16-177F-40B6-8474-9D61F8994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4792" y="1874520"/>
            <a:ext cx="23774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20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20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20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20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20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20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20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20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20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20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20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20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→</a:t>
            </a:r>
            <a:endParaRPr sz="2000"/>
          </a:p>
        </p:txBody>
      </p:sp>
      <p:sp>
        <p:nvSpPr>
          <p:cNvPr id="10" name="Text 5">
            <a:extLst xmlns:a="http://schemas.openxmlformats.org/drawingml/2006/main">
              <a:ext uri="{FF2B5EF4-FFF2-40B4-BE49-F238E27FC236}">
                <a16:creationId xmlns:a16="http://schemas.microsoft.com/office/drawing/2014/main" id="{AE9B7A4D-02A9-45AE-803E-B18295326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824" y="2414016"/>
            <a:ext cx="2567864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STEP 2</a:t>
            </a:r>
            <a:endParaRPr sz="1450"/>
          </a:p>
        </p:txBody>
      </p:sp>
      <p:sp>
        <p:nvSpPr>
          <p:cNvPr id="11" name="Text 6">
            <a:extLst xmlns:a="http://schemas.openxmlformats.org/drawingml/2006/main">
              <a:ext uri="{FF2B5EF4-FFF2-40B4-BE49-F238E27FC236}">
                <a16:creationId xmlns:a16="http://schemas.microsoft.com/office/drawing/2014/main" id="{C40F7293-7B19-4B91-A5EF-10C63964C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824" y="2889504"/>
            <a:ext cx="2567864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Flash the Uno and test USB commands</a:t>
            </a:r>
            <a:endParaRPr sz="1150"/>
          </a:p>
        </p:txBody>
      </p:sp>
      <p:sp>
        <p:nvSpPr>
          <p:cNvPr id="12" name="Text 7">
            <a:extLst xmlns:a="http://schemas.openxmlformats.org/drawingml/2006/main">
              <a:ext uri="{FF2B5EF4-FFF2-40B4-BE49-F238E27FC236}">
                <a16:creationId xmlns:a16="http://schemas.microsoft.com/office/drawing/2014/main" id="{AD641E99-8AED-4027-950C-469F1E628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6976" y="1874520"/>
            <a:ext cx="23774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20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20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20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20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20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20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20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20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20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20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20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20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→</a:t>
            </a:r>
            <a:endParaRPr sz="2000"/>
          </a:p>
        </p:txBody>
      </p:sp>
      <p:sp>
        <p:nvSpPr>
          <p:cNvPr id="14" name="Text 8">
            <a:extLst xmlns:a="http://schemas.openxmlformats.org/drawingml/2006/main">
              <a:ext uri="{FF2B5EF4-FFF2-40B4-BE49-F238E27FC236}">
                <a16:creationId xmlns:a16="http://schemas.microsoft.com/office/drawing/2014/main" id="{56115618-77F6-4C71-BCBF-7EA9624A6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3008" y="2414016"/>
            <a:ext cx="2567864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STEP 3</a:t>
            </a:r>
            <a:endParaRPr sz="1450"/>
          </a:p>
        </p:txBody>
      </p:sp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54721E48-7B8A-4512-981E-1506BF32C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3008" y="2889504"/>
            <a:ext cx="2567864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Set up the TV app and USB bridge on Pi</a:t>
            </a:r>
            <a:endParaRPr sz="1150"/>
          </a:p>
        </p:txBody>
      </p:sp>
      <p:sp>
        <p:nvSpPr>
          <p:cNvPr id="16" name="Text 10">
            <a:extLst xmlns:a="http://schemas.openxmlformats.org/drawingml/2006/main">
              <a:ext uri="{FF2B5EF4-FFF2-40B4-BE49-F238E27FC236}">
                <a16:creationId xmlns:a16="http://schemas.microsoft.com/office/drawing/2014/main" id="{4AB721A5-1CF3-4B13-A681-78991AFC4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9159" y="1874520"/>
            <a:ext cx="23774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20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20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20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20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20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20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20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20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20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20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20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20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→</a:t>
            </a:r>
            <a:endParaRPr sz="2000"/>
          </a:p>
        </p:txBody>
      </p:sp>
      <p:sp>
        <p:nvSpPr>
          <p:cNvPr id="18" name="Text 11">
            <a:extLst xmlns:a="http://schemas.openxmlformats.org/drawingml/2006/main">
              <a:ext uri="{FF2B5EF4-FFF2-40B4-BE49-F238E27FC236}">
                <a16:creationId xmlns:a16="http://schemas.microsoft.com/office/drawing/2014/main" id="{43419FEF-C158-455D-A7C6-1F637DDA0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5191" y="2414016"/>
            <a:ext cx="2567864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STEP 4</a:t>
            </a:r>
            <a:endParaRPr sz="1450"/>
          </a:p>
        </p:txBody>
      </p:sp>
      <p:sp>
        <p:nvSpPr>
          <p:cNvPr id="19" name="Text 12">
            <a:extLst xmlns:a="http://schemas.openxmlformats.org/drawingml/2006/main">
              <a:ext uri="{FF2B5EF4-FFF2-40B4-BE49-F238E27FC236}">
                <a16:creationId xmlns:a16="http://schemas.microsoft.com/office/drawing/2014/main" id="{966A8B96-048C-4027-8E73-6C71E588D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5191" y="2889504"/>
            <a:ext cx="2567864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Connect HDMI monitor and test GPIO3 button</a:t>
            </a:r>
            <a:endParaRPr sz="1150"/>
          </a:p>
        </p:txBody>
      </p:sp>
      <p:sp>
        <p:nvSpPr>
          <p:cNvPr id="20" name="Text 13">
            <a:extLst xmlns:a="http://schemas.openxmlformats.org/drawingml/2006/main">
              <a:ext uri="{FF2B5EF4-FFF2-40B4-BE49-F238E27FC236}">
                <a16:creationId xmlns:a16="http://schemas.microsoft.com/office/drawing/2014/main" id="{94193B7D-9B0C-4D84-A1DE-AC380856C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355080"/>
            <a:ext cx="5486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22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757747626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0808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0">
            <a:extLst xmlns:a="http://schemas.openxmlformats.org/drawingml/2006/main">
              <a:ext uri="{FF2B5EF4-FFF2-40B4-BE49-F238E27FC236}">
                <a16:creationId xmlns:a16="http://schemas.microsoft.com/office/drawing/2014/main" id="{83F32935-A788-4B4E-9558-7066AA74E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63240"/>
            <a:ext cx="12191695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6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6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6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6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6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6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6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6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6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6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6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00" b="1" spc="400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rPr>
              <a:t>SECTION 05</a:t>
            </a:r>
            <a:endParaRPr sz="1600"/>
          </a:p>
        </p:txBody>
      </p:sp>
      <p:sp>
        <p:nvSpPr>
          <p:cNvPr id="5" name="Text 1">
            <a:extLst xmlns:a="http://schemas.openxmlformats.org/drawingml/2006/main">
              <a:ext uri="{FF2B5EF4-FFF2-40B4-BE49-F238E27FC236}">
                <a16:creationId xmlns:a16="http://schemas.microsoft.com/office/drawing/2014/main" id="{8C144D2C-0A33-4788-BEAB-7F3B21884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520440"/>
            <a:ext cx="12191695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4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4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4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4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4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4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4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4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4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4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4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4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GOALS</a:t>
            </a:r>
            <a:endParaRPr sz="4000"/>
          </a:p>
        </p:txBody>
      </p:sp>
      <p:sp>
        <p:nvSpPr>
          <p:cNvPr id="6" name="Text 2">
            <a:extLst xmlns:a="http://schemas.openxmlformats.org/drawingml/2006/main">
              <a:ext uri="{FF2B5EF4-FFF2-40B4-BE49-F238E27FC236}">
                <a16:creationId xmlns:a16="http://schemas.microsoft.com/office/drawing/2014/main" id="{ADFA06A7-B254-47BB-BE67-C6357648C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448" y="4343400"/>
            <a:ext cx="6400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4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4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4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4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4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4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4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4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4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4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4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What the project set out to do</a:t>
            </a:r>
            <a:endParaRPr sz="1400"/>
          </a:p>
        </p:txBody>
      </p:sp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55E6C695-33B1-46F5-86CB-FE1F2F035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355080"/>
            <a:ext cx="5486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23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915985837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00808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01057B70-DD90-42DF-B128-F56E7E892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048"/>
            <a:ext cx="11094415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1" spc="20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SECTION 05 · GOALS</a:t>
            </a:r>
            <a:endParaRPr sz="12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EAE3EE7C-1732-44D6-B95E-4B9551F2B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31520"/>
            <a:ext cx="11094415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rPr>
              <a:t>Goals</a:t>
            </a:r>
            <a:endParaRPr sz="3000"/>
          </a:p>
        </p:txBody>
      </p:sp>
      <p:sp>
        <p:nvSpPr>
          <p:cNvPr id="6" name="Text 2">
            <a:extLst xmlns:a="http://schemas.openxmlformats.org/drawingml/2006/main">
              <a:ext uri="{FF2B5EF4-FFF2-40B4-BE49-F238E27FC236}">
                <a16:creationId xmlns:a16="http://schemas.microsoft.com/office/drawing/2014/main" id="{ED5752FF-FE7E-47A0-8E23-FA8E29E60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505456"/>
            <a:ext cx="5272888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GOAL 1</a:t>
            </a:r>
            <a:endParaRPr sz="1450"/>
          </a:p>
        </p:txBody>
      </p:sp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FEB26162-B1FA-457D-A10C-010CEA17C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980944"/>
            <a:ext cx="5272888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Build a retro TV prototype with joystick-led control</a:t>
            </a:r>
            <a:endParaRPr sz="1150"/>
          </a:p>
        </p:txBody>
      </p:sp>
      <p:sp>
        <p:nvSpPr>
          <p:cNvPr id="9" name="Text 4">
            <a:extLst xmlns:a="http://schemas.openxmlformats.org/drawingml/2006/main">
              <a:ext uri="{FF2B5EF4-FFF2-40B4-BE49-F238E27FC236}">
                <a16:creationId xmlns:a16="http://schemas.microsoft.com/office/drawing/2014/main" id="{B8EF4EFA-C1FA-4049-B5E7-327C5EC92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0168" y="2505456"/>
            <a:ext cx="5272888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GOAL 2</a:t>
            </a:r>
            <a:endParaRPr sz="1450"/>
          </a:p>
        </p:txBody>
      </p:sp>
      <p:sp>
        <p:nvSpPr>
          <p:cNvPr id="10" name="Text 5">
            <a:extLst xmlns:a="http://schemas.openxmlformats.org/drawingml/2006/main">
              <a:ext uri="{FF2B5EF4-FFF2-40B4-BE49-F238E27FC236}">
                <a16:creationId xmlns:a16="http://schemas.microsoft.com/office/drawing/2014/main" id="{DD11A114-B629-4066-9D43-E91F044AF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0168" y="2980944"/>
            <a:ext cx="5272888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Build a customer-sized cabinet around the chosen monitor</a:t>
            </a:r>
            <a:endParaRPr sz="1150"/>
          </a:p>
        </p:txBody>
      </p:sp>
      <p:sp>
        <p:nvSpPr>
          <p:cNvPr id="11" name="Text 6">
            <a:extLst xmlns:a="http://schemas.openxmlformats.org/drawingml/2006/main">
              <a:ext uri="{FF2B5EF4-FFF2-40B4-BE49-F238E27FC236}">
                <a16:creationId xmlns:a16="http://schemas.microsoft.com/office/drawing/2014/main" id="{271171AF-14C3-4ABB-9832-3139D486B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355080"/>
            <a:ext cx="5486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24</a:t>
            </a:r>
            <a:endParaRPr sz="1000"/>
          </a:p>
        </p:txBody>
      </p:sp>
      <p:sp>
        <p:nvSpPr>
          <p:cNvPr id="12" name="Icon tv tile">
            <a:extLst xmlns:a="http://schemas.openxmlformats.org/drawingml/2006/main">
              <a:ext uri="{FF2B5EF4-FFF2-40B4-BE49-F238E27FC236}">
                <a16:creationId xmlns:a16="http://schemas.microsoft.com/office/drawing/2014/main" id="{452676D8-47BE-45BA-A16F-91301AA3E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14650" y="1685925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20461">
            <a:solidFill>
              <a:srgbClr val="C0C0C0"/>
            </a:solidFill>
            <a:prstDash val="solid"/>
          </a:ln>
        </p:spPr>
      </p:sp>
      <p:sp>
        <p:nvSpPr>
          <p:cNvPr id="13" name="Icon tv screen frame">
            <a:extLst xmlns:a="http://schemas.openxmlformats.org/drawingml/2006/main">
              <a:ext uri="{FF2B5EF4-FFF2-40B4-BE49-F238E27FC236}">
                <a16:creationId xmlns:a16="http://schemas.microsoft.com/office/drawing/2014/main" id="{1EBBEFB0-A43E-44D4-BB59-D17382195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96494" y="1757539"/>
            <a:ext cx="388761" cy="29668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10231">
            <a:solidFill>
              <a:srgbClr val="C0C0C0"/>
            </a:solidFill>
            <a:prstDash val="solid"/>
          </a:ln>
        </p:spPr>
      </p:sp>
      <p:sp>
        <p:nvSpPr>
          <p:cNvPr id="14" name="Icon tv screen">
            <a:extLst xmlns:a="http://schemas.openxmlformats.org/drawingml/2006/main">
              <a:ext uri="{FF2B5EF4-FFF2-40B4-BE49-F238E27FC236}">
                <a16:creationId xmlns:a16="http://schemas.microsoft.com/office/drawing/2014/main" id="{E4D9FBF7-585F-4992-92C6-804AEB395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27186" y="1788231"/>
            <a:ext cx="327378" cy="2250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080"/>
          </a:solidFill>
          <a:ln xmlns:a="http://schemas.openxmlformats.org/drawingml/2006/main" w="10231">
            <a:solidFill>
              <a:srgbClr val="404040"/>
            </a:solidFill>
            <a:prstDash val="solid"/>
          </a:ln>
        </p:spPr>
      </p:sp>
      <p:sp>
        <p:nvSpPr>
          <p:cNvPr id="15" name="Icon tv screen highlight">
            <a:extLst xmlns:a="http://schemas.openxmlformats.org/drawingml/2006/main">
              <a:ext uri="{FF2B5EF4-FFF2-40B4-BE49-F238E27FC236}">
                <a16:creationId xmlns:a16="http://schemas.microsoft.com/office/drawing/2014/main" id="{63B8BB79-73F8-4125-B544-9E560726F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68108" y="1829153"/>
            <a:ext cx="194381" cy="306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16" name="Icon tv screen line">
            <a:extLst xmlns:a="http://schemas.openxmlformats.org/drawingml/2006/main">
              <a:ext uri="{FF2B5EF4-FFF2-40B4-BE49-F238E27FC236}">
                <a16:creationId xmlns:a16="http://schemas.microsoft.com/office/drawing/2014/main" id="{50B9CF86-C99A-4AA3-BC69-C8997377A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68108" y="1890536"/>
            <a:ext cx="255764" cy="2046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7" name="Icon tv stand">
            <a:extLst xmlns:a="http://schemas.openxmlformats.org/drawingml/2006/main">
              <a:ext uri="{FF2B5EF4-FFF2-40B4-BE49-F238E27FC236}">
                <a16:creationId xmlns:a16="http://schemas.microsoft.com/office/drawing/2014/main" id="{B80B290E-BA53-40EC-A00F-4D768DD3F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60183" y="2054225"/>
            <a:ext cx="61383" cy="6138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0">
            <a:solidFill>
              <a:srgbClr val="C0C0C0"/>
            </a:solidFill>
            <a:prstDash val="solid"/>
          </a:ln>
        </p:spPr>
      </p:sp>
      <p:sp>
        <p:nvSpPr>
          <p:cNvPr id="18" name="Icon tv foot">
            <a:extLst xmlns:a="http://schemas.openxmlformats.org/drawingml/2006/main">
              <a:ext uri="{FF2B5EF4-FFF2-40B4-BE49-F238E27FC236}">
                <a16:creationId xmlns:a16="http://schemas.microsoft.com/office/drawing/2014/main" id="{EC7822E7-D88F-4F6C-A807-02A0E4C5D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98800" y="2115608"/>
            <a:ext cx="184150" cy="306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0">
            <a:solidFill>
              <a:srgbClr val="C0C0C0"/>
            </a:solidFill>
            <a:prstDash val="solid"/>
          </a:ln>
        </p:spPr>
      </p:sp>
      <p:sp>
        <p:nvSpPr>
          <p:cNvPr id="19" name="Icon tv dial one">
            <a:extLst xmlns:a="http://schemas.openxmlformats.org/drawingml/2006/main">
              <a:ext uri="{FF2B5EF4-FFF2-40B4-BE49-F238E27FC236}">
                <a16:creationId xmlns:a16="http://schemas.microsoft.com/office/drawing/2014/main" id="{EDF85F62-8313-400F-8F0B-D8BE0B516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7186" y="2084917"/>
            <a:ext cx="40922" cy="4092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20" name="Icon tv dial two">
            <a:extLst xmlns:a="http://schemas.openxmlformats.org/drawingml/2006/main">
              <a:ext uri="{FF2B5EF4-FFF2-40B4-BE49-F238E27FC236}">
                <a16:creationId xmlns:a16="http://schemas.microsoft.com/office/drawing/2014/main" id="{B427998C-DDBC-48E6-9D24-84950D275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8569" y="2084917"/>
            <a:ext cx="40922" cy="4092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0">
            <a:solidFill>
              <a:srgbClr val="C0C0C0"/>
            </a:solidFill>
            <a:prstDash val="solid"/>
          </a:ln>
        </p:spPr>
      </p:sp>
      <p:sp>
        <p:nvSpPr>
          <p:cNvPr id="21" name="Icon frame tile">
            <a:extLst xmlns:a="http://schemas.openxmlformats.org/drawingml/2006/main">
              <a:ext uri="{FF2B5EF4-FFF2-40B4-BE49-F238E27FC236}">
                <a16:creationId xmlns:a16="http://schemas.microsoft.com/office/drawing/2014/main" id="{75841229-AC5E-4475-B629-612A7E264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34425" y="1685925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20461">
            <a:solidFill>
              <a:srgbClr val="C0C0C0"/>
            </a:solidFill>
            <a:prstDash val="solid"/>
          </a:ln>
        </p:spPr>
      </p:sp>
      <p:sp>
        <p:nvSpPr>
          <p:cNvPr id="22" name="Icon frame cabinet">
            <a:extLst xmlns:a="http://schemas.openxmlformats.org/drawingml/2006/main">
              <a:ext uri="{FF2B5EF4-FFF2-40B4-BE49-F238E27FC236}">
                <a16:creationId xmlns:a16="http://schemas.microsoft.com/office/drawing/2014/main" id="{E234CFB4-6CAB-4B36-ADDE-9ACAA1449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36731" y="1757539"/>
            <a:ext cx="347839" cy="4092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0">
            <a:solidFill>
              <a:srgbClr val="C0C0C0"/>
            </a:solidFill>
            <a:prstDash val="solid"/>
          </a:ln>
        </p:spPr>
      </p:sp>
      <p:sp>
        <p:nvSpPr>
          <p:cNvPr id="23" name="Icon frame cabinet screen">
            <a:extLst xmlns:a="http://schemas.openxmlformats.org/drawingml/2006/main">
              <a:ext uri="{FF2B5EF4-FFF2-40B4-BE49-F238E27FC236}">
                <a16:creationId xmlns:a16="http://schemas.microsoft.com/office/drawing/2014/main" id="{91A6D3C7-FC16-4D08-92EC-F00F8AFCA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77653" y="1798461"/>
            <a:ext cx="265994" cy="2250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20461">
            <a:solidFill>
              <a:srgbClr val="404040"/>
            </a:solidFill>
            <a:prstDash val="solid"/>
          </a:ln>
        </p:spPr>
      </p:sp>
      <p:sp>
        <p:nvSpPr>
          <p:cNvPr id="24" name="Icon frame cabinet window">
            <a:extLst xmlns:a="http://schemas.openxmlformats.org/drawingml/2006/main">
              <a:ext uri="{FF2B5EF4-FFF2-40B4-BE49-F238E27FC236}">
                <a16:creationId xmlns:a16="http://schemas.microsoft.com/office/drawing/2014/main" id="{EFA08201-68D6-4315-AE60-771F3A4C2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08344" y="1829153"/>
            <a:ext cx="204611" cy="1534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080"/>
          </a:solidFill>
          <a:ln xmlns:a="http://schemas.openxmlformats.org/drawingml/2006/main" w="0">
            <a:solidFill>
              <a:srgbClr val="008080"/>
            </a:solidFill>
            <a:prstDash val="solid"/>
          </a:ln>
        </p:spPr>
      </p:sp>
      <p:sp>
        <p:nvSpPr>
          <p:cNvPr id="25" name="Icon frame cabinet base">
            <a:extLst xmlns:a="http://schemas.openxmlformats.org/drawingml/2006/main">
              <a:ext uri="{FF2B5EF4-FFF2-40B4-BE49-F238E27FC236}">
                <a16:creationId xmlns:a16="http://schemas.microsoft.com/office/drawing/2014/main" id="{7E1B58BF-A99F-4F27-9716-E49335D98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28806" y="2064456"/>
            <a:ext cx="163689" cy="511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4040"/>
          </a:solidFill>
          <a:ln xmlns:a="http://schemas.openxmlformats.org/drawingml/2006/main" w="0">
            <a:solidFill>
              <a:srgbClr val="40404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940966214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00808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F335FA27-30E5-4092-A166-BC4FA71D1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4008" y="1005840"/>
            <a:ext cx="6583680" cy="4572000"/>
          </a:xfrm>
          <a:prstGeom xmlns:a="http://schemas.openxmlformats.org/drawingml/2006/main" prst="roundRect">
            <a:avLst>
              <a:gd name="adj" fmla="val 3000"/>
            </a:avLst>
          </a:prstGeom>
          <a:solidFill xmlns:a="http://schemas.openxmlformats.org/drawingml/2006/main">
            <a:srgbClr val="000080"/>
          </a:solidFill>
        </p:spPr>
      </p:sp>
      <p:sp>
        <p:nvSpPr>
          <p:cNvPr id="5" name="Text 1">
            <a:extLst xmlns:a="http://schemas.openxmlformats.org/drawingml/2006/main">
              <a:ext uri="{FF2B5EF4-FFF2-40B4-BE49-F238E27FC236}">
                <a16:creationId xmlns:a16="http://schemas.microsoft.com/office/drawing/2014/main" id="{ACBB2AA6-C204-470A-98D0-771455FD8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60320"/>
            <a:ext cx="12191695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76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76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76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76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76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76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76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76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76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76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76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76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rPr>
              <a:t>264</a:t>
            </a:r>
            <a:endParaRPr sz="7600"/>
          </a:p>
        </p:txBody>
      </p:sp>
      <p:sp>
        <p:nvSpPr>
          <p:cNvPr id="6" name="Text 2">
            <a:extLst xmlns:a="http://schemas.openxmlformats.org/drawingml/2006/main">
              <a:ext uri="{FF2B5EF4-FFF2-40B4-BE49-F238E27FC236}">
                <a16:creationId xmlns:a16="http://schemas.microsoft.com/office/drawing/2014/main" id="{1E7E60B4-F088-4D8B-8BED-A7926473B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648" y="3977640"/>
            <a:ext cx="548640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5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5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5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5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5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5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5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5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5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5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5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in the current IPTV channel list; stream availability can change</a:t>
            </a:r>
            <a:endParaRPr sz="1500"/>
          </a:p>
        </p:txBody>
      </p:sp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94EE476E-D41E-4548-9843-189978A68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355080"/>
            <a:ext cx="5486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25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2085230308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00808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0">
            <a:extLst xmlns:a="http://schemas.openxmlformats.org/drawingml/2006/main">
              <a:ext uri="{FF2B5EF4-FFF2-40B4-BE49-F238E27FC236}">
                <a16:creationId xmlns:a16="http://schemas.microsoft.com/office/drawing/2014/main" id="{A19F36E5-9BF2-4D8F-A738-5032A40E5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63240"/>
            <a:ext cx="12191695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6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6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6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6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6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6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6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6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6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6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6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00" b="1" spc="400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rPr>
              <a:t>SECTION 06</a:t>
            </a:r>
            <a:endParaRPr sz="1600"/>
          </a:p>
        </p:txBody>
      </p:sp>
      <p:sp>
        <p:nvSpPr>
          <p:cNvPr id="5" name="Text 1">
            <a:extLst xmlns:a="http://schemas.openxmlformats.org/drawingml/2006/main">
              <a:ext uri="{FF2B5EF4-FFF2-40B4-BE49-F238E27FC236}">
                <a16:creationId xmlns:a16="http://schemas.microsoft.com/office/drawing/2014/main" id="{270F95D0-43F3-4AE0-8201-2FA367384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520440"/>
            <a:ext cx="12191695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4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4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4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4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4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4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4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4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4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4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4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40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PROJECT FAIR</a:t>
            </a:r>
            <a:endParaRPr sz="4000"/>
          </a:p>
        </p:txBody>
      </p:sp>
      <p:sp>
        <p:nvSpPr>
          <p:cNvPr id="6" name="Text 2">
            <a:extLst xmlns:a="http://schemas.openxmlformats.org/drawingml/2006/main">
              <a:ext uri="{FF2B5EF4-FFF2-40B4-BE49-F238E27FC236}">
                <a16:creationId xmlns:a16="http://schemas.microsoft.com/office/drawing/2014/main" id="{8C74BF95-6750-46A4-9A83-DF556D5F5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448" y="4343400"/>
            <a:ext cx="6400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4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4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4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4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4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4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4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4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4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4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4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How this project fits what judges look for</a:t>
            </a:r>
            <a:endParaRPr sz="1400"/>
          </a:p>
        </p:txBody>
      </p:sp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486B2BFC-CBA6-43B5-A914-8D8DC077C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355080"/>
            <a:ext cx="5486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26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937858670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00808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E74E5D67-A2E1-4440-9400-116D3B718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048"/>
            <a:ext cx="11094415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1" spc="20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SECTION 06 · PROJECT FAIR</a:t>
            </a:r>
            <a:endParaRPr sz="12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DA9A17AE-279E-4F9A-B894-91FF37D9B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31520"/>
            <a:ext cx="11094415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rPr>
              <a:t>Why This Fits The Fair</a:t>
            </a:r>
            <a:endParaRPr sz="3000"/>
          </a:p>
        </p:txBody>
      </p:sp>
      <p:sp>
        <p:nvSpPr>
          <p:cNvPr id="6" name="Text 2">
            <a:extLst xmlns:a="http://schemas.openxmlformats.org/drawingml/2006/main">
              <a:ext uri="{FF2B5EF4-FFF2-40B4-BE49-F238E27FC236}">
                <a16:creationId xmlns:a16="http://schemas.microsoft.com/office/drawing/2014/main" id="{4ABD8A4D-7BA8-4AC5-A8BB-86EAB25A4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2728" y="1645920"/>
            <a:ext cx="46602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Real Problem Solved</a:t>
            </a:r>
            <a:endParaRPr sz="1400"/>
          </a:p>
        </p:txBody>
      </p:sp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6D8506EF-4446-4F9E-A996-FCD427B1A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2728" y="1965960"/>
            <a:ext cx="46602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Turned an available monitor into a useful TV</a:t>
            </a:r>
            <a:endParaRPr sz="1100"/>
          </a:p>
        </p:txBody>
      </p:sp>
      <p:sp>
        <p:nvSpPr>
          <p:cNvPr id="9" name="Text 4">
            <a:extLst xmlns:a="http://schemas.openxmlformats.org/drawingml/2006/main">
              <a:ext uri="{FF2B5EF4-FFF2-40B4-BE49-F238E27FC236}">
                <a16:creationId xmlns:a16="http://schemas.microsoft.com/office/drawing/2014/main" id="{C0D69075-18ED-444B-9B75-6F8925C43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2816" y="1645920"/>
            <a:ext cx="46602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Engineering Process</a:t>
            </a:r>
            <a:endParaRPr sz="1400"/>
          </a:p>
        </p:txBody>
      </p:sp>
      <p:sp>
        <p:nvSpPr>
          <p:cNvPr id="10" name="Text 5">
            <a:extLst xmlns:a="http://schemas.openxmlformats.org/drawingml/2006/main">
              <a:ext uri="{FF2B5EF4-FFF2-40B4-BE49-F238E27FC236}">
                <a16:creationId xmlns:a16="http://schemas.microsoft.com/office/drawing/2014/main" id="{88BE3BC9-8D10-4DFD-81FB-AF99E5798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2816" y="1965960"/>
            <a:ext cx="46602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A documented cycle of building, testing, and improving</a:t>
            </a:r>
            <a:endParaRPr sz="1100"/>
          </a:p>
        </p:txBody>
      </p:sp>
      <p:sp>
        <p:nvSpPr>
          <p:cNvPr id="12" name="Text 6">
            <a:extLst xmlns:a="http://schemas.openxmlformats.org/drawingml/2006/main">
              <a:ext uri="{FF2B5EF4-FFF2-40B4-BE49-F238E27FC236}">
                <a16:creationId xmlns:a16="http://schemas.microsoft.com/office/drawing/2014/main" id="{24409E57-3371-4588-9378-0137AF492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2728" y="3749040"/>
            <a:ext cx="46602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Sustainability</a:t>
            </a:r>
            <a:endParaRPr sz="1400"/>
          </a:p>
        </p:txBody>
      </p:sp>
      <p:sp>
        <p:nvSpPr>
          <p:cNvPr id="13" name="Text 7">
            <a:extLst xmlns:a="http://schemas.openxmlformats.org/drawingml/2006/main">
              <a:ext uri="{FF2B5EF4-FFF2-40B4-BE49-F238E27FC236}">
                <a16:creationId xmlns:a16="http://schemas.microsoft.com/office/drawing/2014/main" id="{EB53AADF-7521-4F9B-8DAB-5A53C581E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2728" y="4069080"/>
            <a:ext cx="46602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Gave an unused display a new purpose and extended its useful life</a:t>
            </a:r>
            <a:endParaRPr sz="1100"/>
          </a:p>
        </p:txBody>
      </p:sp>
      <p:sp>
        <p:nvSpPr>
          <p:cNvPr id="15" name="Text 8">
            <a:extLst xmlns:a="http://schemas.openxmlformats.org/drawingml/2006/main">
              <a:ext uri="{FF2B5EF4-FFF2-40B4-BE49-F238E27FC236}">
                <a16:creationId xmlns:a16="http://schemas.microsoft.com/office/drawing/2014/main" id="{EBF86391-769F-49FE-A042-93DA6F225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2816" y="3749040"/>
            <a:ext cx="46602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Original Build</a:t>
            </a:r>
            <a:endParaRPr sz="1400"/>
          </a:p>
        </p:txBody>
      </p:sp>
      <p:sp>
        <p:nvSpPr>
          <p:cNvPr id="16" name="Text 9">
            <a:extLst xmlns:a="http://schemas.openxmlformats.org/drawingml/2006/main">
              <a:ext uri="{FF2B5EF4-FFF2-40B4-BE49-F238E27FC236}">
                <a16:creationId xmlns:a16="http://schemas.microsoft.com/office/drawing/2014/main" id="{C3729B76-252F-4CF2-B69C-23FC47513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2816" y="4069080"/>
            <a:ext cx="46602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Custom Pi TV app, Arduino controls, and Windows playback support.</a:t>
            </a:r>
            <a:endParaRPr sz="1100"/>
          </a:p>
        </p:txBody>
      </p:sp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E42B4478-DEC9-42FB-9D23-DCD78AF28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355080"/>
            <a:ext cx="5486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27</a:t>
            </a:r>
            <a:endParaRPr sz="1000"/>
          </a:p>
        </p:txBody>
      </p:sp>
      <p:sp>
        <p:nvSpPr>
          <p:cNvPr id="18" name="Icon problem tile">
            <a:extLst xmlns:a="http://schemas.openxmlformats.org/drawingml/2006/main">
              <a:ext uri="{FF2B5EF4-FFF2-40B4-BE49-F238E27FC236}">
                <a16:creationId xmlns:a16="http://schemas.microsoft.com/office/drawing/2014/main" id="{774E5B57-A260-4602-BF23-4CB7658B2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9100" y="155257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16933">
            <a:solidFill>
              <a:srgbClr val="C0C0C0"/>
            </a:solidFill>
            <a:prstDash val="solid"/>
          </a:ln>
        </p:spPr>
      </p:sp>
      <p:sp>
        <p:nvSpPr>
          <p:cNvPr id="19" name="Icon problem warning">
            <a:extLst xmlns:a="http://schemas.openxmlformats.org/drawingml/2006/main">
              <a:ext uri="{FF2B5EF4-FFF2-40B4-BE49-F238E27FC236}">
                <a16:creationId xmlns:a16="http://schemas.microsoft.com/office/drawing/2014/main" id="{BDC5442F-8291-400A-A394-9A025D32B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833" y="1611842"/>
            <a:ext cx="321733" cy="338667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16933">
            <a:solidFill>
              <a:srgbClr val="C0C0C0"/>
            </a:solidFill>
            <a:prstDash val="solid"/>
          </a:ln>
        </p:spPr>
      </p:sp>
      <p:sp>
        <p:nvSpPr>
          <p:cNvPr id="20" name="Icon problem warning stem">
            <a:extLst xmlns:a="http://schemas.openxmlformats.org/drawingml/2006/main">
              <a:ext uri="{FF2B5EF4-FFF2-40B4-BE49-F238E27FC236}">
                <a16:creationId xmlns:a16="http://schemas.microsoft.com/office/drawing/2014/main" id="{1DC04D17-6465-4CE6-9C43-66D1DD389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0767" y="1696508"/>
            <a:ext cx="33867" cy="12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0">
            <a:solidFill>
              <a:srgbClr val="000080"/>
            </a:solidFill>
            <a:prstDash val="solid"/>
          </a:ln>
        </p:spPr>
      </p:sp>
      <p:sp>
        <p:nvSpPr>
          <p:cNvPr id="21" name="Icon problem warning dot">
            <a:extLst xmlns:a="http://schemas.openxmlformats.org/drawingml/2006/main">
              <a:ext uri="{FF2B5EF4-FFF2-40B4-BE49-F238E27FC236}">
                <a16:creationId xmlns:a16="http://schemas.microsoft.com/office/drawing/2014/main" id="{C24E4075-ABDD-4016-AED0-BD9375ED8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767" y="1848908"/>
            <a:ext cx="33867" cy="3386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0">
            <a:solidFill>
              <a:srgbClr val="000080"/>
            </a:solidFill>
            <a:prstDash val="solid"/>
          </a:ln>
        </p:spPr>
      </p:sp>
      <p:sp>
        <p:nvSpPr>
          <p:cNvPr id="22" name="Icon engineering tile">
            <a:extLst xmlns:a="http://schemas.openxmlformats.org/drawingml/2006/main">
              <a:ext uri="{FF2B5EF4-FFF2-40B4-BE49-F238E27FC236}">
                <a16:creationId xmlns:a16="http://schemas.microsoft.com/office/drawing/2014/main" id="{2F2D131E-513E-46E1-85BC-77E2590B6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24575" y="155257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16933">
            <a:solidFill>
              <a:srgbClr val="C0C0C0"/>
            </a:solidFill>
            <a:prstDash val="solid"/>
          </a:ln>
        </p:spPr>
      </p:sp>
      <p:sp>
        <p:nvSpPr>
          <p:cNvPr id="23" name="Icon engineering gear ring">
            <a:extLst xmlns:a="http://schemas.openxmlformats.org/drawingml/2006/main">
              <a:ext uri="{FF2B5EF4-FFF2-40B4-BE49-F238E27FC236}">
                <a16:creationId xmlns:a16="http://schemas.microsoft.com/office/drawing/2014/main" id="{018A835B-3616-43C1-AE38-CB6327552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6175" y="1654175"/>
            <a:ext cx="254000" cy="2540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C0C0C0"/>
            </a:solidFill>
            <a:prstDash val="solid"/>
          </a:ln>
        </p:spPr>
      </p:sp>
      <p:sp>
        <p:nvSpPr>
          <p:cNvPr id="24" name="Icon engineering gear core">
            <a:extLst xmlns:a="http://schemas.openxmlformats.org/drawingml/2006/main">
              <a:ext uri="{FF2B5EF4-FFF2-40B4-BE49-F238E27FC236}">
                <a16:creationId xmlns:a16="http://schemas.microsoft.com/office/drawing/2014/main" id="{7626FA65-F348-4B15-BB86-7B5BE0D20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2375" y="1730375"/>
            <a:ext cx="101600" cy="101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25" name="Icon engineering gear tooth top">
            <a:extLst xmlns:a="http://schemas.openxmlformats.org/drawingml/2006/main">
              <a:ext uri="{FF2B5EF4-FFF2-40B4-BE49-F238E27FC236}">
                <a16:creationId xmlns:a16="http://schemas.microsoft.com/office/drawing/2014/main" id="{D3C54832-8957-4FBB-9B6C-9C2FD2352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27775" y="1594908"/>
            <a:ext cx="508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0">
            <a:solidFill>
              <a:srgbClr val="C0C0C0"/>
            </a:solidFill>
            <a:prstDash val="solid"/>
          </a:ln>
        </p:spPr>
      </p:sp>
      <p:sp>
        <p:nvSpPr>
          <p:cNvPr id="26" name="Icon engineering gear tooth bottom">
            <a:extLst xmlns:a="http://schemas.openxmlformats.org/drawingml/2006/main">
              <a:ext uri="{FF2B5EF4-FFF2-40B4-BE49-F238E27FC236}">
                <a16:creationId xmlns:a16="http://schemas.microsoft.com/office/drawing/2014/main" id="{580582B8-C335-49B7-81F7-33CD5E665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27775" y="1891242"/>
            <a:ext cx="508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0">
            <a:solidFill>
              <a:srgbClr val="C0C0C0"/>
            </a:solidFill>
            <a:prstDash val="solid"/>
          </a:ln>
        </p:spPr>
      </p:sp>
      <p:sp>
        <p:nvSpPr>
          <p:cNvPr id="27" name="Icon engineering gear tooth left">
            <a:extLst xmlns:a="http://schemas.openxmlformats.org/drawingml/2006/main">
              <a:ext uri="{FF2B5EF4-FFF2-40B4-BE49-F238E27FC236}">
                <a16:creationId xmlns:a16="http://schemas.microsoft.com/office/drawing/2014/main" id="{0FFBE6E3-9AAA-4740-B0CA-FE25D1395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66908" y="1755775"/>
            <a:ext cx="76200" cy="5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0">
            <a:solidFill>
              <a:srgbClr val="C0C0C0"/>
            </a:solidFill>
            <a:prstDash val="solid"/>
          </a:ln>
        </p:spPr>
      </p:sp>
      <p:sp>
        <p:nvSpPr>
          <p:cNvPr id="28" name="Icon engineering gear tooth right">
            <a:extLst xmlns:a="http://schemas.openxmlformats.org/drawingml/2006/main">
              <a:ext uri="{FF2B5EF4-FFF2-40B4-BE49-F238E27FC236}">
                <a16:creationId xmlns:a16="http://schemas.microsoft.com/office/drawing/2014/main" id="{CA23F68A-2C52-4426-8B9C-A5A447FA1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63242" y="1755775"/>
            <a:ext cx="76200" cy="5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0">
            <a:solidFill>
              <a:srgbClr val="C0C0C0"/>
            </a:solidFill>
            <a:prstDash val="solid"/>
          </a:ln>
        </p:spPr>
      </p:sp>
      <p:sp>
        <p:nvSpPr>
          <p:cNvPr id="29" name="Icon leaf tile">
            <a:extLst xmlns:a="http://schemas.openxmlformats.org/drawingml/2006/main">
              <a:ext uri="{FF2B5EF4-FFF2-40B4-BE49-F238E27FC236}">
                <a16:creationId xmlns:a16="http://schemas.microsoft.com/office/drawing/2014/main" id="{665C508B-598C-4DD9-87A8-6C0A0AAFB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9100" y="3657600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16933">
            <a:solidFill>
              <a:srgbClr val="C0C0C0"/>
            </a:solidFill>
            <a:prstDash val="solid"/>
          </a:ln>
        </p:spPr>
      </p:sp>
      <p:sp>
        <p:nvSpPr>
          <p:cNvPr id="30" name="Icon leaf leaf body">
            <a:extLst xmlns:a="http://schemas.openxmlformats.org/drawingml/2006/main">
              <a:ext uri="{FF2B5EF4-FFF2-40B4-BE49-F238E27FC236}">
                <a16:creationId xmlns:a16="http://schemas.microsoft.com/office/drawing/2014/main" id="{E921F297-8BA8-48DC-8DE4-D95C4685E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167" y="3742267"/>
            <a:ext cx="245533" cy="279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31" name="Icon leaf leaf vein">
            <a:extLst xmlns:a="http://schemas.openxmlformats.org/drawingml/2006/main">
              <a:ext uri="{FF2B5EF4-FFF2-40B4-BE49-F238E27FC236}">
                <a16:creationId xmlns:a16="http://schemas.microsoft.com/office/drawing/2014/main" id="{53E418FF-092A-4B41-ACCD-DB9CF7F62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9233" y="3776133"/>
            <a:ext cx="16933" cy="2116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0">
            <a:solidFill>
              <a:srgbClr val="000080"/>
            </a:solidFill>
            <a:prstDash val="solid"/>
          </a:ln>
        </p:spPr>
      </p:sp>
      <p:sp>
        <p:nvSpPr>
          <p:cNvPr id="32" name="Icon leaf leaf stem">
            <a:extLst xmlns:a="http://schemas.openxmlformats.org/drawingml/2006/main">
              <a:ext uri="{FF2B5EF4-FFF2-40B4-BE49-F238E27FC236}">
                <a16:creationId xmlns:a16="http://schemas.microsoft.com/office/drawing/2014/main" id="{2A349AC4-B996-4CB9-89DE-85E2CA217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1500" y="3970867"/>
            <a:ext cx="25400" cy="846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0">
            <a:solidFill>
              <a:srgbClr val="C0C0C0"/>
            </a:solidFill>
            <a:prstDash val="solid"/>
          </a:ln>
        </p:spPr>
      </p:sp>
      <p:sp>
        <p:nvSpPr>
          <p:cNvPr id="33" name="Icon code tile">
            <a:extLst xmlns:a="http://schemas.openxmlformats.org/drawingml/2006/main">
              <a:ext uri="{FF2B5EF4-FFF2-40B4-BE49-F238E27FC236}">
                <a16:creationId xmlns:a16="http://schemas.microsoft.com/office/drawing/2014/main" id="{4B1C820F-BD3C-4272-9F1E-F52EECA4A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24575" y="3657600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16933">
            <a:solidFill>
              <a:srgbClr val="C0C0C0"/>
            </a:solidFill>
            <a:prstDash val="solid"/>
          </a:ln>
        </p:spPr>
      </p:sp>
      <p:sp>
        <p:nvSpPr>
          <p:cNvPr id="34" name="Icon code left bracket">
            <a:extLst xmlns:a="http://schemas.openxmlformats.org/drawingml/2006/main">
              <a:ext uri="{FF2B5EF4-FFF2-40B4-BE49-F238E27FC236}">
                <a16:creationId xmlns:a16="http://schemas.microsoft.com/office/drawing/2014/main" id="{F5BC8B5C-44B4-4061-A94A-DAE56A9A5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6192308" y="3801533"/>
            <a:ext cx="101600" cy="169333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35" name="Icon code right bracket">
            <a:extLst xmlns:a="http://schemas.openxmlformats.org/drawingml/2006/main">
              <a:ext uri="{FF2B5EF4-FFF2-40B4-BE49-F238E27FC236}">
                <a16:creationId xmlns:a16="http://schemas.microsoft.com/office/drawing/2014/main" id="{8CF73E65-AF46-4E1C-8CFB-CE1E5D17F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6412442" y="3801533"/>
            <a:ext cx="101600" cy="169333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36" name="Icon code slash">
            <a:extLst xmlns:a="http://schemas.openxmlformats.org/drawingml/2006/main">
              <a:ext uri="{FF2B5EF4-FFF2-40B4-BE49-F238E27FC236}">
                <a16:creationId xmlns:a16="http://schemas.microsoft.com/office/drawing/2014/main" id="{0F558BC7-A146-4E97-8064-289C7109C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">
            <a:off x="6336242" y="3784600"/>
            <a:ext cx="25400" cy="20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1325726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00808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CCF68E3A-F6C8-42FB-A272-5F55FCF35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048"/>
            <a:ext cx="11094415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1200" b="1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200" b="1" spc="20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SECTION 06 · PROJECT FAIR</a:t>
            </a:r>
            <a:endParaRPr sz="12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E8CC5BDB-0F2F-4CDE-8F32-D3AB89B38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31520"/>
            <a:ext cx="11094415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30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rPr>
              <a:t>Real-World Impact</a:t>
            </a:r>
            <a:endParaRPr sz="3000"/>
          </a:p>
        </p:txBody>
      </p:sp>
      <p:sp>
        <p:nvSpPr>
          <p:cNvPr id="6" name="Text 2">
            <a:extLst xmlns:a="http://schemas.openxmlformats.org/drawingml/2006/main">
              <a:ext uri="{FF2B5EF4-FFF2-40B4-BE49-F238E27FC236}">
                <a16:creationId xmlns:a16="http://schemas.microsoft.com/office/drawing/2014/main" id="{70943505-27DB-4E78-8C26-1B0BBA975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368296"/>
            <a:ext cx="3515258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Less E-Waste</a:t>
            </a:r>
            <a:endParaRPr sz="1450"/>
          </a:p>
        </p:txBody>
      </p:sp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2E7B3A5E-99D5-4916-9FA5-0A23081B3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843784"/>
            <a:ext cx="3515258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An existing monitor now has a new purpose in a TV project</a:t>
            </a:r>
            <a:endParaRPr sz="1150"/>
          </a:p>
        </p:txBody>
      </p:sp>
      <p:sp>
        <p:nvSpPr>
          <p:cNvPr id="9" name="Text 4">
            <a:extLst xmlns:a="http://schemas.openxmlformats.org/drawingml/2006/main">
              <a:ext uri="{FF2B5EF4-FFF2-40B4-BE49-F238E27FC236}">
                <a16:creationId xmlns:a16="http://schemas.microsoft.com/office/drawing/2014/main" id="{D53ADC79-F1CC-4C7B-B4A9-128ADE8FD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8218" y="2368296"/>
            <a:ext cx="3515258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Skills, Not Just Parts</a:t>
            </a:r>
            <a:endParaRPr sz="1450"/>
          </a:p>
        </p:txBody>
      </p:sp>
      <p:sp>
        <p:nvSpPr>
          <p:cNvPr id="10" name="Text 5">
            <a:extLst xmlns:a="http://schemas.openxmlformats.org/drawingml/2006/main">
              <a:ext uri="{FF2B5EF4-FFF2-40B4-BE49-F238E27FC236}">
                <a16:creationId xmlns:a16="http://schemas.microsoft.com/office/drawing/2014/main" id="{F6BCEA98-EB1B-4A44-88DD-315F47269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8218" y="2843784"/>
            <a:ext cx="3515258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Wiring, embedded software, and enclosure design in one build</a:t>
            </a:r>
            <a:endParaRPr sz="1150"/>
          </a:p>
        </p:txBody>
      </p:sp>
      <p:sp>
        <p:nvSpPr>
          <p:cNvPr id="12" name="Text 6">
            <a:extLst xmlns:a="http://schemas.openxmlformats.org/drawingml/2006/main">
              <a:ext uri="{FF2B5EF4-FFF2-40B4-BE49-F238E27FC236}">
                <a16:creationId xmlns:a16="http://schemas.microsoft.com/office/drawing/2014/main" id="{A1D96393-C46F-449E-B9FC-49106A386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7797" y="2368296"/>
            <a:ext cx="3515258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5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Built To Show</a:t>
            </a:r>
            <a:endParaRPr sz="1450"/>
          </a:p>
        </p:txBody>
      </p:sp>
      <p:sp>
        <p:nvSpPr>
          <p:cNvPr id="13" name="Text 7">
            <a:extLst xmlns:a="http://schemas.openxmlformats.org/drawingml/2006/main">
              <a:ext uri="{FF2B5EF4-FFF2-40B4-BE49-F238E27FC236}">
                <a16:creationId xmlns:a16="http://schemas.microsoft.com/office/drawing/2014/main" id="{391A4DB1-69C5-40B0-8D82-067057BFE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7797" y="2843784"/>
            <a:ext cx="3515258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15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The TV app has stream readahead and cleanup updates. Playback tests on the replacement Pi are still pending.</a:t>
            </a:r>
            <a:endParaRPr sz="1150"/>
          </a:p>
        </p:txBody>
      </p:sp>
      <p:sp>
        <p:nvSpPr>
          <p:cNvPr id="14" name="Text 8">
            <a:extLst xmlns:a="http://schemas.openxmlformats.org/drawingml/2006/main">
              <a:ext uri="{FF2B5EF4-FFF2-40B4-BE49-F238E27FC236}">
                <a16:creationId xmlns:a16="http://schemas.microsoft.com/office/drawing/2014/main" id="{7A379CCD-4798-4018-94ED-586E86C9D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355080"/>
            <a:ext cx="5486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l">
              <a:buNone/>
              <a:def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0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28</a:t>
            </a:r>
            <a:endParaRPr sz="1000"/>
          </a:p>
        </p:txBody>
      </p:sp>
      <p:sp>
        <p:nvSpPr>
          <p:cNvPr id="15" name="Icon leaf tile">
            <a:extLst xmlns:a="http://schemas.openxmlformats.org/drawingml/2006/main">
              <a:ext uri="{FF2B5EF4-FFF2-40B4-BE49-F238E27FC236}">
                <a16:creationId xmlns:a16="http://schemas.microsoft.com/office/drawing/2014/main" id="{CD4DA806-ADD5-44B8-BB1C-0B6FACF09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28825" y="1628775"/>
            <a:ext cx="5334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19756">
            <a:solidFill>
              <a:srgbClr val="C0C0C0"/>
            </a:solidFill>
            <a:prstDash val="solid"/>
          </a:ln>
        </p:spPr>
      </p:sp>
      <p:sp>
        <p:nvSpPr>
          <p:cNvPr id="16" name="Icon leaf leaf body">
            <a:extLst xmlns:a="http://schemas.openxmlformats.org/drawingml/2006/main">
              <a:ext uri="{FF2B5EF4-FFF2-40B4-BE49-F238E27FC236}">
                <a16:creationId xmlns:a16="http://schemas.microsoft.com/office/drawing/2014/main" id="{2C654A31-19DA-40DA-9F43-D6C990686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7236" y="1727553"/>
            <a:ext cx="286456" cy="32596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17" name="Icon leaf leaf vein">
            <a:extLst xmlns:a="http://schemas.openxmlformats.org/drawingml/2006/main">
              <a:ext uri="{FF2B5EF4-FFF2-40B4-BE49-F238E27FC236}">
                <a16:creationId xmlns:a16="http://schemas.microsoft.com/office/drawing/2014/main" id="{64F974CE-E99D-4DF4-9575-9BEB3C551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85647" y="1767064"/>
            <a:ext cx="19756" cy="2469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0">
            <a:solidFill>
              <a:srgbClr val="000080"/>
            </a:solidFill>
            <a:prstDash val="solid"/>
          </a:ln>
        </p:spPr>
      </p:sp>
      <p:sp>
        <p:nvSpPr>
          <p:cNvPr id="18" name="Icon leaf leaf stem">
            <a:extLst xmlns:a="http://schemas.openxmlformats.org/drawingml/2006/main">
              <a:ext uri="{FF2B5EF4-FFF2-40B4-BE49-F238E27FC236}">
                <a16:creationId xmlns:a16="http://schemas.microsoft.com/office/drawing/2014/main" id="{255C1D21-6467-4EB8-AA0E-84B986E4C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06625" y="1994253"/>
            <a:ext cx="29633" cy="987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0">
            <a:solidFill>
              <a:srgbClr val="C0C0C0"/>
            </a:solidFill>
            <a:prstDash val="solid"/>
          </a:ln>
        </p:spPr>
      </p:sp>
      <p:sp>
        <p:nvSpPr>
          <p:cNvPr id="19" name="Icon tools tile">
            <a:extLst xmlns:a="http://schemas.openxmlformats.org/drawingml/2006/main">
              <a:ext uri="{FF2B5EF4-FFF2-40B4-BE49-F238E27FC236}">
                <a16:creationId xmlns:a16="http://schemas.microsoft.com/office/drawing/2014/main" id="{E704E909-D6EF-4EBA-A5B9-589FB7116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19775" y="1628775"/>
            <a:ext cx="5334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19756">
            <a:solidFill>
              <a:srgbClr val="C0C0C0"/>
            </a:solidFill>
            <a:prstDash val="solid"/>
          </a:ln>
        </p:spPr>
      </p:sp>
      <p:sp>
        <p:nvSpPr>
          <p:cNvPr id="20" name="Icon tools gear ring">
            <a:extLst xmlns:a="http://schemas.openxmlformats.org/drawingml/2006/main">
              <a:ext uri="{FF2B5EF4-FFF2-40B4-BE49-F238E27FC236}">
                <a16:creationId xmlns:a16="http://schemas.microsoft.com/office/drawing/2014/main" id="{A02C51CB-E359-4AAC-A776-1B15C486B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8308" y="1747308"/>
            <a:ext cx="296333" cy="296333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9633">
            <a:solidFill>
              <a:srgbClr val="C0C0C0"/>
            </a:solidFill>
            <a:prstDash val="solid"/>
          </a:ln>
        </p:spPr>
      </p:sp>
      <p:sp>
        <p:nvSpPr>
          <p:cNvPr id="21" name="Icon tools gear core">
            <a:extLst xmlns:a="http://schemas.openxmlformats.org/drawingml/2006/main">
              <a:ext uri="{FF2B5EF4-FFF2-40B4-BE49-F238E27FC236}">
                <a16:creationId xmlns:a16="http://schemas.microsoft.com/office/drawing/2014/main" id="{73103AFF-7445-455D-B511-251435076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7208" y="1836208"/>
            <a:ext cx="118533" cy="11853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22" name="Icon tools gear tooth top">
            <a:extLst xmlns:a="http://schemas.openxmlformats.org/drawingml/2006/main">
              <a:ext uri="{FF2B5EF4-FFF2-40B4-BE49-F238E27FC236}">
                <a16:creationId xmlns:a16="http://schemas.microsoft.com/office/drawing/2014/main" id="{337556CC-01FF-4885-880A-84C854789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56842" y="1678164"/>
            <a:ext cx="59267" cy="88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0">
            <a:solidFill>
              <a:srgbClr val="C0C0C0"/>
            </a:solidFill>
            <a:prstDash val="solid"/>
          </a:ln>
        </p:spPr>
      </p:sp>
      <p:sp>
        <p:nvSpPr>
          <p:cNvPr id="23" name="Icon tools gear tooth bottom">
            <a:extLst xmlns:a="http://schemas.openxmlformats.org/drawingml/2006/main">
              <a:ext uri="{FF2B5EF4-FFF2-40B4-BE49-F238E27FC236}">
                <a16:creationId xmlns:a16="http://schemas.microsoft.com/office/drawing/2014/main" id="{AB47712A-2321-47FE-A630-C3DC79D56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56842" y="2023886"/>
            <a:ext cx="59267" cy="88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0">
            <a:solidFill>
              <a:srgbClr val="C0C0C0"/>
            </a:solidFill>
            <a:prstDash val="solid"/>
          </a:ln>
        </p:spPr>
      </p:sp>
      <p:sp>
        <p:nvSpPr>
          <p:cNvPr id="24" name="Icon tools gear tooth left">
            <a:extLst xmlns:a="http://schemas.openxmlformats.org/drawingml/2006/main">
              <a:ext uri="{FF2B5EF4-FFF2-40B4-BE49-F238E27FC236}">
                <a16:creationId xmlns:a16="http://schemas.microsoft.com/office/drawing/2014/main" id="{C811848C-BE13-4CF2-A058-8CD5578C3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69164" y="1865842"/>
            <a:ext cx="88900" cy="592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0">
            <a:solidFill>
              <a:srgbClr val="C0C0C0"/>
            </a:solidFill>
            <a:prstDash val="solid"/>
          </a:ln>
        </p:spPr>
      </p:sp>
      <p:sp>
        <p:nvSpPr>
          <p:cNvPr id="25" name="Icon tools gear tooth right">
            <a:extLst xmlns:a="http://schemas.openxmlformats.org/drawingml/2006/main">
              <a:ext uri="{FF2B5EF4-FFF2-40B4-BE49-F238E27FC236}">
                <a16:creationId xmlns:a16="http://schemas.microsoft.com/office/drawing/2014/main" id="{91CE9A1F-760C-4A5E-BA21-6E42C39D0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14886" y="1865842"/>
            <a:ext cx="88900" cy="592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0">
            <a:solidFill>
              <a:srgbClr val="C0C0C0"/>
            </a:solidFill>
            <a:prstDash val="solid"/>
          </a:ln>
        </p:spPr>
      </p:sp>
      <p:sp>
        <p:nvSpPr>
          <p:cNvPr id="26" name="Icon tv tile">
            <a:extLst xmlns:a="http://schemas.openxmlformats.org/drawingml/2006/main">
              <a:ext uri="{FF2B5EF4-FFF2-40B4-BE49-F238E27FC236}">
                <a16:creationId xmlns:a16="http://schemas.microsoft.com/office/drawing/2014/main" id="{E28FFECC-1D04-47B4-8D51-FEBF71CB8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10725" y="1628775"/>
            <a:ext cx="5334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80"/>
          </a:solidFill>
          <a:ln xmlns:a="http://schemas.openxmlformats.org/drawingml/2006/main" w="19756">
            <a:solidFill>
              <a:srgbClr val="C0C0C0"/>
            </a:solidFill>
            <a:prstDash val="solid"/>
          </a:ln>
        </p:spPr>
      </p:sp>
      <p:sp>
        <p:nvSpPr>
          <p:cNvPr id="27" name="Icon tv screen frame">
            <a:extLst xmlns:a="http://schemas.openxmlformats.org/drawingml/2006/main">
              <a:ext uri="{FF2B5EF4-FFF2-40B4-BE49-F238E27FC236}">
                <a16:creationId xmlns:a16="http://schemas.microsoft.com/office/drawing/2014/main" id="{CA025083-6463-4FA1-B35A-FF1C1640D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89747" y="1697919"/>
            <a:ext cx="375356" cy="2864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9878">
            <a:solidFill>
              <a:srgbClr val="C0C0C0"/>
            </a:solidFill>
            <a:prstDash val="solid"/>
          </a:ln>
        </p:spPr>
      </p:sp>
      <p:sp>
        <p:nvSpPr>
          <p:cNvPr id="28" name="Icon tv screen">
            <a:extLst xmlns:a="http://schemas.openxmlformats.org/drawingml/2006/main">
              <a:ext uri="{FF2B5EF4-FFF2-40B4-BE49-F238E27FC236}">
                <a16:creationId xmlns:a16="http://schemas.microsoft.com/office/drawing/2014/main" id="{8197081A-BA19-48C7-B407-1096FFE1E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19381" y="1727553"/>
            <a:ext cx="316089" cy="21731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080"/>
          </a:solidFill>
          <a:ln xmlns:a="http://schemas.openxmlformats.org/drawingml/2006/main" w="9878">
            <a:solidFill>
              <a:srgbClr val="404040"/>
            </a:solidFill>
            <a:prstDash val="solid"/>
          </a:ln>
        </p:spPr>
      </p:sp>
      <p:sp>
        <p:nvSpPr>
          <p:cNvPr id="29" name="Icon tv screen highlight">
            <a:extLst xmlns:a="http://schemas.openxmlformats.org/drawingml/2006/main">
              <a:ext uri="{FF2B5EF4-FFF2-40B4-BE49-F238E27FC236}">
                <a16:creationId xmlns:a16="http://schemas.microsoft.com/office/drawing/2014/main" id="{49AF7FD0-931A-412C-A7EC-254A556CE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58892" y="1767064"/>
            <a:ext cx="187678" cy="2963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30" name="Icon tv screen line">
            <a:extLst xmlns:a="http://schemas.openxmlformats.org/drawingml/2006/main">
              <a:ext uri="{FF2B5EF4-FFF2-40B4-BE49-F238E27FC236}">
                <a16:creationId xmlns:a16="http://schemas.microsoft.com/office/drawing/2014/main" id="{83AF0C29-C4EF-4CFA-9C16-7BC4FB164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58892" y="1826331"/>
            <a:ext cx="246944" cy="197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31" name="Icon tv stand">
            <a:extLst xmlns:a="http://schemas.openxmlformats.org/drawingml/2006/main">
              <a:ext uri="{FF2B5EF4-FFF2-40B4-BE49-F238E27FC236}">
                <a16:creationId xmlns:a16="http://schemas.microsoft.com/office/drawing/2014/main" id="{F3E46F30-8DF4-4656-BFAA-8152C1799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847792" y="1984375"/>
            <a:ext cx="59267" cy="592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0">
            <a:solidFill>
              <a:srgbClr val="C0C0C0"/>
            </a:solidFill>
            <a:prstDash val="solid"/>
          </a:ln>
        </p:spPr>
      </p:sp>
      <p:sp>
        <p:nvSpPr>
          <p:cNvPr id="32" name="Icon tv foot">
            <a:extLst xmlns:a="http://schemas.openxmlformats.org/drawingml/2006/main">
              <a:ext uri="{FF2B5EF4-FFF2-40B4-BE49-F238E27FC236}">
                <a16:creationId xmlns:a16="http://schemas.microsoft.com/office/drawing/2014/main" id="{BCFC4442-1E6D-46C5-B541-A319952E4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88525" y="2043642"/>
            <a:ext cx="177800" cy="2963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0">
            <a:solidFill>
              <a:srgbClr val="C0C0C0"/>
            </a:solidFill>
            <a:prstDash val="solid"/>
          </a:ln>
        </p:spPr>
      </p:sp>
      <p:sp>
        <p:nvSpPr>
          <p:cNvPr id="33" name="Icon tv dial one">
            <a:extLst xmlns:a="http://schemas.openxmlformats.org/drawingml/2006/main">
              <a:ext uri="{FF2B5EF4-FFF2-40B4-BE49-F238E27FC236}">
                <a16:creationId xmlns:a16="http://schemas.microsoft.com/office/drawing/2014/main" id="{6244A361-7B13-43DD-983C-3B7D24364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9381" y="2014008"/>
            <a:ext cx="39511" cy="3951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00"/>
          </a:solidFill>
          <a:ln xmlns:a="http://schemas.openxmlformats.org/drawingml/2006/main" w="0">
            <a:solidFill>
              <a:srgbClr val="FFFF00"/>
            </a:solidFill>
            <a:prstDash val="solid"/>
          </a:ln>
        </p:spPr>
      </p:sp>
      <p:sp>
        <p:nvSpPr>
          <p:cNvPr id="34" name="Icon tv dial two">
            <a:extLst xmlns:a="http://schemas.openxmlformats.org/drawingml/2006/main">
              <a:ext uri="{FF2B5EF4-FFF2-40B4-BE49-F238E27FC236}">
                <a16:creationId xmlns:a16="http://schemas.microsoft.com/office/drawing/2014/main" id="{840E1EBB-372F-44C1-9ED9-588F1F202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8647" y="2014008"/>
            <a:ext cx="39511" cy="3951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0C0C0"/>
          </a:solidFill>
          <a:ln xmlns:a="http://schemas.openxmlformats.org/drawingml/2006/main" w="0">
            <a:solidFill>
              <a:srgbClr val="C0C0C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716365490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00808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0">
            <a:extLst xmlns:a="http://schemas.openxmlformats.org/drawingml/2006/main">
              <a:ext uri="{FF2B5EF4-FFF2-40B4-BE49-F238E27FC236}">
                <a16:creationId xmlns:a16="http://schemas.microsoft.com/office/drawing/2014/main" id="{BA5220BE-87FF-47C6-833D-7D3610E5F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880360"/>
            <a:ext cx="12191695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4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4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4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4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4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4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4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4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4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4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4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44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THANKS!</a:t>
            </a:r>
            <a:endParaRPr sz="4400"/>
          </a:p>
        </p:txBody>
      </p:sp>
      <p:sp>
        <p:nvSpPr>
          <p:cNvPr id="5" name="Text 1">
            <a:extLst xmlns:a="http://schemas.openxmlformats.org/drawingml/2006/main">
              <a:ext uri="{FF2B5EF4-FFF2-40B4-BE49-F238E27FC236}">
                <a16:creationId xmlns:a16="http://schemas.microsoft.com/office/drawing/2014/main" id="{4E9105D7-00DF-44C6-ACBF-F46870D9C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794760"/>
            <a:ext cx="12191695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6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6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6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6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6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6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6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6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6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6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6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00" b="0">
                <a:solidFill>
                  <a:srgbClr val="E8E8E8"/>
                </a:solidFill>
                <a:latin typeface="DejaVu Sans Mono"/>
                <a:ea typeface="DejaVu Sans Mono"/>
                <a:cs typeface="DejaVu Sans Mono"/>
              </a:rPr>
              <a:t>Haidar Ali Alshowaikh  |  Class 8E</a:t>
            </a:r>
            <a:endParaRPr sz="1600"/>
          </a:p>
        </p:txBody>
      </p:sp>
      <p:sp>
        <p:nvSpPr>
          <p:cNvPr id="6" name="Text 2">
            <a:extLst xmlns:a="http://schemas.openxmlformats.org/drawingml/2006/main">
              <a:ext uri="{FF2B5EF4-FFF2-40B4-BE49-F238E27FC236}">
                <a16:creationId xmlns:a16="http://schemas.microsoft.com/office/drawing/2014/main" id="{B94CBD2B-ACC5-48F7-BAC6-88D355B2B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6928" y="4617720"/>
            <a:ext cx="26517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3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3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3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3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3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3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3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3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3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3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3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rPr>
              <a:t>YouTube  </a:t>
            </a:r>
            <a:r>
              <a:rPr sz="13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rPr>
              <a:t>@brackstudy</a:t>
            </a:r>
            <a:endParaRPr sz="1300"/>
          </a:p>
        </p:txBody>
      </p:sp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16B172F2-BB7A-4EBB-98D3-F583A8645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3008" y="4617720"/>
            <a:ext cx="26517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3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3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3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3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3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3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3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3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3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3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3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rPr>
              <a:t>YouTube  </a:t>
            </a:r>
            <a:r>
              <a:rPr sz="13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rPr>
              <a:t>@brackstudy_arabic</a:t>
            </a:r>
            <a:endParaRPr sz="1300"/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A0FD30B4-E6D9-4B00-A4D1-7F9692EF9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6928" y="5257800"/>
            <a:ext cx="26517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3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3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3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3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3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3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3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3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3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3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3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rPr>
              <a:t>Instagram  </a:t>
            </a:r>
            <a:r>
              <a:rPr sz="13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rPr>
              <a:t>@brackstudy</a:t>
            </a:r>
            <a:endParaRPr sz="13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34DF8A75-6029-4E5E-A4B8-45ACE8ED2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3008" y="5257800"/>
            <a:ext cx="26517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3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defPPr>
            <a:lvl1pPr algn="ctr">
              <a:buNone/>
              <a:defRPr sz="13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1pPr>
            <a:lvl2pPr algn="ctr">
              <a:buNone/>
              <a:defRPr sz="13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2pPr>
            <a:lvl3pPr algn="ctr">
              <a:buNone/>
              <a:defRPr sz="13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3pPr>
            <a:lvl4pPr algn="ctr">
              <a:buNone/>
              <a:defRPr sz="13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4pPr>
            <a:lvl5pPr algn="ctr">
              <a:buNone/>
              <a:defRPr sz="13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5pPr>
            <a:lvl6pPr algn="ctr">
              <a:buNone/>
              <a:defRPr sz="13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6pPr>
            <a:lvl7pPr algn="ctr">
              <a:buNone/>
              <a:defRPr sz="13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7pPr>
            <a:lvl8pPr algn="ctr">
              <a:buNone/>
              <a:defRPr sz="13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8pPr>
            <a:lvl9pPr algn="ctr">
              <a:buNone/>
              <a:defRPr sz="13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 xmlns:a="http://schemas.openxmlformats.org/drawingml/2006/main">
            <a:pPr marL="0" indent="0" algn="ctr">
              <a:buNone/>
              <a:defRPr sz="13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rPr>
              <a:t>Instagram  </a:t>
            </a:r>
            <a:r>
              <a:rPr sz="1300" b="1">
                <a:solidFill>
                  <a:srgbClr val="FFFF00"/>
                </a:solidFill>
                <a:latin typeface="DejaVu Sans Mono"/>
                <a:ea typeface="DejaVu Sans Mono"/>
                <a:cs typeface="DejaVu Sans Mono"/>
              </a:rPr>
              <a:t>@brackstudy_arabic</a:t>
            </a:r>
            <a:endParaRPr sz="1300"/>
          </a:p>
        </p:txBody>
      </p:sp>
    </p:spTree>
    <p:extLst>
      <p:ext uri="{BB962C8B-B14F-4D97-AF65-F5344CB8AC3E}">
        <p14:creationId xmlns:p14="http://schemas.microsoft.com/office/powerpoint/2010/main" val="59006291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2026-10-25T18:25:37.8350000Z</dcterms:created>
  <dcterms:modified xsi:type="dcterms:W3CDTF">2026-10-25T18:25:37.8350000Z</dcterms:modified>
</coreProperties>
</file>